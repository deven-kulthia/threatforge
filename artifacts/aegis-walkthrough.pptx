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Aegis is a closed-loop adversarial AI system for payment fraud. Three stages: identify the</a:t>
            </a:r>
          </a:p>
          <a:p>
            <a:r>
              <a:t>GenAI-era threat surface, generate feasible attacks against it, defend and measure.</a:t>
            </a:r>
          </a:p>
          <a:p/>
          <a:p>
            <a:r>
              <a:t>The loop is the point. Most entries build a detector, or build a simulator. Here the attacks</a:t>
            </a:r>
          </a:p>
          <a:p>
            <a:r>
              <a:t>train the defence, and per-signal recall tells us exactly where the defence is blind — which</a:t>
            </a:r>
          </a:p>
          <a:p>
            <a:r>
              <a:t>becomes the specification for the next attack.</a:t>
            </a:r>
          </a:p>
          <a:p/>
          <a:p>
            <a:r>
              <a:t>Every number in this deck is generated from artifacts/metrics.json by scripts/make_deck.py.</a:t>
            </a:r>
          </a:p>
          <a:p>
            <a:r>
              <a:t>No figure is typed by hand. All data is synthetic; the simulator never touches a live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asymmetry: generative AI made attack *design* cheap and fast, while defence still depends on</a:t>
            </a:r>
          </a:p>
          <a:p>
            <a:r>
              <a:t>labelled outcomes that arrive weeks later through the dispute lifecycle.</a:t>
            </a:r>
          </a:p>
          <a:p/>
          <a:p>
            <a:r>
              <a:t>That is not a modelling problem you can fix with a better classifier. A supervised model cannot</a:t>
            </a:r>
          </a:p>
          <a:p>
            <a:r>
              <a:t>represent a typology it has never seen. The only way to get ahead of it is to manufacture the</a:t>
            </a:r>
          </a:p>
          <a:p>
            <a:r>
              <a:t>unseen fraud yourself — which is what the red-team half of this system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three boxes left to right, then the return path at the bottom — that bottom band is the</a:t>
            </a:r>
          </a:p>
          <a:p>
            <a:r>
              <a:t>actual contribution.</a:t>
            </a:r>
          </a:p>
          <a:p/>
          <a:p>
            <a:r>
              <a:t>Because every generated attack declares its expected detection signals *before* it runs, we can</a:t>
            </a:r>
          </a:p>
          <a:p>
            <a:r>
              <a:t>grade the defence per signal instead of per transaction. That converts "we caught 88% of fraud"</a:t>
            </a:r>
          </a:p>
          <a:p>
            <a:r>
              <a:t>into "here are the specific mechanisms we are blind to" — which is directly actionable, and is the</a:t>
            </a:r>
          </a:p>
          <a:p>
            <a:r>
              <a:t>input to the next round of attack generation.</a:t>
            </a:r>
          </a:p>
          <a:p/>
          <a:p>
            <a:r>
              <a:t>We also publish the signals we cannot implement and why. Five of them need data outside the</a:t>
            </a:r>
          </a:p>
          <a:p>
            <a:r>
              <a:t>authorization message. Naming them is more useful than letting a gap look mysterious.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categories, twenty-five vectors. The selection criterion was coverage of the GenAI-era threat</a:t>
            </a:r>
          </a:p>
          <a:p>
            <a:r>
              <a:t>surface — specifically the vectors where generative AI changed the attacker's economics, not just</a:t>
            </a:r>
          </a:p>
          <a:p>
            <a:r>
              <a:t>a long list of classic card fraud.</a:t>
            </a:r>
          </a:p>
          <a:p/>
          <a:p>
            <a:r>
              <a:t>Note the deliberately hard cases: adaptive mimicry learns the victim's own baseline and stays</a:t>
            </a:r>
          </a:p>
          <a:p>
            <a:r>
              <a:t>inside it; APP scam and romance fraud involve the genuine cardholder on their own device with</a:t>
            </a:r>
          </a:p>
          <a:p>
            <a:r>
              <a:t>real 3-D Secure — every credential signal is clean and only the intent is wrong. Most detectors</a:t>
            </a:r>
          </a:p>
          <a:p>
            <a:r>
              <a:t>implicitly assume compromised credentials. These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fidelity argument. The left column is what a real attacker can manipulate; the</a:t>
            </a:r>
          </a:p>
          <a:p>
            <a:r>
              <a:t>right column is what they cannot. Our generators only touch the left.</a:t>
            </a:r>
          </a:p>
          <a:p/>
          <a:p>
            <a:r>
              <a:t>That constraint costs us headline numbers — it is much easier to score well against attacks that</a:t>
            </a:r>
          </a:p>
          <a:p>
            <a:r>
              <a:t>cheat by editing issuer-side features. But an attack that requires rewriting the victim's own</a:t>
            </a:r>
          </a:p>
          <a:p>
            <a:r>
              <a:t>history is not an attack, it is a data corruption. Constraining to feasible actions is what makes</a:t>
            </a:r>
          </a:p>
          <a:p>
            <a:r>
              <a:t>the resulting detection numbers mean anything operationally.</a:t>
            </a:r>
          </a:p>
          <a:p/>
          <a:p>
            <a:r>
              <a:t>The schema is modelled on ISO 8583 authorization fields so the features we build have live-payments</a:t>
            </a:r>
          </a:p>
          <a:p>
            <a:r>
              <a:t>analogues. Card identifiers are tokens throughout — there is no PAN anywhere in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credibility slide. Three things to land.</a:t>
            </a:r>
          </a:p>
          <a:p/>
          <a:p>
            <a:r>
              <a:t>First, the split: temporal with a 5% delay block. Chargeback labels arrive weeks after the</a:t>
            </a:r>
          </a:p>
          <a:p>
            <a:r>
              <a:t>transaction, so a random split lets the model see the future. Discarding a slice of the timeline</a:t>
            </a:r>
          </a:p>
          <a:p>
            <a:r>
              <a:t>between train and test simulates that reporting lag.</a:t>
            </a:r>
          </a:p>
          <a:p/>
          <a:p>
            <a:r>
              <a:t>Second, PR-AUC 0.957 with a bootstrapped interval — not accuracy, which is meaningless at</a:t>
            </a:r>
          </a:p>
          <a:p>
            <a:r>
              <a:t>2.98% prevalence.</a:t>
            </a:r>
          </a:p>
          <a:p/>
          <a:p>
            <a:r>
              <a:t>Third, p99 31.4ms is the inline authorization decision path, not batch throughput. That is</a:t>
            </a:r>
          </a:p>
          <a:p>
            <a:r>
              <a:t>the number that decides whether this can sit in an authorization flow at all.</a:t>
            </a:r>
          </a:p>
          <a:p/>
          <a:p>
            <a:r>
              <a:t>Calibration: ECE 0.0019 via isotonic regression on a held-out temporal slice. A calibrated score</a:t>
            </a:r>
          </a:p>
          <a:p>
            <a:r>
              <a:t>is what lets a bank set policy thresholds on expected loss rather than on an arbitrary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showing the worst rows. Two vectors sit at 0.000 recall at the 1% budget, and the</a:t>
            </a:r>
          </a:p>
          <a:p>
            <a:r>
              <a:t>right-hand panel is why that is a queue-capacity statement rather than a model failure: the ceiling</a:t>
            </a:r>
          </a:p>
          <a:p>
            <a:r>
              <a:t>at this prevalence is 0.335 and we are at 99.7% of it. The mean-risk column shows the model</a:t>
            </a:r>
          </a:p>
          <a:p>
            <a:r>
              <a:t>does rank these attacks highly — they just lose the competition for 271 review slots.</a:t>
            </a:r>
          </a:p>
          <a:p/>
          <a:p>
            <a:r>
              <a:t>Size the budget to prevalence instead and recall is 0.918 at precision 0.918.</a:t>
            </a:r>
          </a:p>
          <a:p/>
          <a:p>
            <a:r>
              <a:t>SIM_SWAP_OTP and adaptive mimicry are genuinely hard and genuinely under-detected: mimicry learns</a:t>
            </a:r>
          </a:p>
          <a:p>
            <a:r>
              <a:t>the victim's own baseline and stays inside it. That is the honest state of the art, and it is</a:t>
            </a:r>
          </a:p>
          <a:p>
            <a:r>
              <a:t>exactly the gap the loop feeds back into the next attack generation.</a:t>
            </a:r>
          </a:p>
          <a:p/>
          <a:p>
            <a:r>
              <a:t>If a judge asks what we would fix first: those two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novelty evidence. Six vectors — including APP scam, romance fraud, synthetic-ID bust-out</a:t>
            </a:r>
          </a:p>
          <a:p>
            <a:r>
              <a:t>and agent impersonation — were removed from training completely. The threshold was calibrated on seen</a:t>
            </a:r>
          </a:p>
          <a:p>
            <a:r>
              <a:t>traffic only; we did not peek.</a:t>
            </a:r>
          </a:p>
          <a:p/>
          <a:p>
            <a:r>
              <a:t>Aggregate unseen recall 0.781. Four of six vectors are caught well because the features are causal</a:t>
            </a:r>
          </a:p>
          <a:p>
            <a:r>
              <a:t>rather than pattern-matched — velocity against the account's own baseline, graph structure, and</a:t>
            </a:r>
          </a:p>
          <a:p>
            <a:r>
              <a:t>verification-signal coherence transfer to typologies the model never saw.</a:t>
            </a:r>
          </a:p>
          <a:p/>
          <a:p>
            <a:r>
              <a:t>Be upfront about AGENT_IMPERSONATION at 0.190. In an authorization message, a legitimate agentic</a:t>
            </a:r>
          </a:p>
          <a:p>
            <a:r>
              <a:t>purchase and an impersonated one are nearly indistinguishable; separating them needs agent-identity</a:t>
            </a:r>
          </a:p>
          <a:p>
            <a:r>
              <a:t>attestation that does not exist in the schema yet. That is a roadmap item, not something to paper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Explainability is a regulatory requirement in this domain, not a nice-to-have — a declined payment</a:t>
            </a:r>
          </a:p>
          <a:p>
            <a:r>
              <a:t>may need a reason, and model governance expects decisions to be reconstructable.</a:t>
            </a:r>
          </a:p>
          <a:p/>
          <a:p>
            <a:r>
              <a:t>The honest beat is on the right, and say it out loud. We could not install SHAP. Instead of shipping</a:t>
            </a:r>
          </a:p>
          <a:p>
            <a:r>
              <a:t>an approximate explainer and calling it attribution, we designed the arbiter to be additive so the</a:t>
            </a:r>
          </a:p>
          <a:p>
            <a:r>
              <a:t>decomposition is exact by construction — and the test suite verifies the reason codes reconcile with</a:t>
            </a:r>
          </a:p>
          <a:p>
            <a:r>
              <a:t>the model's own decision function.</a:t>
            </a:r>
          </a:p>
          <a:p/>
          <a:p>
            <a:r>
              <a:t>Where we cannot compute per-row attribution — inside the gradient-boosted component — we report</a:t>
            </a:r>
          </a:p>
          <a:p>
            <a:r>
              <a:t>importance globally and label it as global. The literature is clear that fluent rationales raise</a:t>
            </a:r>
          </a:p>
          <a:p>
            <a:r>
              <a:t>analyst confidence without raising accuracy, so a plausible-sounding wrong explanation is worse</a:t>
            </a:r>
          </a:p>
          <a:p>
            <a:r>
              <a:t>than an honest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Feasibility is a judged criterion and it is where most research prototypes quietly fail.</a:t>
            </a:r>
          </a:p>
          <a:p/>
          <a:p>
            <a:r>
              <a:t>Four constraints, four design consequences. The latency one matters most: p99 31.4ms inline, achieved</a:t>
            </a:r>
          </a:p>
          <a:p>
            <a:r>
              <a:t>by budgeting the graph stage to the riskiest 20% of traffic rather than gating on a score</a:t>
            </a:r>
          </a:p>
          <a:p>
            <a:r>
              <a:t>threshold — thresholds let cost spike when an attack floods the high-risk band; a budget cannot.</a:t>
            </a:r>
          </a:p>
          <a:p/>
          <a:p>
            <a:r>
              <a:t>The review-capacity point is the one fraud teams will care about: we report operating points against</a:t>
            </a:r>
          </a:p>
          <a:p>
            <a:r>
              <a:t>what an analyst team can actually work, not only the point that flatters the model.</a:t>
            </a:r>
          </a:p>
          <a:p/>
          <a:p>
            <a:r>
              <a:t>Close on positioning. This is not a new category — it extends a direction Mastercard has already</a:t>
            </a:r>
          </a:p>
          <a:p>
            <a:r>
              <a:t>published on, which makes it adoptable rather than speculative.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half of the brief most entries skip, so spend time here.</a:t>
            </a:r>
          </a:p>
          <a:p/>
          <a:p>
            <a:r>
              <a:t>Twenty-five vectors, each with the role generative AI plays spelled out, a MITRE ATLAS mapping, and</a:t>
            </a:r>
          </a:p>
          <a:p>
            <a:r>
              <a:t>crucially the expected detection signals declared *before* launch. That last part is what lets us</a:t>
            </a:r>
          </a:p>
          <a:p>
            <a:r>
              <a:t>measure whether we caught an attack for the right reason instead of by luck.</a:t>
            </a:r>
          </a:p>
          <a:p/>
          <a:p>
            <a:r>
              <a:t>Pick APP_SCAM_LLM to demo: the genuine cardholder, own device, real 3-D Secure, willingly authorising.</a:t>
            </a:r>
          </a:p>
          <a:p>
            <a:r>
              <a:t>Every credential signal is clean; only the intent is wrong.</a:t>
            </a:r>
          </a:p>
          <a:p/>
          <a:p>
            <a:r>
              <a:t>Live in the browser during the demo; this capture is the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analyst workflow. Top-left is the decision and the payment's verification attributes; the</a:t>
            </a:r>
          </a:p>
          <a:p>
            <a:r>
              <a:t>decomposition below it is exact arithmetic on the arbiter's log-odds, not an estimate.</a:t>
            </a:r>
          </a:p>
          <a:p/>
          <a:p>
            <a:r>
              <a:t>Point at the caveat in the panel deliberately — the global-importance labelling for the boosted</a:t>
            </a:r>
          </a:p>
          <a:p>
            <a:r>
              <a:t>component. Judges notice when a team knows the difference between an explanation and a plausible story.</a:t>
            </a:r>
          </a:p>
          <a:p/>
          <a:p>
            <a:r>
              <a:t>Live in the browser during the demo; this capture is the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Rings are invisible one transaction at a time and obvious as structure.</a:t>
            </a:r>
          </a:p>
          <a:p/>
          <a:p>
            <a:r>
              <a:t>Important detail: this is pruned to *shared* infrastructure — entities touching two or more distinct</a:t>
            </a:r>
          </a:p>
          <a:p>
            <a:r>
              <a:t>cards. Unpruned it is mostly singleton pairs and the structure disappears into noise; that pruning</a:t>
            </a:r>
          </a:p>
          <a:p>
            <a:r>
              <a:t>decision is what makes the panel readable.</a:t>
            </a:r>
          </a:p>
          <a:p/>
          <a:p>
            <a:r>
              <a:t>One device, 31 distinct cards. No individual authorization is anomalous enough to decline. The graph</a:t>
            </a:r>
          </a:p>
          <a:p>
            <a:r>
              <a:t>stage runs on the riskiest 20% of traffic, which is what keeps it inside the latency budget.</a:t>
            </a:r>
          </a:p>
          <a:p/>
          <a:p>
            <a:r>
              <a:t>Live in the browser during the demo; this capture is the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these three, in this order.</a:t>
            </a:r>
          </a:p>
          <a:p/>
          <a:p>
            <a:r>
              <a:t>The loop is the contribution. Feasibility is what makes it real. Honesty about the failures is what</a:t>
            </a:r>
          </a:p>
          <a:p>
            <a:r>
              <a:t>should make the rest of the numbers believable — a deck that only shows wins invites the assumption</a:t>
            </a:r>
          </a:p>
          <a:p>
            <a:r>
              <a:t>that the losses were hidden.</a:t>
            </a:r>
          </a:p>
          <a:p/>
          <a:p>
            <a:r>
              <a:t>Offer the walkthrough: the whole system runs locally in two commands, and every number here</a:t>
            </a:r>
          </a:p>
          <a:p>
            <a:r>
              <a:t>regenerates from a clean checkout.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4000"/>
            </a:avLst>
          </a:prstGeom>
          <a:solidFill>
            <a:srgbClr val="070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868680" y="1417320"/>
            <a:ext cx="457200" cy="457200"/>
          </a:xfrm>
          <a:prstGeom prst="ellipse">
            <a:avLst/>
          </a:prstGeom>
          <a:solidFill>
            <a:srgbClr val="F1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70432" y="141732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6200" b="1">
                <a:solidFill>
                  <a:srgbClr val="E6EDF7"/>
                </a:solidFill>
                <a:latin typeface="Arial"/>
              </a:rPr>
              <a:t>Aegis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718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100" b="0">
                <a:solidFill>
                  <a:srgbClr val="8A99AD"/>
                </a:solidFill>
                <a:latin typeface="Arial"/>
              </a:rPr>
              <a:t>AI Defence Lab for Payment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611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60A5FA"/>
                </a:solidFill>
                <a:latin typeface="Arial"/>
              </a:rPr>
              <a:t>identify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A78BFA"/>
                </a:solidFill>
                <a:latin typeface="Arial"/>
              </a:rPr>
              <a:t>identify  →  generate  →  defend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434840"/>
            <a:ext cx="5120640" cy="457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47091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8A99AD"/>
                </a:solidFill>
                <a:latin typeface="Arial"/>
              </a:rPr>
              <a:t>A closed-loop adversarial system: the attacks it invents train the defence, and the defence's blind spots decide the next attack.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6EDF7"/>
                </a:solidFill>
                <a:latin typeface="Arial"/>
              </a:rPr>
              <a:t>25 GenAI-era attack vectors  ·  PR-AUC 0.957  ·  p99 31 ms inline  ·  zero-day recall 0.781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03504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5A687A"/>
                </a:solidFill>
                <a:latin typeface="Arial"/>
              </a:rPr>
              <a:t>100% synthetic data  ·  simulator network-isolated by construction  ·  all metrics reproduced by evaluate.py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60A5FA"/>
                </a:solidFill>
                <a:latin typeface="Arial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68096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E6EDF7"/>
                </a:solidFill>
                <a:latin typeface="Arial"/>
              </a:rPr>
              <a:t>Fraud is now cheap to invent. Defences still learn from last year's fraud.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3502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8A99AD"/>
                </a:solidFill>
                <a:latin typeface="Arial"/>
              </a:rPr>
              <a:t>Generative AI collapsed the cost of designing a novel attack. Supervised fraud models need labelled examples of an attack before they can catch it — and chargeback labels arrive weeks late.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5A687A"/>
                </a:solidFill>
                <a:latin typeface="Arial"/>
              </a:rPr>
              <a:t>Mastercard Innovation Challenge 2026  ·  Aegis: AI Defence Lab for Payment Security  ·  100% synthetic data — no real cardholder data, PII or production payment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01952"/>
            <a:ext cx="5257800" cy="251460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139696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1554F"/>
                </a:solidFill>
                <a:latin typeface="Arial"/>
              </a:rPr>
              <a:t>Attacker's new economics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•   Tailored social-engineering at scale — thousands of parallel conversations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•   Synthetic identities and generated KYC documents that pass review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•   Autonomous agents transacting on a cardholder's behalf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•   Cheap iteration: probe, observe the decline, adapt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01952"/>
            <a:ext cx="5257800" cy="251460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2139696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Defender's structural lag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56032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•   Needs labels; labels need disputes; disputes take weeks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•   Trained on the fraud that already happened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•   Novel typologies are out-of-distribution by definition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•   Red-teaming is manual, occasional and unmeasured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7800"/>
            <a:ext cx="10881360" cy="777240"/>
          </a:xfrm>
          <a:prstGeom prst="roundRect">
            <a:avLst>
              <a:gd name="adj" fmla="val 4000"/>
            </a:avLst>
          </a:prstGeom>
          <a:solidFill>
            <a:srgbClr val="0C1428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54406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1">
                <a:solidFill>
                  <a:srgbClr val="E6EDF7"/>
                </a:solidFill>
                <a:latin typeface="Arial"/>
              </a:rPr>
              <a:t>So generate the attacks first. If the defence is only ever as good as the fraud it has seen, then manufacture the fraud it hasn't seen — under constraints that keep it real.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60A5F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68096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E6EDF7"/>
                </a:solidFill>
                <a:latin typeface="Arial"/>
              </a:rPr>
              <a:t>One loop, three stages, measured at every hand-off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3502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8A99AD"/>
                </a:solidFill>
                <a:latin typeface="Arial"/>
              </a:rPr>
              <a:t>Attacks carry declared ground truth, so detection is graded per-signal — we know whether a catch was for the right reason or luck.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5A687A"/>
                </a:solidFill>
                <a:latin typeface="Arial"/>
              </a:rPr>
              <a:t>Mastercard Innovation Challenge 2026  ·  Aegis: AI Defence Lab for Payment Security  ·  100% synthetic data — no real cardholder data, PII or production payment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01952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58368" y="1901952"/>
            <a:ext cx="3246120" cy="68580"/>
          </a:xfrm>
          <a:prstGeom prst="roundRect">
            <a:avLst>
              <a:gd name="adj" fmla="val 4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2176272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60A5FA"/>
                </a:solidFill>
                <a:latin typeface="Arial"/>
              </a:rPr>
              <a:t>IDENTIFY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E6EDF7"/>
                </a:solidFill>
                <a:latin typeface="Arial"/>
              </a:rPr>
              <a:t>Threat surface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62072"/>
            <a:ext cx="2788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8A99AD"/>
                </a:solidFill>
                <a:latin typeface="Arial"/>
              </a:rPr>
              <a:t>25 vectors · 10 categories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8A99AD"/>
                </a:solidFill>
                <a:latin typeface="Arial"/>
              </a:rPr>
              <a:t>Each mapped to MITRE ATLAS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8A99AD"/>
                </a:solidFill>
                <a:latin typeface="Arial"/>
              </a:rPr>
              <a:t>Names the role GenAI plays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23360" y="2862072"/>
            <a:ext cx="329184" cy="219456"/>
          </a:xfrm>
          <a:prstGeom prst="rightArrow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71416" y="1901952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471416" y="1901952"/>
            <a:ext cx="3246120" cy="68580"/>
          </a:xfrm>
          <a:prstGeom prst="roundRect">
            <a:avLst>
              <a:gd name="adj" fmla="val 4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727448" y="2176272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GENERATE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4688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E6EDF7"/>
                </a:solidFill>
                <a:latin typeface="Arial"/>
              </a:rPr>
              <a:t>Feasible-action 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2862072"/>
            <a:ext cx="2788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8A99AD"/>
                </a:solidFill>
                <a:latin typeface="Arial"/>
              </a:rPr>
              <a:t>Only attacker-controlled levers: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8A99AD"/>
                </a:solidFill>
                <a:latin typeface="Arial"/>
              </a:rPr>
              <a:t>amount, timing, cadence,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8A99AD"/>
                </a:solidFill>
                <a:latin typeface="Arial"/>
              </a:rPr>
              <a:t>merchant, device, sequencing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36408" y="2862072"/>
            <a:ext cx="329184" cy="219456"/>
          </a:xfrm>
          <a:prstGeom prst="rightArrow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4464" y="1901952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8284464" y="1901952"/>
            <a:ext cx="3246120" cy="68580"/>
          </a:xfrm>
          <a:prstGeom prst="roundRect">
            <a:avLst>
              <a:gd name="adj" fmla="val 4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540496" y="2176272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Arial"/>
              </a:rPr>
              <a:t>DEFEND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4688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E6EDF7"/>
                </a:solidFill>
                <a:latin typeface="Arial"/>
              </a:rPr>
              <a:t>Three-stage cascade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2862072"/>
            <a:ext cx="2788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8A99AD"/>
                </a:solidFill>
                <a:latin typeface="Arial"/>
              </a:rPr>
              <a:t>39 rules → gradient boosting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8A99AD"/>
                </a:solidFill>
                <a:latin typeface="Arial"/>
              </a:rPr>
              <a:t>→ graph on riskiest 20%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8A99AD"/>
                </a:solidFill>
                <a:latin typeface="Arial"/>
              </a:rPr>
              <a:t>→ arbiter → isotonic calibration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246120"/>
            <a:ext cx="10863072" cy="1371600"/>
          </a:xfrm>
          <a:prstGeom prst="roundRect">
            <a:avLst>
              <a:gd name="adj" fmla="val 4000"/>
            </a:avLst>
          </a:prstGeom>
          <a:solidFill>
            <a:srgbClr val="0C1428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60120" y="34472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A78BFA"/>
                </a:solidFill>
                <a:latin typeface="Arial"/>
              </a:rPr>
              <a:t>The return path — what makes it a loop, not a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81304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Each attack declares the signals it should trip. Detection is scored against that declaration, so a miss is attributable: 39 of 39 declared signals are implemented, and the 8 that aren't are named with the reason (they need dispute-lifecycle or session telemetry that an authorization message does not carry). Uncaught signals are the backlog for the next generation of attacks.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60A5FA"/>
                </a:solidFill>
                <a:latin typeface="Arial"/>
              </a:rPr>
              <a:t>JUDGED ON: ATTACK DIVERSITY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68096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E6EDF7"/>
                </a:solidFill>
                <a:latin typeface="Arial"/>
              </a:rPr>
              <a:t>25 vectors across 10 categories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3502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8A99AD"/>
                </a:solidFill>
                <a:latin typeface="Arial"/>
              </a:rPr>
              <a:t>Breadth chosen to span the GenAI-era threat surface, not to inflate a count. Twelve vectors are deliberately built to overlap legitimate behaviour.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5A687A"/>
                </a:solidFill>
                <a:latin typeface="Arial"/>
              </a:rPr>
              <a:t>Mastercard Innovation Challenge 2026  ·  Aegis: AI Defence Lab for Payment Security  ·  100% synthetic data — no real cardholder data, PII or production payment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01952"/>
            <a:ext cx="5257800" cy="475488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59536" y="20116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6EDF7"/>
                </a:solidFill>
                <a:latin typeface="Arial"/>
              </a:rPr>
              <a:t>Synthetic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35808" y="202996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8A99AD"/>
                </a:solidFill>
                <a:latin typeface="Arial"/>
              </a:rPr>
              <a:t>Generated documents, history building, bust-out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01952"/>
            <a:ext cx="5257800" cy="475488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37376" y="20116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6EDF7"/>
                </a:solidFill>
                <a:latin typeface="Arial"/>
              </a:rPr>
              <a:t>Deepfake onboarding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13648" y="202996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8A99AD"/>
                </a:solidFill>
                <a:latin typeface="Arial"/>
              </a:rPr>
              <a:t>Liveness and KYC defeat at account opening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5257800" cy="475488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59536" y="2578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6EDF7"/>
                </a:solidFill>
                <a:latin typeface="Arial"/>
              </a:rPr>
              <a:t>Account takeover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2596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8A99AD"/>
                </a:solidFill>
                <a:latin typeface="Arial"/>
              </a:rPr>
              <a:t>Credential stuffing, SIM-swap OTP interception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468880"/>
            <a:ext cx="5257800" cy="475488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37376" y="2578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6EDF7"/>
                </a:solidFill>
                <a:latin typeface="Arial"/>
              </a:rPr>
              <a:t>AI-driven scams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13648" y="2596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8A99AD"/>
                </a:solidFill>
                <a:latin typeface="Arial"/>
              </a:rPr>
              <a:t>APP fraud, romance / pig-butchering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035808"/>
            <a:ext cx="5257800" cy="475488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59536" y="31455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6EDF7"/>
                </a:solidFill>
                <a:latin typeface="Arial"/>
              </a:rPr>
              <a:t>Agentic commerce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35808" y="316382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8A99AD"/>
                </a:solidFill>
                <a:latin typeface="Arial"/>
              </a:rPr>
              <a:t>Agent impersonation, prompt injection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035808"/>
            <a:ext cx="5257800" cy="475488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7376" y="31455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6EDF7"/>
                </a:solidFill>
                <a:latin typeface="Arial"/>
              </a:rPr>
              <a:t>Fraud rings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316382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8A99AD"/>
                </a:solidFill>
                <a:latin typeface="Arial"/>
              </a:rPr>
              <a:t>Coordinated multi-card, mule fan-out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02736"/>
            <a:ext cx="5257800" cy="475488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59536" y="3712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6EDF7"/>
                </a:solidFill>
                <a:latin typeface="Arial"/>
              </a:rPr>
              <a:t>Merchant abuse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35808" y="37307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8A99AD"/>
                </a:solidFill>
                <a:latin typeface="Arial"/>
              </a:rPr>
              <a:t>Fake storefronts, refund collusion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602736"/>
            <a:ext cx="5257800" cy="475488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37376" y="3712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6EDF7"/>
                </a:solidFill>
                <a:latin typeface="Arial"/>
              </a:rPr>
              <a:t>Adaptive evasion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13648" y="37307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8A99AD"/>
                </a:solidFill>
                <a:latin typeface="Arial"/>
              </a:rPr>
              <a:t>Velocity evasion, mimicry of learned baselines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169664"/>
            <a:ext cx="5257800" cy="475488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59536" y="42793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6EDF7"/>
                </a:solidFill>
                <a:latin typeface="Arial"/>
              </a:rPr>
              <a:t>Card testing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35808" y="42976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8A99AD"/>
                </a:solidFill>
                <a:latin typeface="Arial"/>
              </a:rPr>
              <a:t>BIN enumeration bursts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4169664"/>
            <a:ext cx="5257800" cy="475488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437376" y="42793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6EDF7"/>
                </a:solidFill>
                <a:latin typeface="Arial"/>
              </a:rPr>
              <a:t>Cross-border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13648" y="42976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8A99AD"/>
                </a:solidFill>
                <a:latin typeface="Arial"/>
              </a:rPr>
              <a:t>Corridor and exemption abuse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9436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>
                <a:solidFill>
                  <a:srgbClr val="5A687A"/>
                </a:solidFill>
                <a:latin typeface="Arial"/>
              </a:rPr>
              <a:t>Every vector carries ground-truth metadata: attack_type, scenario_id, strength, expected_signals, severity, and a hard_to_detect flag — 75 campaigns generated 90,256 transactions at 3.83% fraud.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60A5FA"/>
                </a:solidFill>
                <a:latin typeface="Arial"/>
              </a:rPr>
              <a:t>JUDGED ON: SIMULATION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68096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E6EDF7"/>
                </a:solidFill>
                <a:latin typeface="Arial"/>
              </a:rPr>
              <a:t>Attacks constrained to what an attacker actually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3502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8A99AD"/>
                </a:solidFill>
                <a:latin typeface="Arial"/>
              </a:rPr>
              <a:t>The standing criticism of adversarial ML on tabular data is that papers perturb features the attacker cannot touch. That produces impressive numbers and unusable systems.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5A687A"/>
                </a:solidFill>
                <a:latin typeface="Arial"/>
              </a:rPr>
              <a:t>Mastercard Innovation Challenge 2026  ·  Aegis: AI Defence Lab for Payment Security  ·  100% synthetic data — no real cardholder data, PII or production payment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01952"/>
            <a:ext cx="5257800" cy="265176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Arial"/>
              </a:rPr>
              <a:t>Levers the simulator may move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42032"/>
            <a:ext cx="47548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•   Amount, and how it is split across attempts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•   Timing, inter-arrival cadence, burst shape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•   Merchant and MCC selection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•   Device and channel presentation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•   Sequencing — probe, escalate, cash out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•   Text in merchant-controlled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01952"/>
            <a:ext cx="5257800" cy="265176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212140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F1554F"/>
                </a:solidFill>
                <a:latin typeface="Arial"/>
              </a:rPr>
              <a:t>Held invariant — not the attacker's to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542032"/>
            <a:ext cx="47548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•   The victim's own historical baseline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•   Issuer-side risk state and scoring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•   Network-assigned identifiers and tokens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•   AVS / CVV results returned by the issuer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•   Another cardholder's genuine behaviour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•   Any label the defence later assigns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394960"/>
            <a:ext cx="10881360" cy="685800"/>
          </a:xfrm>
          <a:prstGeom prst="roundRect">
            <a:avLst>
              <a:gd name="adj" fmla="val 4000"/>
            </a:avLst>
          </a:prstGeom>
          <a:solidFill>
            <a:srgbClr val="0C1428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5559552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E6EDF7"/>
                </a:solidFill>
                <a:latin typeface="Arial"/>
              </a:rPr>
              <a:t>Schema is ISO-8583-inspired: 1,650 tokenised cards, 263 merchants, 44 days of authorization traffic. Card identifiers are tokens — a PAN never exists in this system, synthetic or otherwise.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60A5FA"/>
                </a:solidFill>
                <a:latin typeface="Arial"/>
              </a:rPr>
              <a:t>JUDGED ON: DETECTION EFFICACY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68096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E6EDF7"/>
                </a:solidFill>
                <a:latin typeface="Arial"/>
              </a:rPr>
              <a:t>Verified results — reproducible from a clean checkout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3502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8A99AD"/>
                </a:solidFill>
                <a:latin typeface="Arial"/>
              </a:rPr>
              <a:t>Temporal split with a 5% delay block between train and test, because chargeback labels arrive late and a random split leaks the future.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5A687A"/>
                </a:solidFill>
                <a:latin typeface="Arial"/>
              </a:rPr>
              <a:t>Mastercard Innovation Challenge 2026  ·  Aegis: AI Defence Lab for Payment Security  ·  100% synthetic data — no real cardholder data, PII or production payment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01952"/>
            <a:ext cx="2624328" cy="123444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048256"/>
            <a:ext cx="22219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8A99AD"/>
                </a:solidFill>
                <a:latin typeface="Arial"/>
              </a:rPr>
              <a:t>PR-AUC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86000"/>
            <a:ext cx="22219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34D399"/>
                </a:solidFill>
                <a:latin typeface="Arial"/>
              </a:rPr>
              <a:t>0.957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52344"/>
            <a:ext cx="2221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>
                <a:solidFill>
                  <a:srgbClr val="8A99AD"/>
                </a:solidFill>
                <a:latin typeface="Arial"/>
              </a:rPr>
              <a:t>95% CI 0.946–0.969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0712" y="1901952"/>
            <a:ext cx="2624328" cy="123444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11880" y="2048256"/>
            <a:ext cx="22219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8A99AD"/>
                </a:solidFill>
                <a:latin typeface="Arial"/>
              </a:rPr>
              <a:t>BEST-F1 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286000"/>
            <a:ext cx="22219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E6EDF7"/>
                </a:solidFill>
                <a:latin typeface="Arial"/>
              </a:rPr>
              <a:t>0.934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752344"/>
            <a:ext cx="2221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>
                <a:solidFill>
                  <a:srgbClr val="8A99AD"/>
                </a:solidFill>
                <a:latin typeface="Arial"/>
              </a:rPr>
              <a:t>P 0.989 / R 0.885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901952"/>
            <a:ext cx="2624328" cy="123444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82512" y="2048256"/>
            <a:ext cx="22219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8A99AD"/>
                </a:solidFill>
                <a:latin typeface="Arial"/>
              </a:rPr>
              <a:t>FALSE-POSITIVE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286000"/>
            <a:ext cx="22219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60A5FA"/>
                </a:solidFill>
                <a:latin typeface="Arial"/>
              </a:rPr>
              <a:t>0.0003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2752344"/>
            <a:ext cx="2221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>
                <a:solidFill>
                  <a:srgbClr val="8A99AD"/>
                </a:solidFill>
                <a:latin typeface="Arial"/>
              </a:rPr>
              <a:t>insult rate at that point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1901952"/>
            <a:ext cx="2624328" cy="123444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53144" y="2048256"/>
            <a:ext cx="22219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8A99AD"/>
                </a:solidFill>
                <a:latin typeface="Arial"/>
              </a:rPr>
              <a:t>DECISION LATENCY P99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2286000"/>
            <a:ext cx="22219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59E0B"/>
                </a:solidFill>
                <a:latin typeface="Arial"/>
              </a:rPr>
              <a:t>31.4ms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2752344"/>
            <a:ext cx="2221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>
                <a:solidFill>
                  <a:srgbClr val="8A99AD"/>
                </a:solidFill>
                <a:latin typeface="Arial"/>
              </a:rPr>
              <a:t>p50 16.6ms · inline path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346704"/>
            <a:ext cx="2624328" cy="123444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41248" y="3493008"/>
            <a:ext cx="22219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8A99AD"/>
                </a:solidFill>
                <a:latin typeface="Arial"/>
              </a:rPr>
              <a:t>ZERO-DAY RECALL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3730752"/>
            <a:ext cx="22219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A78BFA"/>
                </a:solidFill>
                <a:latin typeface="Arial"/>
              </a:rPr>
              <a:t>0.781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4197096"/>
            <a:ext cx="2221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>
                <a:solidFill>
                  <a:srgbClr val="8A99AD"/>
                </a:solidFill>
                <a:latin typeface="Arial"/>
              </a:rPr>
              <a:t>6 vectors never trained 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2" y="3346704"/>
            <a:ext cx="2624328" cy="123444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611880" y="3493008"/>
            <a:ext cx="22219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8A99AD"/>
                </a:solidFill>
                <a:latin typeface="Arial"/>
              </a:rPr>
              <a:t>VALUE DETECTION 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3730752"/>
            <a:ext cx="22219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34D399"/>
                </a:solidFill>
                <a:latin typeface="Arial"/>
              </a:rPr>
              <a:t>0.913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4197096"/>
            <a:ext cx="2221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>
                <a:solidFill>
                  <a:srgbClr val="8A99AD"/>
                </a:solidFill>
                <a:latin typeface="Arial"/>
              </a:rPr>
              <a:t>share of fraud value stopped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3346704"/>
            <a:ext cx="2624328" cy="123444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82512" y="3493008"/>
            <a:ext cx="22219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8A99AD"/>
                </a:solidFill>
                <a:latin typeface="Arial"/>
              </a:rPr>
              <a:t>CALIBRATION ECE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2512" y="3730752"/>
            <a:ext cx="22219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60A5FA"/>
                </a:solidFill>
                <a:latin typeface="Arial"/>
              </a:rPr>
              <a:t>0.0019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197096"/>
            <a:ext cx="2221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>
                <a:solidFill>
                  <a:srgbClr val="8A99AD"/>
                </a:solidFill>
                <a:latin typeface="Arial"/>
              </a:rPr>
              <a:t>10-bin · Brier 0.00352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51976" y="3346704"/>
            <a:ext cx="2624328" cy="123444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153144" y="3493008"/>
            <a:ext cx="22219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8A99AD"/>
                </a:solidFill>
                <a:latin typeface="Arial"/>
              </a:rPr>
              <a:t>ROC-AUC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3144" y="3730752"/>
            <a:ext cx="22219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8A99AD"/>
                </a:solidFill>
                <a:latin typeface="Arial"/>
              </a:rPr>
              <a:t>0.996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3144" y="4197096"/>
            <a:ext cx="22219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>
                <a:solidFill>
                  <a:srgbClr val="8A99AD"/>
                </a:solidFill>
                <a:latin typeface="Arial"/>
              </a:rPr>
              <a:t>reported for comparability only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4809744"/>
            <a:ext cx="10881360" cy="1051560"/>
          </a:xfrm>
          <a:prstGeom prst="roundRect">
            <a:avLst>
              <a:gd name="adj" fmla="val 4000"/>
            </a:avLst>
          </a:prstGeom>
          <a:solidFill>
            <a:srgbClr val="0C1428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14400" y="4974336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Why PR-AUC and not accuracy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285232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At 2.98% test prevalence, a model that blocks nothing scores 97.0% accuracy. PR-AUC is the honest summary under imbalance; the confidence interval is bootstrapped. Calibration matters because a risk score is only useful to a downstream policy if 0.9 means 0.9.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60A5FA"/>
                </a:solidFill>
                <a:latin typeface="Arial"/>
              </a:rPr>
              <a:t>WHERE IT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68096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E6EDF7"/>
                </a:solidFill>
                <a:latin typeface="Arial"/>
              </a:rPr>
              <a:t>Worst-first, with the reason — not a cherry-picked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3502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8A99AD"/>
                </a:solidFill>
                <a:latin typeface="Arial"/>
              </a:rPr>
              <a:t>Per-attack recall measured at a 1% analyst review budget. Read the ceiling note before reading the rows.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5A687A"/>
                </a:solidFill>
                <a:latin typeface="Arial"/>
              </a:rPr>
              <a:t>Mastercard Innovation Challenge 2026  ·  Aegis: AI Defence Lab for Payment Security  ·  100% synthetic data — no real cardholder data, PII or production payment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01952"/>
            <a:ext cx="6766560" cy="288036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084832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8A99AD"/>
                </a:solidFill>
                <a:latin typeface="Arial"/>
              </a:rPr>
              <a:t>VECTOR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084832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8A99AD"/>
                </a:solidFill>
                <a:latin typeface="Arial"/>
              </a:rPr>
              <a:t>RECALL @1%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084832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8A99AD"/>
                </a:solidFill>
                <a:latin typeface="Arial"/>
              </a:rPr>
              <a:t>MEAN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084832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8A99AD"/>
                </a:solidFill>
                <a:latin typeface="Arial"/>
              </a:rPr>
              <a:t>HARD BY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0487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E6EDF7"/>
                </a:solidFill>
                <a:latin typeface="Arial"/>
              </a:rPr>
              <a:t>SIM_SWAP_OTP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4048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F1554F"/>
                </a:solidFill>
                <a:latin typeface="Arial"/>
              </a:rPr>
              <a:t>0.000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4048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99AD"/>
                </a:solidFill>
                <a:latin typeface="Arial"/>
              </a:rPr>
              <a:t>0.275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40487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A78BFA"/>
                </a:solidFill>
                <a:latin typeface="Arial"/>
              </a:rPr>
              <a:t>yes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7977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E6EDF7"/>
                </a:solidFill>
                <a:latin typeface="Arial"/>
              </a:rPr>
              <a:t>REFUND_ABUSE_COLLUSION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7797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F1554F"/>
                </a:solidFill>
                <a:latin typeface="Arial"/>
              </a:rPr>
              <a:t>0.000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7797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99AD"/>
                </a:solidFill>
                <a:latin typeface="Arial"/>
              </a:rPr>
              <a:t>0.500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77977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5A687A"/>
                </a:solidFill>
                <a:latin typeface="Arial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1546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E6EDF7"/>
                </a:solidFill>
                <a:latin typeface="Arial"/>
              </a:rPr>
              <a:t>ADAPTIVE_MIMICRY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1546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F1554F"/>
                </a:solidFill>
                <a:latin typeface="Arial"/>
              </a:rPr>
              <a:t>0.030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1546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99AD"/>
                </a:solidFill>
                <a:latin typeface="Arial"/>
              </a:rPr>
              <a:t>0.232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31546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A78BFA"/>
                </a:solidFill>
                <a:latin typeface="Arial"/>
              </a:rPr>
              <a:t>yes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52958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E6EDF7"/>
                </a:solidFill>
                <a:latin typeface="Arial"/>
              </a:rPr>
              <a:t>VELOCITY_EVASION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3529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0.917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3529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99AD"/>
                </a:solidFill>
                <a:latin typeface="Arial"/>
              </a:rPr>
              <a:t>0.978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352958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A78BFA"/>
                </a:solidFill>
                <a:latin typeface="Arial"/>
              </a:rPr>
              <a:t>yes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904488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E6EDF7"/>
                </a:solidFill>
                <a:latin typeface="Arial"/>
              </a:rPr>
              <a:t>DEEPFAKE_KYC_ONBOARD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3904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0.925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74920" y="3904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99AD"/>
                </a:solidFill>
                <a:latin typeface="Arial"/>
              </a:rPr>
              <a:t>0.991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0448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5A687A"/>
                </a:solidFill>
                <a:latin typeface="Arial"/>
              </a:rPr>
              <a:t>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27939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E6EDF7"/>
                </a:solidFill>
                <a:latin typeface="Arial"/>
              </a:rPr>
              <a:t>GENAI_DOC_FARM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42793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34D399"/>
                </a:solidFill>
                <a:latin typeface="Arial"/>
              </a:rPr>
              <a:t>0.950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4920" y="42793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99AD"/>
                </a:solidFill>
                <a:latin typeface="Arial"/>
              </a:rPr>
              <a:t>0.986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427939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5A687A"/>
                </a:solidFill>
                <a:latin typeface="Arial"/>
              </a:rPr>
              <a:t>no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80960" y="1901952"/>
            <a:ext cx="3840480" cy="2880360"/>
          </a:xfrm>
          <a:prstGeom prst="roundRect">
            <a:avLst>
              <a:gd name="adj" fmla="val 4000"/>
            </a:avLst>
          </a:prstGeom>
          <a:solidFill>
            <a:srgbClr val="1A0E0E"/>
          </a:solidFill>
          <a:ln w="9525">
            <a:solidFill>
              <a:srgbClr val="F155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955280" y="2103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1554F"/>
                </a:solidFill>
                <a:latin typeface="Arial"/>
              </a:rPr>
              <a:t>Read this first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80" y="246888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E6EDF7"/>
                </a:solidFill>
                <a:latin typeface="Arial"/>
              </a:rPr>
              <a:t>At a 1% alert budget and 2.98% prevalence, the maximum recall ANY detector could reach is 0.335. We reach 0.334 — 99.7% of the mathematical ceiling.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A99AD"/>
                </a:solidFill>
                <a:latin typeface="Arial"/>
              </a:rPr>
              <a:t>So a 0.000 row means 'did not survive the queue', not 'invisible to the model' — note the mean-risk column ranks them well above baseline.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>
                <a:solidFill>
                  <a:srgbClr val="34D399"/>
                </a:solidFill>
                <a:latin typeface="Arial"/>
              </a:rPr>
              <a:t>Budget sized to prevalence instead: recall 0.918 at precision 0.918.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5486400"/>
            <a:ext cx="10881360" cy="749808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14400" y="5632704"/>
            <a:ext cx="10332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A99AD"/>
                </a:solidFill>
                <a:latin typeface="Arial"/>
              </a:rPr>
              <a:t>Also stated plainly: synthetic prevalence is 3.83% versus roughly 0.1–1% in live card portfolios — necessary to train 25 vectors, but it means threshold-dependent figures would shift in production. PR-AUC, calibration and latency are the transferable ones. We do not claim per-row attribution inside the boosted component; model importance is reported globally and labelled as global.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60A5FA"/>
                </a:solidFill>
                <a:latin typeface="Arial"/>
              </a:rPr>
              <a:t>JUDGED ON: NOVELTY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68096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E6EDF7"/>
                </a:solidFill>
                <a:latin typeface="Arial"/>
              </a:rPr>
              <a:t>Generalisation to typologies never trained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3502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8A99AD"/>
                </a:solidFill>
                <a:latin typeface="Arial"/>
              </a:rPr>
              <a:t>6 vectors removed from training entirely, then scored at a threshold calibrated only on seen traffic.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5A687A"/>
                </a:solidFill>
                <a:latin typeface="Arial"/>
              </a:rPr>
              <a:t>Mastercard Innovation Challenge 2026  ·  Aegis: AI Defence Lab for Payment Security  ·  100% synthetic data — no real cardholder data, PII or production payment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01952"/>
            <a:ext cx="3108960" cy="137160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048256"/>
            <a:ext cx="27066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8A99AD"/>
                </a:solidFill>
                <a:latin typeface="Arial"/>
              </a:rPr>
              <a:t>UNSEEN RECALL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86000"/>
            <a:ext cx="27066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>
                <a:solidFill>
                  <a:srgbClr val="A78BFA"/>
                </a:solidFill>
                <a:latin typeface="Arial"/>
              </a:rPr>
              <a:t>0.781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889504"/>
            <a:ext cx="2706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>
                <a:solidFill>
                  <a:srgbClr val="8A99AD"/>
                </a:solidFill>
                <a:latin typeface="Arial"/>
              </a:rPr>
              <a:t>973 held-out transactions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1901952"/>
            <a:ext cx="7543800" cy="265176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251959" y="2066544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8A99AD"/>
                </a:solidFill>
                <a:latin typeface="Arial"/>
              </a:rPr>
              <a:t>HELD-OUT VECTOR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59" y="2066544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8A99AD"/>
                </a:solidFill>
                <a:latin typeface="Arial"/>
              </a:rPr>
              <a:t>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59" y="2066544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8A99AD"/>
                </a:solidFill>
                <a:latin typeface="Arial"/>
              </a:rPr>
              <a:t>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39" y="2066544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8A99AD"/>
                </a:solidFill>
                <a:latin typeface="Arial"/>
              </a:rPr>
              <a:t>MEAN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6999" y="2066544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8A99AD"/>
                </a:solidFill>
                <a:latin typeface="Arial"/>
              </a:rPr>
              <a:t>HARD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59" y="237744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E6EDF7"/>
                </a:solidFill>
                <a:latin typeface="Arial"/>
              </a:rPr>
              <a:t>BIN_ENUMERATION_BURST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59" y="23774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99AD"/>
                </a:solidFill>
                <a:latin typeface="Arial"/>
              </a:rPr>
              <a:t>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59" y="23774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34D399"/>
                </a:solidFill>
                <a:latin typeface="Arial"/>
              </a:rPr>
              <a:t>1.000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39" y="23774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99AD"/>
                </a:solidFill>
                <a:latin typeface="Arial"/>
              </a:rPr>
              <a:t>1.000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6999" y="23774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5A687A"/>
                </a:solidFill>
                <a:latin typeface="Arial"/>
              </a:rPr>
              <a:t>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59" y="273405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E6EDF7"/>
                </a:solidFill>
                <a:latin typeface="Arial"/>
              </a:rPr>
              <a:t>SYNTH_ID_BUSTOUT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59" y="27340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99AD"/>
                </a:solidFill>
                <a:latin typeface="Arial"/>
              </a:rPr>
              <a:t>168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59" y="27340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34D399"/>
                </a:solidFill>
                <a:latin typeface="Arial"/>
              </a:rPr>
              <a:t>1.000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39" y="27340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99AD"/>
                </a:solidFill>
                <a:latin typeface="Arial"/>
              </a:rPr>
              <a:t>1.000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6999" y="27340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5A687A"/>
                </a:solidFill>
                <a:latin typeface="Arial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59" y="3090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E6EDF7"/>
                </a:solidFill>
                <a:latin typeface="Arial"/>
              </a:rPr>
              <a:t>ATO_CREDENTIAL_STUFF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3090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99AD"/>
                </a:solidFill>
                <a:latin typeface="Arial"/>
              </a:rPr>
              <a:t>115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59" y="3090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34D399"/>
                </a:solidFill>
                <a:latin typeface="Arial"/>
              </a:rPr>
              <a:t>0.983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39" y="3090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99AD"/>
                </a:solidFill>
                <a:latin typeface="Arial"/>
              </a:rPr>
              <a:t>0.992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6999" y="3090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5A687A"/>
                </a:solidFill>
                <a:latin typeface="Arial"/>
              </a:rPr>
              <a:t>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59" y="344728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E6EDF7"/>
                </a:solidFill>
                <a:latin typeface="Arial"/>
              </a:rPr>
              <a:t>APP_SCAM_LLM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59" y="34472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99AD"/>
                </a:solidFill>
                <a:latin typeface="Arial"/>
              </a:rPr>
              <a:t>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59" y="34472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34D399"/>
                </a:solidFill>
                <a:latin typeface="Arial"/>
              </a:rPr>
              <a:t>0.933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6839" y="3447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99AD"/>
                </a:solidFill>
                <a:latin typeface="Arial"/>
              </a:rPr>
              <a:t>0.977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6999" y="3447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A78BFA"/>
                </a:solidFill>
                <a:latin typeface="Arial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51959" y="380390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E6EDF7"/>
                </a:solidFill>
                <a:latin typeface="Arial"/>
              </a:rPr>
              <a:t>ROMANCE_PIG_BUTCHERING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5159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99AD"/>
                </a:solidFill>
                <a:latin typeface="Arial"/>
              </a:rPr>
              <a:t>144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09559" y="380390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34D399"/>
                </a:solidFill>
                <a:latin typeface="Arial"/>
              </a:rPr>
              <a:t>0.764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6839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99AD"/>
                </a:solidFill>
                <a:latin typeface="Arial"/>
              </a:rPr>
              <a:t>0.893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6999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A78BFA"/>
                </a:solidFill>
                <a:latin typeface="Arial"/>
              </a:rPr>
              <a:t>yes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51959" y="416052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E6EDF7"/>
                </a:solidFill>
                <a:latin typeface="Arial"/>
              </a:rPr>
              <a:t>AGENT_IMPERSONATION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95159" y="4160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99AD"/>
                </a:solidFill>
                <a:latin typeface="Arial"/>
              </a:rPr>
              <a:t>216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09559" y="4160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F1554F"/>
                </a:solidFill>
                <a:latin typeface="Arial"/>
              </a:rPr>
              <a:t>0.190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6839" y="4160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A99AD"/>
                </a:solidFill>
                <a:latin typeface="Arial"/>
              </a:rPr>
              <a:t>0.570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86999" y="4160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5A687A"/>
                </a:solidFill>
                <a:latin typeface="Arial"/>
              </a:rPr>
              <a:t>no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5029200"/>
            <a:ext cx="10881360" cy="1207008"/>
          </a:xfrm>
          <a:prstGeom prst="roundRect">
            <a:avLst>
              <a:gd name="adj" fmla="val 4000"/>
            </a:avLst>
          </a:prstGeom>
          <a:solidFill>
            <a:srgbClr val="0C1428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14400" y="5193792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A78BFA"/>
                </a:solidFill>
                <a:latin typeface="Arial"/>
              </a:rPr>
              <a:t>Why this is the number that matters for a novel-attack claim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5504688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Reporting recall on attack types the model trained on measures memorisation. Holding six typologies out entirely — and refusing to retune the threshold on them — measures whether the causal feature layer generalises to fraud that did not exist when the model was fit. AGENT_IMPERSONATION at 0.190 is the honest weak point: an agent transacting legitimately and an agent impersonating a cardholder look nearly identical in an authorization message.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60A5FA"/>
                </a:solidFill>
                <a:latin typeface="Arial"/>
              </a:rPr>
              <a:t>ANALYST-FACING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68096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E6EDF7"/>
                </a:solidFill>
                <a:latin typeface="Arial"/>
              </a:rPr>
              <a:t>Exact reason codes, by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3502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8A99AD"/>
                </a:solidFill>
                <a:latin typeface="Arial"/>
              </a:rPr>
              <a:t>A fraud analyst needs three things: the decision, why it was made, and what would change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5A687A"/>
                </a:solidFill>
                <a:latin typeface="Arial"/>
              </a:rPr>
              <a:t>Mastercard Innovation Challenge 2026  ·  Aegis: AI Defence Lab for Payment Security  ·  100% synthetic data — no real cardholder data, PII or production payment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01952"/>
            <a:ext cx="6858000" cy="841248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40080" y="1901952"/>
            <a:ext cx="54864" cy="841248"/>
          </a:xfrm>
          <a:prstGeom prst="roundRect">
            <a:avLst>
              <a:gd name="adj" fmla="val 4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2020824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60A5FA"/>
                </a:solidFill>
                <a:latin typeface="Arial"/>
              </a:rPr>
              <a:t>Decision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8A99AD"/>
                </a:solidFill>
                <a:latin typeface="Arial"/>
              </a:rPr>
              <a:t>Calibrated risk, band, recommended action — allow, review, step up, block — alongside the payment's 3-D Secure status, AVS result and any SCA exemption claimed.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34640"/>
            <a:ext cx="6858000" cy="841248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54864" cy="841248"/>
          </a:xfrm>
          <a:prstGeom prst="roundRect">
            <a:avLst>
              <a:gd name="adj" fmla="val 4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953512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Arial"/>
              </a:rPr>
              <a:t>Exact score decomposition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18688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8A99AD"/>
                </a:solidFill>
                <a:latin typeface="Arial"/>
              </a:rPr>
              <a:t>Additive contributions to the arbiter's log-odds — the arithmetic that produced the score, not an approximation. Verified against the model's decision function in the test suite.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67328"/>
            <a:ext cx="6858000" cy="841248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640080" y="3767328"/>
            <a:ext cx="54864" cy="841248"/>
          </a:xfrm>
          <a:prstGeom prst="roundRect">
            <a:avLst>
              <a:gd name="adj" fmla="val 4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8862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Reason codes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51376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8A99AD"/>
                </a:solidFill>
                <a:latin typeface="Arial"/>
              </a:rPr>
              <a:t>Ranked in analyst language, not feature names.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00016"/>
            <a:ext cx="6858000" cy="841248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40080" y="4700016"/>
            <a:ext cx="54864" cy="841248"/>
          </a:xfrm>
          <a:prstGeom prst="roundRect">
            <a:avLst>
              <a:gd name="adj" fmla="val 4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4818888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A78BFA"/>
                </a:solidFill>
                <a:latin typeface="Arial"/>
              </a:rPr>
              <a:t>Counterfactual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084064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8A99AD"/>
                </a:solidFill>
                <a:latin typeface="Arial"/>
              </a:rPr>
              <a:t>What would have to change for this payment to score benign.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26679" y="1901952"/>
            <a:ext cx="3794760" cy="3108960"/>
          </a:xfrm>
          <a:prstGeom prst="roundRect">
            <a:avLst>
              <a:gd name="adj" fmla="val 4000"/>
            </a:avLst>
          </a:prstGeom>
          <a:solidFill>
            <a:srgbClr val="1A1408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000999" y="2121408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The deliberate trade-off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0999" y="2487168"/>
            <a:ext cx="32461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A99AD"/>
                </a:solidFill>
                <a:latin typeface="Arial"/>
              </a:rPr>
              <a:t>SHAP could not be installed in this environment (libomp and numba are unavailable on Python 3.14).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E6EDF7"/>
                </a:solidFill>
                <a:latin typeface="Arial"/>
              </a:rPr>
              <a:t>Rather than ship an approximate explainer and call it attribution, we architected the system so its explanation is exact: the arbiter is additive, so its decomposition is arithmetic rather than estimation.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A99AD"/>
                </a:solidFill>
                <a:latin typeface="Arial"/>
              </a:rPr>
              <a:t>The boosted component's importance is reported globally and labelled as global. We do not claim per-row attribution we cannot compute.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60A5FA"/>
                </a:solidFill>
                <a:latin typeface="Arial"/>
              </a:rPr>
              <a:t>JUDGED ON: REAL-WORLD 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68096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E6EDF7"/>
                </a:solidFill>
                <a:latin typeface="Arial"/>
              </a:rPr>
              <a:t>Built against the constraints of a live authorization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3502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8A99AD"/>
                </a:solidFill>
                <a:latin typeface="Arial"/>
              </a:rPr>
              <a:t>An inline fraud control has a latency budget, a review-capacity budget, an audit obligation and a governance process. Each shaped a design decision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5A687A"/>
                </a:solidFill>
                <a:latin typeface="Arial"/>
              </a:rPr>
              <a:t>Mastercard Innovation Challenge 2026  ·  Aegis: AI Defence Lab for Payment Security  ·  100% synthetic data — no real cardholder data, PII or production payment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01952"/>
            <a:ext cx="5257800" cy="132588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066544"/>
            <a:ext cx="4709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8A99AD"/>
                </a:solidFill>
                <a:latin typeface="Arial"/>
              </a:rPr>
              <a:t>LATENCY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04288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p50 16.6ms · p99 31.4ms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8A99AD"/>
                </a:solidFill>
                <a:latin typeface="Arial"/>
              </a:rPr>
              <a:t>The expensive graph stage runs on the riskiest 20% of traffic — an explicit compute budget, not a score threshold. That is how production cascades hold p99 inside an authorization window.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01952"/>
            <a:ext cx="5257800" cy="132588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2066544"/>
            <a:ext cx="4709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8A99AD"/>
                </a:solidFill>
                <a:latin typeface="Arial"/>
              </a:rPr>
              <a:t>REVIEW CAPACITY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304288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60A5FA"/>
                </a:solidFill>
                <a:latin typeface="Arial"/>
              </a:rPr>
              <a:t>271 alerts at a 1% budget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633472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8A99AD"/>
                </a:solidFill>
                <a:latin typeface="Arial"/>
              </a:rPr>
              <a:t>Operating points are reported against analyst capacity, not just at best-F1, because a queue nobody can work is not a control.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83280"/>
            <a:ext cx="5257800" cy="132588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3547872"/>
            <a:ext cx="4709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8A99AD"/>
                </a:solidFill>
                <a:latin typeface="Arial"/>
              </a:rPr>
              <a:t>AUDITABILITY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34D399"/>
                </a:solidFill>
                <a:latin typeface="Arial"/>
              </a:rPr>
              <a:t>Append-only trail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8A99AD"/>
                </a:solidFill>
                <a:latin typeface="Arial"/>
              </a:rPr>
              <a:t>Every environment change, campaign and analyst action is recorded in SQLite. Model governance expects decisions to be reconstructable after the fact.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383280"/>
            <a:ext cx="5257800" cy="132588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3547872"/>
            <a:ext cx="4709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8A99AD"/>
                </a:solidFill>
                <a:latin typeface="Arial"/>
              </a:rPr>
              <a:t>DEPLOYABILITY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785616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A78BFA"/>
                </a:solidFill>
                <a:latin typeface="Arial"/>
              </a:rPr>
              <a:t>Stdlib-first, permissive-only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11480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8A99AD"/>
                </a:solidFill>
                <a:latin typeface="Arial"/>
              </a:rPr>
              <a:t>No AGPL dependencies, no GPU requirement, no external service on the decision path. The LLM narrates; it never makes the block decision.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577840"/>
            <a:ext cx="10881360" cy="658368"/>
          </a:xfrm>
          <a:prstGeom prst="roundRect">
            <a:avLst>
              <a:gd name="adj" fmla="val 4000"/>
            </a:avLst>
          </a:prstGeom>
          <a:solidFill>
            <a:srgbClr val="0C1428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14400" y="5724144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E6EDF7"/>
                </a:solidFill>
                <a:latin typeface="Arial"/>
              </a:rPr>
              <a:t>Positioning: this extends Mastercard's own published direction. Threat Scan simulates known attacks against issuers; AI Garage has published on adversarial fraud generation. Aegis generates novel attacks instead of replaying known ones, constrains them to be feasible, and wires them into a continuous, per-signal-graded loop.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60A5FA"/>
                </a:solidFill>
                <a:latin typeface="Arial"/>
              </a:rPr>
              <a:t>WORKING PROTOTYPE  ·  THE RED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68096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E6EDF7"/>
                </a:solidFill>
                <a:latin typeface="Arial"/>
              </a:rPr>
              <a:t>Attack library with declared ground truth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3502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8A99AD"/>
                </a:solidFill>
                <a:latin typeface="Arial"/>
              </a:rPr>
              <a:t>Each vector names what GenAI changed, its MITRE ATLAS mapping, and the detection signals it should trip — declared before the campaign runs.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5A687A"/>
                </a:solidFill>
                <a:latin typeface="Arial"/>
              </a:rPr>
              <a:t>Mastercard Innovation Challenge 2026  ·  Aegis: AI Defence Lab for Payment Security  ·  100% synthetic data — no real cardholder data, PII or production payment data</a:t>
            </a:r>
          </a:p>
        </p:txBody>
      </p:sp>
      <p:pic>
        <p:nvPicPr>
          <p:cNvPr id="6" name="Picture 5" descr="02-red-tea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533345" y="1901952"/>
            <a:ext cx="7125004" cy="44531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60A5FA"/>
                </a:solidFill>
                <a:latin typeface="Arial"/>
              </a:rPr>
              <a:t>WORKING PROTOTYPE  ·  INVESTIGATION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68096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E6EDF7"/>
                </a:solidFill>
                <a:latin typeface="Arial"/>
              </a:rPr>
              <a:t>Exact decomposition and counterfactual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3502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8A99AD"/>
                </a:solidFill>
                <a:latin typeface="Arial"/>
              </a:rPr>
              <a:t>The analyst path: calibrated decision, additive contributions that reconcile with the model's decision function, ranked reason codes, and what would change the outcome.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5A687A"/>
                </a:solidFill>
                <a:latin typeface="Arial"/>
              </a:rPr>
              <a:t>Mastercard Innovation Challenge 2026  ·  Aegis: AI Defence Lab for Payment Security  ·  100% synthetic data — no real cardholder data, PII or production payment data</a:t>
            </a:r>
          </a:p>
        </p:txBody>
      </p:sp>
      <p:pic>
        <p:nvPicPr>
          <p:cNvPr id="6" name="Picture 5" descr="05-investigat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13240" y="1901952"/>
            <a:ext cx="5365214" cy="44531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60A5FA"/>
                </a:solidFill>
                <a:latin typeface="Arial"/>
              </a:rPr>
              <a:t>WORKING PROTOTYPE  ·  FRAUD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68096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E6EDF7"/>
                </a:solidFill>
                <a:latin typeface="Arial"/>
              </a:rPr>
              <a:t>Structure that is invisible per transaction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3502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8A99AD"/>
                </a:solidFill>
                <a:latin typeface="Arial"/>
              </a:rPr>
              <a:t>The subgraph induced by shared infrastructure only — entities touching two or more distinct cards. One device linked to 31 cards: no single payment looks wrong, the graph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5A687A"/>
                </a:solidFill>
                <a:latin typeface="Arial"/>
              </a:rPr>
              <a:t>Mastercard Innovation Challenge 2026  ·  Aegis: AI Defence Lab for Payment Security  ·  100% synthetic data — no real cardholder data, PII or production payment data</a:t>
            </a:r>
          </a:p>
        </p:txBody>
      </p:sp>
      <p:pic>
        <p:nvPicPr>
          <p:cNvPr id="6" name="Picture 5" descr="06-fraud-network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533345" y="1901952"/>
            <a:ext cx="7125004" cy="44531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E6EDF7"/>
                </a:solidFill>
                <a:latin typeface="Arial"/>
              </a:rPr>
              <a:t>Three things to take 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2823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5A687A"/>
                </a:solidFill>
                <a:latin typeface="Arial"/>
              </a:rPr>
              <a:t>Mastercard Innovation Challenge 2026  ·  Aegis: AI Defence Lab for Payment Security  ·  100% synthetic data — no real cardholder data, PII or production payment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10881360" cy="114300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64008" cy="1143000"/>
          </a:xfrm>
          <a:prstGeom prst="roundRect">
            <a:avLst>
              <a:gd name="adj" fmla="val 4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1371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34D399"/>
                </a:solidFill>
                <a:latin typeface="Arial"/>
              </a:rPr>
              <a:t>1.  It is a loop, not a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75564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The attacks train the defence, and per-signal recall says exactly where the defence is blind — which becomes the specification for the next attack. That feedback path is the contribution; the detector alone is not.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87168"/>
            <a:ext cx="10881360" cy="114300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40080" y="2487168"/>
            <a:ext cx="64008" cy="1143000"/>
          </a:xfrm>
          <a:prstGeom prst="roundRect">
            <a:avLst>
              <a:gd name="adj" fmla="val 4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51560" y="2670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F59E0B"/>
                </a:solidFill>
                <a:latin typeface="Arial"/>
              </a:rPr>
              <a:t>2.  The attacks are feasible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54096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Generators only manipulate what an attacker really controls — amount, timing, cadence, merchant, device, sequencing. Never the victim's own history or issuer-side state. That constraint is what makes the detection numbers operationally meaningful.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85616"/>
            <a:ext cx="10881360" cy="1143000"/>
          </a:xfrm>
          <a:prstGeom prst="roundRect">
            <a:avLst>
              <a:gd name="adj" fmla="val 4000"/>
            </a:avLst>
          </a:prstGeom>
          <a:solidFill>
            <a:srgbClr val="101726"/>
          </a:solidFill>
          <a:ln w="9525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0080" y="3785616"/>
            <a:ext cx="64008" cy="1143000"/>
          </a:xfrm>
          <a:prstGeom prst="roundRect">
            <a:avLst>
              <a:gd name="adj" fmla="val 4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51560" y="3968496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60A5FA"/>
                </a:solidFill>
                <a:latin typeface="Arial"/>
              </a:rPr>
              <a:t>3.  The numbers are honest and reproducible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352544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8A99AD"/>
                </a:solidFill>
                <a:latin typeface="Arial"/>
              </a:rPr>
              <a:t>PR-AUC 0.957 with a bootstrapped interval, temporal split with a delay block, zero-day recall 0.781 on 6 held-out typologies, and the failures shown worst-first. Every figure regenerates from evaluate.py on a clean checkout — including this deck.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>
                <a:solidFill>
                  <a:srgbClr val="5A687A"/>
                </a:solidFill>
                <a:latin typeface="Arial"/>
              </a:rPr>
              <a:t>Reproduce: pip install -r requirements.txt  ·  python -m backend.app.evaluate  ·  ./scripts/verify.sh --full      (90,256 transactions · 25 vectors · 75 campaigns · generated 2026-08-17)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