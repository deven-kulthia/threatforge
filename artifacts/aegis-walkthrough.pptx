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Aegis is a closed-loop adversarial AI system for payment fraud. Three stages: identify the</a:t>
            </a:r>
          </a:p>
          <a:p>
            <a:r>
              <a:t>GenAI-era threat surface, generate feasible attacks against it, defend and measure.</a:t>
            </a:r>
          </a:p>
          <a:p/>
          <a:p>
            <a:r>
              <a:t>The loop is the point. Most entries build a detector, or build a simulator. Here the attacks</a:t>
            </a:r>
          </a:p>
          <a:p>
            <a:r>
              <a:t>train the defence, and per-signal recall tells us exactly where the defence is blind — which</a:t>
            </a:r>
          </a:p>
          <a:p>
            <a:r>
              <a:t>becomes the specification for the next attack.</a:t>
            </a:r>
          </a:p>
          <a:p/>
          <a:p>
            <a:r>
              <a:t>Every number in this deck is generated from artifacts/metrics.json by scripts/make_deck.py.</a:t>
            </a:r>
          </a:p>
          <a:p>
            <a:r>
              <a:t>No figure is typed by hand. All data is synthetic; the simulator never touches a live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asymmetry: generative AI made attack *design* cheap and fast, while defence still depends on</a:t>
            </a:r>
          </a:p>
          <a:p>
            <a:r>
              <a:t>labelled outcomes that arrive weeks later through the dispute lifecycle.</a:t>
            </a:r>
          </a:p>
          <a:p/>
          <a:p>
            <a:r>
              <a:t>That is not a modelling problem you can fix with a better classifier. A supervised model cannot</a:t>
            </a:r>
          </a:p>
          <a:p>
            <a:r>
              <a:t>represent a typology it has never seen. The only way to get ahead of it is to manufacture the</a:t>
            </a:r>
          </a:p>
          <a:p>
            <a:r>
              <a:t>unseen fraud yourself — which is what the red-team half of this system does.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boxes left to right, then the return path at the bottom — that bottom band is the</a:t>
            </a:r>
          </a:p>
          <a:p>
            <a:r>
              <a:t>actual contribution.</a:t>
            </a:r>
          </a:p>
          <a:p/>
          <a:p>
            <a:r>
              <a:t>Because every generated attack declares its expected detection signals *before* it runs, we can</a:t>
            </a:r>
          </a:p>
          <a:p>
            <a:r>
              <a:t>grade the defence per signal instead of per transaction. That converts "we caught 88% of fraud"</a:t>
            </a:r>
          </a:p>
          <a:p>
            <a:r>
              <a:t>into "here are the specific mechanisms we are blind to" — which is directly actionable, and is the</a:t>
            </a:r>
          </a:p>
          <a:p>
            <a:r>
              <a:t>input to the next round of attack generation.</a:t>
            </a:r>
          </a:p>
          <a:p/>
          <a:p>
            <a:r>
              <a:t>We also publish the signals we cannot implement and why. Five of them need data outside the</a:t>
            </a:r>
          </a:p>
          <a:p>
            <a:r>
              <a:t>authorization message. Naming them is more useful than letting a gap look mysterious.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categories, twenty-five vectors. The selection criterion was coverage of the GenAI-era threat</a:t>
            </a:r>
          </a:p>
          <a:p>
            <a:r>
              <a:t>surface — specifically the vectors where generative AI changed the attacker's economics, not just</a:t>
            </a:r>
          </a:p>
          <a:p>
            <a:r>
              <a:t>a long list of classic card fraud.</a:t>
            </a:r>
          </a:p>
          <a:p/>
          <a:p>
            <a:r>
              <a:t>Note the deliberately hard cases: adaptive mimicry learns the victim's own baseline and stays</a:t>
            </a:r>
          </a:p>
          <a:p>
            <a:r>
              <a:t>inside it; APP scam and romance fraud involve the genuine cardholder on their own device with</a:t>
            </a:r>
          </a:p>
          <a:p>
            <a:r>
              <a:t>real 3-D Secure — every credential signal is clean and only the intent is wrong. Most detectors</a:t>
            </a:r>
          </a:p>
          <a:p>
            <a:r>
              <a:t>implicitly assume compromised credentials. These do not.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fidelity argument. The left column is what a real attacker can manipulate; the</a:t>
            </a:r>
          </a:p>
          <a:p>
            <a:r>
              <a:t>right column is what they cannot. Our generators only touch the left.</a:t>
            </a:r>
          </a:p>
          <a:p/>
          <a:p>
            <a:r>
              <a:t>That constraint costs us headline numbers — it is much easier to score well against attacks that</a:t>
            </a:r>
          </a:p>
          <a:p>
            <a:r>
              <a:t>cheat by editing issuer-side features. But an attack that requires rewriting the victim's own</a:t>
            </a:r>
          </a:p>
          <a:p>
            <a:r>
              <a:t>history is not an attack, it is a data corruption. Constraining to feasible actions is what makes</a:t>
            </a:r>
          </a:p>
          <a:p>
            <a:r>
              <a:t>the resulting detection numbers mean anything operationally.</a:t>
            </a:r>
          </a:p>
          <a:p/>
          <a:p>
            <a:r>
              <a:t>The schema is modelled on ISO 8583 authorization fields so the features we build have live-payments</a:t>
            </a:r>
          </a:p>
          <a:p>
            <a:r>
              <a:t>analogues. Card identifiers are tokens throughout — there is no PAN anywhere in the 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criterion 2 is judged instrumentally — the brief wants realistic</a:t>
            </a:r>
          </a:p>
          <a:p>
            <a:r>
              <a:t>distributions, so we measure rather than assert.</a:t>
            </a:r>
          </a:p>
          <a:p/>
          <a:p>
            <a:r>
              <a:t>Left: 9 of 9 generated marginals land inside published reference bands. The Benford</a:t>
            </a:r>
          </a:p>
          <a:p>
            <a:r>
              <a:t>result is the one to point at — MAD 0.0010, which is 'close conformity' on Nigrini's</a:t>
            </a:r>
          </a:p>
          <a:p>
            <a:r>
              <a:t>published scale. Real transaction amounts obey Benford's law; ours do too, and we did not tune for it.</a:t>
            </a:r>
          </a:p>
          <a:p/>
          <a:p>
            <a:r>
              <a:t>Right, and this is the important half: if our synthetic fraud came from an obviously different</a:t>
            </a:r>
          </a:p>
          <a:p>
            <a:r>
              <a:t>process, any classifier would score ~1.0 and the whole evaluation would be meaningless. So we</a:t>
            </a:r>
          </a:p>
          <a:p>
            <a:r>
              <a:t>measure univariate AUC on RAW authorization fields. Max is 0.896 — and `amount` is only</a:t>
            </a:r>
          </a:p>
          <a:p>
            <a:r>
              <a:t>0.559, which is the tell that we are not doing 'fraud = big transactions'.</a:t>
            </a:r>
          </a:p>
          <a:p/>
          <a:p>
            <a:r>
              <a:t>Cross-border is the highest single field. That is realistic rather than an artefact — cross-border</a:t>
            </a:r>
          </a:p>
          <a:p>
            <a:r>
              <a:t>genuinely carries elevated fraud rates in live portfolios.</a:t>
            </a:r>
          </a:p>
          <a:p/>
          <a:p>
            <a:r>
              <a:t>If a judge suspects the data is too easy, this is the slide that answers it with numbers.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credibility slide. Three things to land.</a:t>
            </a:r>
          </a:p>
          <a:p/>
          <a:p>
            <a:r>
              <a:t>First, the split: temporal with a 5% delay block. Chargeback labels arrive weeks after the</a:t>
            </a:r>
          </a:p>
          <a:p>
            <a:r>
              <a:t>transaction, so a random split lets the model see the future. Discarding a slice of the timeline</a:t>
            </a:r>
          </a:p>
          <a:p>
            <a:r>
              <a:t>between train and test simulates that reporting lag.</a:t>
            </a:r>
          </a:p>
          <a:p/>
          <a:p>
            <a:r>
              <a:t>Second, PR-AUC 0.944 with a bootstrapped interval — not accuracy, which is meaningless at</a:t>
            </a:r>
          </a:p>
          <a:p>
            <a:r>
              <a:t>2.98% prevalence.</a:t>
            </a:r>
          </a:p>
          <a:p/>
          <a:p>
            <a:r>
              <a:t>Third, p99 18.8ms is the inline authorization decision path, not batch throughput. That is</a:t>
            </a:r>
          </a:p>
          <a:p>
            <a:r>
              <a:t>the number that decides whether this can sit in an authorization flow at all.</a:t>
            </a:r>
          </a:p>
          <a:p/>
          <a:p>
            <a:r>
              <a:t>Calibration: ECE 0.0038 via isotonic regression on a held-out temporal slice. A calibrated score</a:t>
            </a:r>
          </a:p>
          <a:p>
            <a:r>
              <a:t>is what lets a bank set policy thresholds on expected loss rather than on an arbitrary cut.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showing the worst rows. Two vectors sit at 0.000 recall at the 1% budget, and the</a:t>
            </a:r>
          </a:p>
          <a:p>
            <a:r>
              <a:t>right-hand panel is why that is a queue-capacity statement rather than a model failure: the ceiling</a:t>
            </a:r>
          </a:p>
          <a:p>
            <a:r>
              <a:t>at this prevalence is 0.336 and we are at 99.3% of it. The mean-risk column shows the model</a:t>
            </a:r>
          </a:p>
          <a:p>
            <a:r>
              <a:t>does rank these attacks highly — they just lose the competition for 271 review slots.</a:t>
            </a:r>
          </a:p>
          <a:p/>
          <a:p>
            <a:r>
              <a:t>Size the budget to prevalence instead and recall is 0.909 at precision 0.909.</a:t>
            </a:r>
          </a:p>
          <a:p/>
          <a:p>
            <a:r>
              <a:t>SIM_SWAP_OTP and adaptive mimicry are genuinely hard and genuinely under-detected: mimicry learns</a:t>
            </a:r>
          </a:p>
          <a:p>
            <a:r>
              <a:t>the victim's own baseline and stays inside it. That is the honest state of the art, and it is</a:t>
            </a:r>
          </a:p>
          <a:p>
            <a:r>
              <a:t>exactly the gap the loop feeds back into the next attack generation.</a:t>
            </a:r>
          </a:p>
          <a:p/>
          <a:p>
            <a:r>
              <a:t>If a judge asks what we would fix first: those two rows.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novelty evidence. Six vectors — including APP scam, romance fraud, synthetic-ID bust-out</a:t>
            </a:r>
          </a:p>
          <a:p>
            <a:r>
              <a:t>and agent impersonation — were removed from training completely. The threshold was calibrated on seen</a:t>
            </a:r>
          </a:p>
          <a:p>
            <a:r>
              <a:t>traffic only; we did not peek.</a:t>
            </a:r>
          </a:p>
          <a:p/>
          <a:p>
            <a:r>
              <a:t>Aggregate unseen recall 0.718. Four of six vectors are caught well because the features are causal</a:t>
            </a:r>
          </a:p>
          <a:p>
            <a:r>
              <a:t>rather than pattern-matched — velocity against the account's own baseline, graph structure, and</a:t>
            </a:r>
          </a:p>
          <a:p>
            <a:r>
              <a:t>verification-signal coherence transfer to typologies the model never saw.</a:t>
            </a:r>
          </a:p>
          <a:p/>
          <a:p>
            <a:r>
              <a:t>Be upfront about AGENT_IMPERSONATION at 0.190. In an authorization message, a legitimate agentic</a:t>
            </a:r>
          </a:p>
          <a:p>
            <a:r>
              <a:t>purchase and an impersonated one are nearly indistinguishable; separating them needs agent-identity</a:t>
            </a:r>
          </a:p>
          <a:p>
            <a:r>
              <a:t>attestation that does not exist in the schema yet. That is a roadmap item, not something to paper over.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Explainability is a regulatory requirement in this domain, not a nice-to-have — a declined payment</a:t>
            </a:r>
          </a:p>
          <a:p>
            <a:r>
              <a:t>may need a reason, and model governance expects decisions to be reconstructable.</a:t>
            </a:r>
          </a:p>
          <a:p/>
          <a:p>
            <a:r>
              <a:t>The honest beat is on the right, and say it out loud. We could not install SHAP. Instead of shipping</a:t>
            </a:r>
          </a:p>
          <a:p>
            <a:r>
              <a:t>an approximate explainer and calling it attribution, we designed the arbiter to be additive so the</a:t>
            </a:r>
          </a:p>
          <a:p>
            <a:r>
              <a:t>decomposition is exact by construction — and the test suite verifies the reason codes reconcile with</a:t>
            </a:r>
          </a:p>
          <a:p>
            <a:r>
              <a:t>the model's own decision function.</a:t>
            </a:r>
          </a:p>
          <a:p/>
          <a:p>
            <a:r>
              <a:t>Where we cannot compute per-row attribution — inside the gradient-boosted component — we report</a:t>
            </a:r>
          </a:p>
          <a:p>
            <a:r>
              <a:t>importance globally and label it as global. The literature is clear that fluent rationales raise</a:t>
            </a:r>
          </a:p>
          <a:p>
            <a:r>
              <a:t>analyst confidence without raising accuracy, so a plausible-sounding wrong explanation is worse</a:t>
            </a:r>
          </a:p>
          <a:p>
            <a:r>
              <a:t>than an honest boundary.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Feasibility is a judged criterion and it is where most research prototypes quietly fail.</a:t>
            </a:r>
          </a:p>
          <a:p/>
          <a:p>
            <a:r>
              <a:t>Four constraints, four design consequences. The latency one matters most: p99 18.8ms inline, achieved</a:t>
            </a:r>
          </a:p>
          <a:p>
            <a:r>
              <a:t>by budgeting the graph stage to the riskiest 20% of traffic rather than gating on a score</a:t>
            </a:r>
          </a:p>
          <a:p>
            <a:r>
              <a:t>threshold — thresholds let cost spike when an attack floods the high-risk band; a budget cannot.</a:t>
            </a:r>
          </a:p>
          <a:p/>
          <a:p>
            <a:r>
              <a:t>The review-capacity point is the one fraud teams will care about: we report operating points against</a:t>
            </a:r>
          </a:p>
          <a:p>
            <a:r>
              <a:t>what an analyst team can actually work, not only the point that flatters the model.</a:t>
            </a:r>
          </a:p>
          <a:p/>
          <a:p>
            <a:r>
              <a:t>Close on positioning. This is not a new category — it extends a direction Mastercard has already</a:t>
            </a:r>
          </a:p>
          <a:p>
            <a:r>
              <a:t>published on, which makes it adoptable rather than speculative.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half of the brief most entries skip, so spend time here.</a:t>
            </a:r>
          </a:p>
          <a:p/>
          <a:p>
            <a:r>
              <a:t>Twenty-five vectors, each with the role generative AI plays spelled out, a MITRE ATLAS mapping, and</a:t>
            </a:r>
          </a:p>
          <a:p>
            <a:r>
              <a:t>crucially the expected detection signals declared *before* launch. That last part is what lets us</a:t>
            </a:r>
          </a:p>
          <a:p>
            <a:r>
              <a:t>measure whether we caught an attack for the right reason instead of by luck.</a:t>
            </a:r>
          </a:p>
          <a:p/>
          <a:p>
            <a:r>
              <a:t>Pick APP_SCAM_LLM to demo: the genuine cardholder, own device, real 3-D Secure, willingly authorising.</a:t>
            </a:r>
          </a:p>
          <a:p>
            <a:r>
              <a:t>Every credential signal is clean; only the intent is wrong.</a:t>
            </a:r>
          </a:p>
          <a:p/>
          <a:p>
            <a:r>
              <a:t>Live in the browser during the demo; this capture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analyst workflow. Top-left is the decision and the payment's verification attributes; the</a:t>
            </a:r>
          </a:p>
          <a:p>
            <a:r>
              <a:t>decomposition below it is exact arithmetic on the arbiter's log-odds, not an estimate.</a:t>
            </a:r>
          </a:p>
          <a:p/>
          <a:p>
            <a:r>
              <a:t>Point at the caveat in the panel deliberately — the global-importance labelling for the boosted</a:t>
            </a:r>
          </a:p>
          <a:p>
            <a:r>
              <a:t>component. Judges notice when a team knows the difference between an explanation and a plausible story.</a:t>
            </a:r>
          </a:p>
          <a:p/>
          <a:p>
            <a:r>
              <a:t>Live in the browser during the demo; this capture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Rings are invisible one transaction at a time and obvious as structure.</a:t>
            </a:r>
          </a:p>
          <a:p/>
          <a:p>
            <a:r>
              <a:t>Important detail: this is pruned to *shared* infrastructure — entities touching two or more distinct</a:t>
            </a:r>
          </a:p>
          <a:p>
            <a:r>
              <a:t>cards. Unpruned it is mostly singleton pairs and the structure disappears into noise; that pruning</a:t>
            </a:r>
          </a:p>
          <a:p>
            <a:r>
              <a:t>decision is what makes the panel readable.</a:t>
            </a:r>
          </a:p>
          <a:p/>
          <a:p>
            <a:r>
              <a:t>One device, 31 distinct cards. No individual authorization is anomalous enough to decline. The graph</a:t>
            </a:r>
          </a:p>
          <a:p>
            <a:r>
              <a:t>stage runs on the riskiest 20% of traffic, which is what keeps it inside the latency budget.</a:t>
            </a:r>
          </a:p>
          <a:p/>
          <a:p>
            <a:r>
              <a:t>Live in the browser during the demo; this capture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these three, in this order.</a:t>
            </a:r>
          </a:p>
          <a:p/>
          <a:p>
            <a:r>
              <a:t>The loop is the contribution. Feasibility is what makes it real. Honesty about the failures is what</a:t>
            </a:r>
          </a:p>
          <a:p>
            <a:r>
              <a:t>should make the rest of the numbers believable — a deck that only shows wins invites the assumption</a:t>
            </a:r>
          </a:p>
          <a:p>
            <a:r>
              <a:t>that the losses were hidden.</a:t>
            </a:r>
          </a:p>
          <a:p/>
          <a:p>
            <a:r>
              <a:t>Offer the walkthrough: the whole system runs locally in two commands, and every number here</a:t>
            </a:r>
          </a:p>
          <a:p>
            <a:r>
              <a:t>regenerates from a clean checkout.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Rounded Rectangle 1"/>
          <p:cNvSpPr/>
          <p:nvPr/>
        </p:nvSpPr>
        <p:spPr>
          <a:xfrm>
            <a:off x="0" y="0"/>
            <a:ext cx="12191695" cy="6858000"/>
          </a:xfrm>
          <a:prstGeom prst="roundRect">
            <a:avLst>
              <a:gd name="adj" fmla="val 4000"/>
            </a:avLst>
          </a:prstGeom>
          <a:solidFill>
            <a:srgbClr val="070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68680" y="1417320"/>
            <a:ext cx="457200" cy="457200"/>
          </a:xfrm>
          <a:prstGeom prst="ellipse">
            <a:avLst/>
          </a:prstGeom>
          <a:solidFill>
            <a:srgbClr val="F15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70432" y="141732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48840"/>
            <a:ext cx="10515600" cy="822960"/>
          </a:xfrm>
          <a:prstGeom prst="rect">
            <a:avLst/>
          </a:prstGeom>
          <a:noFill/>
        </p:spPr>
        <p:txBody>
          <a:bodyPr wrap="square" lIns="0" rIns="0" tIns="0" bIns="0" anchor="t">
            <a:spAutoFit/>
          </a:bodyPr>
          <a:lstStyle/>
          <a:p>
            <a:pPr algn="l">
              <a:lnSpc>
                <a:spcPct val="100000"/>
              </a:lnSpc>
              <a:spcAft>
                <a:spcPts val="600"/>
              </a:spcAft>
            </a:pPr>
            <a:r>
              <a:rPr sz="6200" b="1">
                <a:solidFill>
                  <a:srgbClr val="E6EDF7"/>
                </a:solidFill>
                <a:latin typeface="Arial"/>
              </a:rPr>
              <a:t>Aegis</a:t>
            </a:r>
          </a:p>
        </p:txBody>
      </p:sp>
      <p:sp>
        <p:nvSpPr>
          <p:cNvPr id="6" name="TextBox 5"/>
          <p:cNvSpPr txBox="1"/>
          <p:nvPr/>
        </p:nvSpPr>
        <p:spPr>
          <a:xfrm>
            <a:off x="868680" y="2971800"/>
            <a:ext cx="10515600" cy="365760"/>
          </a:xfrm>
          <a:prstGeom prst="rect">
            <a:avLst/>
          </a:prstGeom>
          <a:noFill/>
        </p:spPr>
        <p:txBody>
          <a:bodyPr wrap="square" lIns="0" rIns="0" tIns="0" bIns="0" anchor="t">
            <a:spAutoFit/>
          </a:bodyPr>
          <a:lstStyle/>
          <a:p>
            <a:pPr algn="l">
              <a:lnSpc>
                <a:spcPct val="125000"/>
              </a:lnSpc>
              <a:spcAft>
                <a:spcPts val="600"/>
              </a:spcAft>
            </a:pPr>
            <a:r>
              <a:rPr sz="2100" b="0">
                <a:solidFill>
                  <a:srgbClr val="8A99AD"/>
                </a:solidFill>
                <a:latin typeface="Arial"/>
              </a:rPr>
              <a:t>AI Defence Lab for Payment Security</a:t>
            </a:r>
          </a:p>
        </p:txBody>
      </p:sp>
      <p:sp>
        <p:nvSpPr>
          <p:cNvPr id="7" name="TextBox 6"/>
          <p:cNvSpPr txBox="1"/>
          <p:nvPr/>
        </p:nvSpPr>
        <p:spPr>
          <a:xfrm>
            <a:off x="868680" y="3611880"/>
            <a:ext cx="10515600" cy="365760"/>
          </a:xfrm>
          <a:prstGeom prst="rect">
            <a:avLst/>
          </a:prstGeom>
          <a:noFill/>
        </p:spPr>
        <p:txBody>
          <a:bodyPr wrap="square" lIns="0" rIns="0" tIns="0" bIns="0" anchor="t">
            <a:spAutoFit/>
          </a:bodyPr>
          <a:lstStyle/>
          <a:p>
            <a:pPr algn="l">
              <a:lnSpc>
                <a:spcPct val="125000"/>
              </a:lnSpc>
              <a:spcAft>
                <a:spcPts val="600"/>
              </a:spcAft>
            </a:pPr>
            <a:r>
              <a:rPr sz="1700" b="1">
                <a:solidFill>
                  <a:srgbClr val="60A5FA"/>
                </a:solidFill>
                <a:latin typeface="Arial"/>
              </a:rPr>
              <a:t>identify</a:t>
            </a:r>
          </a:p>
        </p:txBody>
      </p:sp>
      <p:sp>
        <p:nvSpPr>
          <p:cNvPr id="8" name="TextBox 7"/>
          <p:cNvSpPr txBox="1"/>
          <p:nvPr/>
        </p:nvSpPr>
        <p:spPr>
          <a:xfrm>
            <a:off x="868680" y="3611880"/>
            <a:ext cx="10515600" cy="365760"/>
          </a:xfrm>
          <a:prstGeom prst="rect">
            <a:avLst/>
          </a:prstGeom>
          <a:noFill/>
        </p:spPr>
        <p:txBody>
          <a:bodyPr wrap="square" lIns="0" rIns="0" tIns="0" bIns="0" anchor="t">
            <a:spAutoFit/>
          </a:bodyPr>
          <a:lstStyle/>
          <a:p>
            <a:pPr algn="l">
              <a:lnSpc>
                <a:spcPct val="125000"/>
              </a:lnSpc>
              <a:spcAft>
                <a:spcPts val="600"/>
              </a:spcAft>
            </a:pPr>
            <a:r>
              <a:rPr sz="1700" b="1">
                <a:solidFill>
                  <a:srgbClr val="A78BFA"/>
                </a:solidFill>
                <a:latin typeface="Arial"/>
              </a:rPr>
              <a:t>identify  →  generate  →  defend</a:t>
            </a:r>
          </a:p>
        </p:txBody>
      </p:sp>
      <p:sp>
        <p:nvSpPr>
          <p:cNvPr id="9" name="Rounded Rectangle 8"/>
          <p:cNvSpPr/>
          <p:nvPr/>
        </p:nvSpPr>
        <p:spPr>
          <a:xfrm>
            <a:off x="868680" y="4434840"/>
            <a:ext cx="5120640" cy="45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4709160"/>
            <a:ext cx="10515600" cy="914400"/>
          </a:xfrm>
          <a:prstGeom prst="rect">
            <a:avLst/>
          </a:prstGeom>
          <a:noFill/>
        </p:spPr>
        <p:txBody>
          <a:bodyPr wrap="square" lIns="0" rIns="0" tIns="0" bIns="0" anchor="t">
            <a:spAutoFit/>
          </a:bodyPr>
          <a:lstStyle/>
          <a:p>
            <a:pPr algn="l">
              <a:lnSpc>
                <a:spcPct val="125000"/>
              </a:lnSpc>
              <a:spcAft>
                <a:spcPts val="600"/>
              </a:spcAft>
            </a:pPr>
            <a:r>
              <a:rPr sz="1400" b="0">
                <a:solidFill>
                  <a:srgbClr val="8A99AD"/>
                </a:solidFill>
                <a:latin typeface="Arial"/>
              </a:rPr>
              <a:t>A closed-loop red-team / blue-team system: the attacks it invents train the defence, and the defence's blind spots decide the next attack.</a:t>
            </a:r>
          </a:p>
          <a:p>
            <a:pPr algn="l">
              <a:lnSpc>
                <a:spcPct val="125000"/>
              </a:lnSpc>
              <a:spcAft>
                <a:spcPts val="0"/>
              </a:spcAft>
            </a:pPr>
            <a:r>
              <a:rPr sz="1300" b="1">
                <a:solidFill>
                  <a:srgbClr val="E6EDF7"/>
                </a:solidFill>
                <a:latin typeface="Arial"/>
              </a:rPr>
              <a:t>25 GenAI-era attack vectors  ·  PR-AUC 0.944  ·  p99 19 ms inline  ·  zero-day recall 0.718</a:t>
            </a:r>
          </a:p>
        </p:txBody>
      </p:sp>
      <p:sp>
        <p:nvSpPr>
          <p:cNvPr id="11" name="TextBox 10"/>
          <p:cNvSpPr txBox="1"/>
          <p:nvPr/>
        </p:nvSpPr>
        <p:spPr>
          <a:xfrm>
            <a:off x="868680" y="6035040"/>
            <a:ext cx="10515600" cy="274320"/>
          </a:xfrm>
          <a:prstGeom prst="rect">
            <a:avLst/>
          </a:prstGeom>
          <a:noFill/>
        </p:spPr>
        <p:txBody>
          <a:bodyPr wrap="square" lIns="0" rIns="0" tIns="0" bIns="0" anchor="t">
            <a:spAutoFit/>
          </a:bodyPr>
          <a:lstStyle/>
          <a:p>
            <a:pPr algn="l">
              <a:lnSpc>
                <a:spcPct val="125000"/>
              </a:lnSpc>
              <a:spcAft>
                <a:spcPts val="600"/>
              </a:spcAft>
            </a:pPr>
            <a:r>
              <a:rPr sz="1000" b="0">
                <a:solidFill>
                  <a:srgbClr val="5A687A"/>
                </a:solidFill>
                <a:latin typeface="Arial"/>
              </a:rPr>
              <a:t>100% synthetic data  ·  simulator network-isolated by construction  ·  all metrics reproduced by evaluate.py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228600"/>
          </a:xfrm>
          <a:prstGeom prst="rect">
            <a:avLst/>
          </a:prstGeom>
          <a:noFill/>
        </p:spPr>
        <p:txBody>
          <a:bodyPr wrap="square" lIns="0" rIns="0" tIns="0" bIns="0" anchor="t">
            <a:spAutoFit/>
          </a:bodyPr>
          <a:lstStyle/>
          <a:p>
            <a:pPr algn="l">
              <a:lnSpc>
                <a:spcPct val="125000"/>
              </a:lnSpc>
              <a:spcAft>
                <a:spcPts val="600"/>
              </a:spcAft>
            </a:pPr>
            <a:r>
              <a:rPr sz="1050" b="1">
                <a:solidFill>
                  <a:srgbClr val="60A5FA"/>
                </a:solidFill>
                <a:latin typeface="Arial"/>
              </a:rPr>
              <a:t>THE GAP</a:t>
            </a:r>
          </a:p>
        </p:txBody>
      </p:sp>
      <p:sp>
        <p:nvSpPr>
          <p:cNvPr id="3" name="TextBox 2"/>
          <p:cNvSpPr txBox="1"/>
          <p:nvPr/>
        </p:nvSpPr>
        <p:spPr>
          <a:xfrm>
            <a:off x="640080" y="768096"/>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Fraud is now cheap to invent. Defences still learn from last year's fraud.</a:t>
            </a:r>
          </a:p>
        </p:txBody>
      </p:sp>
      <p:sp>
        <p:nvSpPr>
          <p:cNvPr id="4" name="TextBox 3"/>
          <p:cNvSpPr txBox="1"/>
          <p:nvPr/>
        </p:nvSpPr>
        <p:spPr>
          <a:xfrm>
            <a:off x="640080" y="1335024"/>
            <a:ext cx="10607040" cy="365760"/>
          </a:xfrm>
          <a:prstGeom prst="rect">
            <a:avLst/>
          </a:prstGeom>
          <a:noFill/>
        </p:spPr>
        <p:txBody>
          <a:bodyPr wrap="square" lIns="0" rIns="0" tIns="0" bIns="0" anchor="t">
            <a:spAutoFit/>
          </a:bodyPr>
          <a:lstStyle/>
          <a:p>
            <a:pPr algn="l">
              <a:lnSpc>
                <a:spcPct val="130000"/>
              </a:lnSpc>
              <a:spcAft>
                <a:spcPts val="600"/>
              </a:spcAft>
            </a:pPr>
            <a:r>
              <a:rPr sz="1350" b="0">
                <a:solidFill>
                  <a:srgbClr val="8A99AD"/>
                </a:solidFill>
                <a:latin typeface="Arial"/>
              </a:rPr>
              <a:t>Generative AI collapsed the cost of designing a novel attack. Supervised fraud models need labelled examples of an attack before they can catch it — and chargeback labels arrive weeks late.</a:t>
            </a:r>
          </a:p>
        </p:txBody>
      </p:sp>
      <p:sp>
        <p:nvSpPr>
          <p:cNvPr id="5" name="TextBox 4"/>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sp>
        <p:nvSpPr>
          <p:cNvPr id="6" name="Rounded Rectangle 5"/>
          <p:cNvSpPr/>
          <p:nvPr/>
        </p:nvSpPr>
        <p:spPr>
          <a:xfrm>
            <a:off x="640080" y="1901952"/>
            <a:ext cx="5257800" cy="251460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2139696"/>
            <a:ext cx="4754880" cy="274320"/>
          </a:xfrm>
          <a:prstGeom prst="rect">
            <a:avLst/>
          </a:prstGeom>
          <a:noFill/>
        </p:spPr>
        <p:txBody>
          <a:bodyPr wrap="square" lIns="0" rIns="0" tIns="0" bIns="0" anchor="t">
            <a:spAutoFit/>
          </a:bodyPr>
          <a:lstStyle/>
          <a:p>
            <a:pPr algn="l">
              <a:lnSpc>
                <a:spcPct val="125000"/>
              </a:lnSpc>
              <a:spcAft>
                <a:spcPts val="600"/>
              </a:spcAft>
            </a:pPr>
            <a:r>
              <a:rPr sz="1500" b="1">
                <a:solidFill>
                  <a:srgbClr val="F1554F"/>
                </a:solidFill>
                <a:latin typeface="Arial"/>
              </a:rPr>
              <a:t>Attacker's new economics</a:t>
            </a:r>
          </a:p>
        </p:txBody>
      </p:sp>
      <p:sp>
        <p:nvSpPr>
          <p:cNvPr id="8" name="TextBox 7"/>
          <p:cNvSpPr txBox="1"/>
          <p:nvPr/>
        </p:nvSpPr>
        <p:spPr>
          <a:xfrm>
            <a:off x="914400" y="2560320"/>
            <a:ext cx="4754880" cy="1463040"/>
          </a:xfrm>
          <a:prstGeom prst="rect">
            <a:avLst/>
          </a:prstGeom>
          <a:noFill/>
        </p:spPr>
        <p:txBody>
          <a:bodyPr wrap="square" lIns="0" rIns="0" tIns="0" bIns="0" anchor="t">
            <a:spAutoFit/>
          </a:bodyPr>
          <a:lstStyle/>
          <a:p>
            <a:pPr algn="l">
              <a:lnSpc>
                <a:spcPct val="130000"/>
              </a:lnSpc>
              <a:spcAft>
                <a:spcPts val="1100"/>
              </a:spcAft>
            </a:pPr>
            <a:r>
              <a:rPr sz="1200" b="0">
                <a:solidFill>
                  <a:srgbClr val="8A99AD"/>
                </a:solidFill>
                <a:latin typeface="Arial"/>
              </a:rPr>
              <a:t>•   Tailored social-engineering at scale — thousands of parallel conversations</a:t>
            </a:r>
          </a:p>
          <a:p>
            <a:pPr algn="l">
              <a:lnSpc>
                <a:spcPct val="130000"/>
              </a:lnSpc>
              <a:spcAft>
                <a:spcPts val="1100"/>
              </a:spcAft>
            </a:pPr>
            <a:r>
              <a:rPr sz="1200" b="0">
                <a:solidFill>
                  <a:srgbClr val="8A99AD"/>
                </a:solidFill>
                <a:latin typeface="Arial"/>
              </a:rPr>
              <a:t>•   Synthetic identities and generated KYC documents that pass review</a:t>
            </a:r>
          </a:p>
          <a:p>
            <a:pPr algn="l">
              <a:lnSpc>
                <a:spcPct val="130000"/>
              </a:lnSpc>
              <a:spcAft>
                <a:spcPts val="1100"/>
              </a:spcAft>
            </a:pPr>
            <a:r>
              <a:rPr sz="1200" b="0">
                <a:solidFill>
                  <a:srgbClr val="8A99AD"/>
                </a:solidFill>
                <a:latin typeface="Arial"/>
              </a:rPr>
              <a:t>•   Autonomous agents transacting on a cardholder's behalf</a:t>
            </a:r>
          </a:p>
          <a:p>
            <a:pPr algn="l">
              <a:lnSpc>
                <a:spcPct val="130000"/>
              </a:lnSpc>
              <a:spcAft>
                <a:spcPts val="1100"/>
              </a:spcAft>
            </a:pPr>
            <a:r>
              <a:rPr sz="1200" b="0">
                <a:solidFill>
                  <a:srgbClr val="8A99AD"/>
                </a:solidFill>
                <a:latin typeface="Arial"/>
              </a:rPr>
              <a:t>•   Cheap iteration: probe, observe the decline, adapt</a:t>
            </a:r>
          </a:p>
        </p:txBody>
      </p:sp>
      <p:sp>
        <p:nvSpPr>
          <p:cNvPr id="9" name="Rounded Rectangle 8"/>
          <p:cNvSpPr/>
          <p:nvPr/>
        </p:nvSpPr>
        <p:spPr>
          <a:xfrm>
            <a:off x="6217920" y="1901952"/>
            <a:ext cx="5257800" cy="251460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2240" y="2139696"/>
            <a:ext cx="4754880" cy="274320"/>
          </a:xfrm>
          <a:prstGeom prst="rect">
            <a:avLst/>
          </a:prstGeom>
          <a:noFill/>
        </p:spPr>
        <p:txBody>
          <a:bodyPr wrap="square" lIns="0" rIns="0" tIns="0" bIns="0" anchor="t">
            <a:spAutoFit/>
          </a:bodyPr>
          <a:lstStyle/>
          <a:p>
            <a:pPr algn="l">
              <a:lnSpc>
                <a:spcPct val="125000"/>
              </a:lnSpc>
              <a:spcAft>
                <a:spcPts val="600"/>
              </a:spcAft>
            </a:pPr>
            <a:r>
              <a:rPr sz="1500" b="1">
                <a:solidFill>
                  <a:srgbClr val="F59E0B"/>
                </a:solidFill>
                <a:latin typeface="Arial"/>
              </a:rPr>
              <a:t>Defender's structural lag</a:t>
            </a:r>
          </a:p>
        </p:txBody>
      </p:sp>
      <p:sp>
        <p:nvSpPr>
          <p:cNvPr id="11" name="TextBox 10"/>
          <p:cNvSpPr txBox="1"/>
          <p:nvPr/>
        </p:nvSpPr>
        <p:spPr>
          <a:xfrm>
            <a:off x="6492240" y="2560320"/>
            <a:ext cx="4754880" cy="1463040"/>
          </a:xfrm>
          <a:prstGeom prst="rect">
            <a:avLst/>
          </a:prstGeom>
          <a:noFill/>
        </p:spPr>
        <p:txBody>
          <a:bodyPr wrap="square" lIns="0" rIns="0" tIns="0" bIns="0" anchor="t">
            <a:spAutoFit/>
          </a:bodyPr>
          <a:lstStyle/>
          <a:p>
            <a:pPr algn="l">
              <a:lnSpc>
                <a:spcPct val="130000"/>
              </a:lnSpc>
              <a:spcAft>
                <a:spcPts val="1100"/>
              </a:spcAft>
            </a:pPr>
            <a:r>
              <a:rPr sz="1200" b="0">
                <a:solidFill>
                  <a:srgbClr val="8A99AD"/>
                </a:solidFill>
                <a:latin typeface="Arial"/>
              </a:rPr>
              <a:t>•   Needs labels; labels need disputes; disputes take weeks</a:t>
            </a:r>
          </a:p>
          <a:p>
            <a:pPr algn="l">
              <a:lnSpc>
                <a:spcPct val="130000"/>
              </a:lnSpc>
              <a:spcAft>
                <a:spcPts val="1100"/>
              </a:spcAft>
            </a:pPr>
            <a:r>
              <a:rPr sz="1200" b="0">
                <a:solidFill>
                  <a:srgbClr val="8A99AD"/>
                </a:solidFill>
                <a:latin typeface="Arial"/>
              </a:rPr>
              <a:t>•   Trained on the fraud that already happened</a:t>
            </a:r>
          </a:p>
          <a:p>
            <a:pPr algn="l">
              <a:lnSpc>
                <a:spcPct val="130000"/>
              </a:lnSpc>
              <a:spcAft>
                <a:spcPts val="1100"/>
              </a:spcAft>
            </a:pPr>
            <a:r>
              <a:rPr sz="1200" b="0">
                <a:solidFill>
                  <a:srgbClr val="8A99AD"/>
                </a:solidFill>
                <a:latin typeface="Arial"/>
              </a:rPr>
              <a:t>•   Novel typologies are out-of-distribution by definition</a:t>
            </a:r>
          </a:p>
          <a:p>
            <a:pPr algn="l">
              <a:lnSpc>
                <a:spcPct val="130000"/>
              </a:lnSpc>
              <a:spcAft>
                <a:spcPts val="1100"/>
              </a:spcAft>
            </a:pPr>
            <a:r>
              <a:rPr sz="1200" b="0">
                <a:solidFill>
                  <a:srgbClr val="8A99AD"/>
                </a:solidFill>
                <a:latin typeface="Arial"/>
              </a:rPr>
              <a:t>•   Red-teaming is manual, occasional and unmeasured</a:t>
            </a:r>
          </a:p>
        </p:txBody>
      </p:sp>
      <p:sp>
        <p:nvSpPr>
          <p:cNvPr id="12" name="Rounded Rectangle 11"/>
          <p:cNvSpPr/>
          <p:nvPr/>
        </p:nvSpPr>
        <p:spPr>
          <a:xfrm>
            <a:off x="640080" y="5257800"/>
            <a:ext cx="10881360" cy="777240"/>
          </a:xfrm>
          <a:prstGeom prst="roundRect">
            <a:avLst>
              <a:gd name="adj" fmla="val 4000"/>
            </a:avLst>
          </a:prstGeom>
          <a:solidFill>
            <a:srgbClr val="0C1428"/>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5440680"/>
            <a:ext cx="10332720" cy="457200"/>
          </a:xfrm>
          <a:prstGeom prst="rect">
            <a:avLst/>
          </a:prstGeom>
          <a:noFill/>
        </p:spPr>
        <p:txBody>
          <a:bodyPr wrap="square" lIns="0" rIns="0" tIns="0" bIns="0" anchor="t">
            <a:spAutoFit/>
          </a:bodyPr>
          <a:lstStyle/>
          <a:p>
            <a:pPr algn="l">
              <a:lnSpc>
                <a:spcPct val="125000"/>
              </a:lnSpc>
              <a:spcAft>
                <a:spcPts val="600"/>
              </a:spcAft>
            </a:pPr>
            <a:r>
              <a:rPr sz="1450" b="1">
                <a:solidFill>
                  <a:srgbClr val="E6EDF7"/>
                </a:solidFill>
                <a:latin typeface="Arial"/>
              </a:rPr>
              <a:t>So generate the attacks first. If the defence is only ever as good as the fraud it has seen, then manufacture the fraud it hasn't seen — under constraints that keep it real.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228600"/>
          </a:xfrm>
          <a:prstGeom prst="rect">
            <a:avLst/>
          </a:prstGeom>
          <a:noFill/>
        </p:spPr>
        <p:txBody>
          <a:bodyPr wrap="square" lIns="0" rIns="0" tIns="0" bIns="0" anchor="t">
            <a:spAutoFit/>
          </a:bodyPr>
          <a:lstStyle/>
          <a:p>
            <a:pPr algn="l">
              <a:lnSpc>
                <a:spcPct val="125000"/>
              </a:lnSpc>
              <a:spcAft>
                <a:spcPts val="600"/>
              </a:spcAft>
            </a:pPr>
            <a:r>
              <a:rPr sz="1050" b="1">
                <a:solidFill>
                  <a:srgbClr val="60A5FA"/>
                </a:solidFill>
                <a:latin typeface="Arial"/>
              </a:rPr>
              <a:t>ARCHITECTURE</a:t>
            </a:r>
          </a:p>
        </p:txBody>
      </p:sp>
      <p:sp>
        <p:nvSpPr>
          <p:cNvPr id="3" name="TextBox 2"/>
          <p:cNvSpPr txBox="1"/>
          <p:nvPr/>
        </p:nvSpPr>
        <p:spPr>
          <a:xfrm>
            <a:off x="640080" y="768096"/>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Red team and blue team, wired into one loop</a:t>
            </a:r>
          </a:p>
        </p:txBody>
      </p:sp>
      <p:sp>
        <p:nvSpPr>
          <p:cNvPr id="4" name="TextBox 3"/>
          <p:cNvSpPr txBox="1"/>
          <p:nvPr/>
        </p:nvSpPr>
        <p:spPr>
          <a:xfrm>
            <a:off x="640080" y="1335024"/>
            <a:ext cx="10607040" cy="365760"/>
          </a:xfrm>
          <a:prstGeom prst="rect">
            <a:avLst/>
          </a:prstGeom>
          <a:noFill/>
        </p:spPr>
        <p:txBody>
          <a:bodyPr wrap="square" lIns="0" rIns="0" tIns="0" bIns="0" anchor="t">
            <a:spAutoFit/>
          </a:bodyPr>
          <a:lstStyle/>
          <a:p>
            <a:pPr algn="l">
              <a:lnSpc>
                <a:spcPct val="130000"/>
              </a:lnSpc>
              <a:spcAft>
                <a:spcPts val="600"/>
              </a:spcAft>
            </a:pPr>
            <a:r>
              <a:rPr sz="1350" b="0">
                <a:solidFill>
                  <a:srgbClr val="8A99AD"/>
                </a:solidFill>
                <a:latin typeface="Arial"/>
              </a:rPr>
              <a:t>Attacks carry declared ground truth, so detection is graded per-signal — we know whether a catch was for the right reason or luck.</a:t>
            </a:r>
          </a:p>
        </p:txBody>
      </p:sp>
      <p:sp>
        <p:nvSpPr>
          <p:cNvPr id="5" name="TextBox 4"/>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sp>
        <p:nvSpPr>
          <p:cNvPr id="6" name="Rounded Rectangle 5"/>
          <p:cNvSpPr/>
          <p:nvPr/>
        </p:nvSpPr>
        <p:spPr>
          <a:xfrm>
            <a:off x="658368" y="1901952"/>
            <a:ext cx="3246120" cy="228600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58368" y="1901952"/>
            <a:ext cx="3246120" cy="68580"/>
          </a:xfrm>
          <a:prstGeom prst="roundRect">
            <a:avLst>
              <a:gd name="adj" fmla="val 4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2176272"/>
            <a:ext cx="2788920" cy="274320"/>
          </a:xfrm>
          <a:prstGeom prst="rect">
            <a:avLst/>
          </a:prstGeom>
          <a:noFill/>
        </p:spPr>
        <p:txBody>
          <a:bodyPr wrap="square" lIns="0" rIns="0" tIns="0" bIns="0" anchor="t">
            <a:spAutoFit/>
          </a:bodyPr>
          <a:lstStyle/>
          <a:p>
            <a:pPr algn="l">
              <a:lnSpc>
                <a:spcPct val="125000"/>
              </a:lnSpc>
              <a:spcAft>
                <a:spcPts val="600"/>
              </a:spcAft>
            </a:pPr>
            <a:r>
              <a:rPr sz="1300" b="1">
                <a:solidFill>
                  <a:srgbClr val="60A5FA"/>
                </a:solidFill>
                <a:latin typeface="Arial"/>
              </a:rPr>
              <a:t>IDENTIFY</a:t>
            </a:r>
          </a:p>
        </p:txBody>
      </p:sp>
      <p:sp>
        <p:nvSpPr>
          <p:cNvPr id="9" name="TextBox 8"/>
          <p:cNvSpPr txBox="1"/>
          <p:nvPr/>
        </p:nvSpPr>
        <p:spPr>
          <a:xfrm>
            <a:off x="914400" y="2468880"/>
            <a:ext cx="2788920" cy="274320"/>
          </a:xfrm>
          <a:prstGeom prst="rect">
            <a:avLst/>
          </a:prstGeom>
          <a:noFill/>
        </p:spPr>
        <p:txBody>
          <a:bodyPr wrap="square" lIns="0" rIns="0" tIns="0" bIns="0" anchor="t">
            <a:spAutoFit/>
          </a:bodyPr>
          <a:lstStyle/>
          <a:p>
            <a:pPr algn="l">
              <a:lnSpc>
                <a:spcPct val="125000"/>
              </a:lnSpc>
              <a:spcAft>
                <a:spcPts val="600"/>
              </a:spcAft>
            </a:pPr>
            <a:r>
              <a:rPr sz="1500" b="1">
                <a:solidFill>
                  <a:srgbClr val="E6EDF7"/>
                </a:solidFill>
                <a:latin typeface="Arial"/>
              </a:rPr>
              <a:t>Threat surface</a:t>
            </a:r>
          </a:p>
        </p:txBody>
      </p:sp>
      <p:sp>
        <p:nvSpPr>
          <p:cNvPr id="10" name="TextBox 9"/>
          <p:cNvSpPr txBox="1"/>
          <p:nvPr/>
        </p:nvSpPr>
        <p:spPr>
          <a:xfrm>
            <a:off x="914400" y="2862072"/>
            <a:ext cx="2788920" cy="1097280"/>
          </a:xfrm>
          <a:prstGeom prst="rect">
            <a:avLst/>
          </a:prstGeom>
          <a:noFill/>
        </p:spPr>
        <p:txBody>
          <a:bodyPr wrap="square" lIns="0" rIns="0" tIns="0" bIns="0" anchor="t">
            <a:spAutoFit/>
          </a:bodyPr>
          <a:lstStyle/>
          <a:p>
            <a:pPr algn="l">
              <a:lnSpc>
                <a:spcPct val="130000"/>
              </a:lnSpc>
              <a:spcAft>
                <a:spcPts val="300"/>
              </a:spcAft>
            </a:pPr>
            <a:r>
              <a:rPr sz="1150" b="0">
                <a:solidFill>
                  <a:srgbClr val="8A99AD"/>
                </a:solidFill>
                <a:latin typeface="Arial"/>
              </a:rPr>
              <a:t>25 vectors · 10 categories</a:t>
            </a:r>
          </a:p>
          <a:p>
            <a:pPr algn="l">
              <a:lnSpc>
                <a:spcPct val="130000"/>
              </a:lnSpc>
              <a:spcAft>
                <a:spcPts val="300"/>
              </a:spcAft>
            </a:pPr>
            <a:r>
              <a:rPr sz="1150" b="0">
                <a:solidFill>
                  <a:srgbClr val="8A99AD"/>
                </a:solidFill>
                <a:latin typeface="Arial"/>
              </a:rPr>
              <a:t>Each mapped to MITRE ATLAS</a:t>
            </a:r>
          </a:p>
          <a:p>
            <a:pPr algn="l">
              <a:lnSpc>
                <a:spcPct val="130000"/>
              </a:lnSpc>
              <a:spcAft>
                <a:spcPts val="300"/>
              </a:spcAft>
            </a:pPr>
            <a:r>
              <a:rPr sz="1150" b="0">
                <a:solidFill>
                  <a:srgbClr val="8A99AD"/>
                </a:solidFill>
                <a:latin typeface="Arial"/>
              </a:rPr>
              <a:t>Names the role GenAI plays</a:t>
            </a:r>
          </a:p>
        </p:txBody>
      </p:sp>
      <p:sp>
        <p:nvSpPr>
          <p:cNvPr id="11" name="Right Arrow 10"/>
          <p:cNvSpPr/>
          <p:nvPr/>
        </p:nvSpPr>
        <p:spPr>
          <a:xfrm>
            <a:off x="4023360" y="2862072"/>
            <a:ext cx="329184" cy="219456"/>
          </a:xfrm>
          <a:prstGeom prst="rightArrow">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71416" y="1901952"/>
            <a:ext cx="3246120" cy="228600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471416" y="1901952"/>
            <a:ext cx="3246120" cy="68580"/>
          </a:xfrm>
          <a:prstGeom prst="roundRect">
            <a:avLst>
              <a:gd name="adj" fmla="val 4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27448" y="2176272"/>
            <a:ext cx="2788920" cy="274320"/>
          </a:xfrm>
          <a:prstGeom prst="rect">
            <a:avLst/>
          </a:prstGeom>
          <a:noFill/>
        </p:spPr>
        <p:txBody>
          <a:bodyPr wrap="square" lIns="0" rIns="0" tIns="0" bIns="0" anchor="t">
            <a:spAutoFit/>
          </a:bodyPr>
          <a:lstStyle/>
          <a:p>
            <a:pPr algn="l">
              <a:lnSpc>
                <a:spcPct val="125000"/>
              </a:lnSpc>
              <a:spcAft>
                <a:spcPts val="600"/>
              </a:spcAft>
            </a:pPr>
            <a:r>
              <a:rPr sz="1300" b="1">
                <a:solidFill>
                  <a:srgbClr val="F59E0B"/>
                </a:solidFill>
                <a:latin typeface="Arial"/>
              </a:rPr>
              <a:t>GENERATE</a:t>
            </a:r>
          </a:p>
        </p:txBody>
      </p:sp>
      <p:sp>
        <p:nvSpPr>
          <p:cNvPr id="15" name="TextBox 14"/>
          <p:cNvSpPr txBox="1"/>
          <p:nvPr/>
        </p:nvSpPr>
        <p:spPr>
          <a:xfrm>
            <a:off x="4727448" y="2468880"/>
            <a:ext cx="2788920" cy="274320"/>
          </a:xfrm>
          <a:prstGeom prst="rect">
            <a:avLst/>
          </a:prstGeom>
          <a:noFill/>
        </p:spPr>
        <p:txBody>
          <a:bodyPr wrap="square" lIns="0" rIns="0" tIns="0" bIns="0" anchor="t">
            <a:spAutoFit/>
          </a:bodyPr>
          <a:lstStyle/>
          <a:p>
            <a:pPr algn="l">
              <a:lnSpc>
                <a:spcPct val="125000"/>
              </a:lnSpc>
              <a:spcAft>
                <a:spcPts val="600"/>
              </a:spcAft>
            </a:pPr>
            <a:r>
              <a:rPr sz="1500" b="1">
                <a:solidFill>
                  <a:srgbClr val="E6EDF7"/>
                </a:solidFill>
                <a:latin typeface="Arial"/>
              </a:rPr>
              <a:t>Feasible-action agents</a:t>
            </a:r>
          </a:p>
        </p:txBody>
      </p:sp>
      <p:sp>
        <p:nvSpPr>
          <p:cNvPr id="16" name="TextBox 15"/>
          <p:cNvSpPr txBox="1"/>
          <p:nvPr/>
        </p:nvSpPr>
        <p:spPr>
          <a:xfrm>
            <a:off x="4727448" y="2862072"/>
            <a:ext cx="2788920" cy="1097280"/>
          </a:xfrm>
          <a:prstGeom prst="rect">
            <a:avLst/>
          </a:prstGeom>
          <a:noFill/>
        </p:spPr>
        <p:txBody>
          <a:bodyPr wrap="square" lIns="0" rIns="0" tIns="0" bIns="0" anchor="t">
            <a:spAutoFit/>
          </a:bodyPr>
          <a:lstStyle/>
          <a:p>
            <a:pPr algn="l">
              <a:lnSpc>
                <a:spcPct val="130000"/>
              </a:lnSpc>
              <a:spcAft>
                <a:spcPts val="300"/>
              </a:spcAft>
            </a:pPr>
            <a:r>
              <a:rPr sz="1150" b="0">
                <a:solidFill>
                  <a:srgbClr val="8A99AD"/>
                </a:solidFill>
                <a:latin typeface="Arial"/>
              </a:rPr>
              <a:t>Only attacker-controlled levers:</a:t>
            </a:r>
          </a:p>
          <a:p>
            <a:pPr algn="l">
              <a:lnSpc>
                <a:spcPct val="130000"/>
              </a:lnSpc>
              <a:spcAft>
                <a:spcPts val="300"/>
              </a:spcAft>
            </a:pPr>
            <a:r>
              <a:rPr sz="1150" b="0">
                <a:solidFill>
                  <a:srgbClr val="8A99AD"/>
                </a:solidFill>
                <a:latin typeface="Arial"/>
              </a:rPr>
              <a:t>amount, timing, cadence,</a:t>
            </a:r>
          </a:p>
          <a:p>
            <a:pPr algn="l">
              <a:lnSpc>
                <a:spcPct val="130000"/>
              </a:lnSpc>
              <a:spcAft>
                <a:spcPts val="300"/>
              </a:spcAft>
            </a:pPr>
            <a:r>
              <a:rPr sz="1150" b="0">
                <a:solidFill>
                  <a:srgbClr val="8A99AD"/>
                </a:solidFill>
                <a:latin typeface="Arial"/>
              </a:rPr>
              <a:t>merchant, device, sequencing</a:t>
            </a:r>
          </a:p>
        </p:txBody>
      </p:sp>
      <p:sp>
        <p:nvSpPr>
          <p:cNvPr id="17" name="Right Arrow 16"/>
          <p:cNvSpPr/>
          <p:nvPr/>
        </p:nvSpPr>
        <p:spPr>
          <a:xfrm>
            <a:off x="7836408" y="2862072"/>
            <a:ext cx="329184" cy="219456"/>
          </a:xfrm>
          <a:prstGeom prst="rightArrow">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84464" y="1901952"/>
            <a:ext cx="3246120" cy="228600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284464" y="1901952"/>
            <a:ext cx="3246120" cy="68580"/>
          </a:xfrm>
          <a:prstGeom prst="roundRect">
            <a:avLst>
              <a:gd name="adj" fmla="val 4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540496" y="2176272"/>
            <a:ext cx="2788920" cy="274320"/>
          </a:xfrm>
          <a:prstGeom prst="rect">
            <a:avLst/>
          </a:prstGeom>
          <a:noFill/>
        </p:spPr>
        <p:txBody>
          <a:bodyPr wrap="square" lIns="0" rIns="0" tIns="0" bIns="0" anchor="t">
            <a:spAutoFit/>
          </a:bodyPr>
          <a:lstStyle/>
          <a:p>
            <a:pPr algn="l">
              <a:lnSpc>
                <a:spcPct val="125000"/>
              </a:lnSpc>
              <a:spcAft>
                <a:spcPts val="600"/>
              </a:spcAft>
            </a:pPr>
            <a:r>
              <a:rPr sz="1300" b="1">
                <a:solidFill>
                  <a:srgbClr val="34D399"/>
                </a:solidFill>
                <a:latin typeface="Arial"/>
              </a:rPr>
              <a:t>DEFEND</a:t>
            </a:r>
          </a:p>
        </p:txBody>
      </p:sp>
      <p:sp>
        <p:nvSpPr>
          <p:cNvPr id="21" name="TextBox 20"/>
          <p:cNvSpPr txBox="1"/>
          <p:nvPr/>
        </p:nvSpPr>
        <p:spPr>
          <a:xfrm>
            <a:off x="8540496" y="2468880"/>
            <a:ext cx="2788920" cy="274320"/>
          </a:xfrm>
          <a:prstGeom prst="rect">
            <a:avLst/>
          </a:prstGeom>
          <a:noFill/>
        </p:spPr>
        <p:txBody>
          <a:bodyPr wrap="square" lIns="0" rIns="0" tIns="0" bIns="0" anchor="t">
            <a:spAutoFit/>
          </a:bodyPr>
          <a:lstStyle/>
          <a:p>
            <a:pPr algn="l">
              <a:lnSpc>
                <a:spcPct val="125000"/>
              </a:lnSpc>
              <a:spcAft>
                <a:spcPts val="600"/>
              </a:spcAft>
            </a:pPr>
            <a:r>
              <a:rPr sz="1500" b="1">
                <a:solidFill>
                  <a:srgbClr val="E6EDF7"/>
                </a:solidFill>
                <a:latin typeface="Arial"/>
              </a:rPr>
              <a:t>Three-stage cascade</a:t>
            </a:r>
          </a:p>
        </p:txBody>
      </p:sp>
      <p:sp>
        <p:nvSpPr>
          <p:cNvPr id="22" name="TextBox 21"/>
          <p:cNvSpPr txBox="1"/>
          <p:nvPr/>
        </p:nvSpPr>
        <p:spPr>
          <a:xfrm>
            <a:off x="8540496" y="2862072"/>
            <a:ext cx="2788920" cy="1097280"/>
          </a:xfrm>
          <a:prstGeom prst="rect">
            <a:avLst/>
          </a:prstGeom>
          <a:noFill/>
        </p:spPr>
        <p:txBody>
          <a:bodyPr wrap="square" lIns="0" rIns="0" tIns="0" bIns="0" anchor="t">
            <a:spAutoFit/>
          </a:bodyPr>
          <a:lstStyle/>
          <a:p>
            <a:pPr algn="l">
              <a:lnSpc>
                <a:spcPct val="130000"/>
              </a:lnSpc>
              <a:spcAft>
                <a:spcPts val="300"/>
              </a:spcAft>
            </a:pPr>
            <a:r>
              <a:rPr sz="1150" b="0">
                <a:solidFill>
                  <a:srgbClr val="8A99AD"/>
                </a:solidFill>
                <a:latin typeface="Arial"/>
              </a:rPr>
              <a:t>39 rules → gradient boosting</a:t>
            </a:r>
          </a:p>
          <a:p>
            <a:pPr algn="l">
              <a:lnSpc>
                <a:spcPct val="130000"/>
              </a:lnSpc>
              <a:spcAft>
                <a:spcPts val="300"/>
              </a:spcAft>
            </a:pPr>
            <a:r>
              <a:rPr sz="1150" b="0">
                <a:solidFill>
                  <a:srgbClr val="8A99AD"/>
                </a:solidFill>
                <a:latin typeface="Arial"/>
              </a:rPr>
              <a:t>→ graph on riskiest 20%</a:t>
            </a:r>
          </a:p>
          <a:p>
            <a:pPr algn="l">
              <a:lnSpc>
                <a:spcPct val="130000"/>
              </a:lnSpc>
              <a:spcAft>
                <a:spcPts val="300"/>
              </a:spcAft>
            </a:pPr>
            <a:r>
              <a:rPr sz="1150" b="0">
                <a:solidFill>
                  <a:srgbClr val="8A99AD"/>
                </a:solidFill>
                <a:latin typeface="Arial"/>
              </a:rPr>
              <a:t>→ arbiter → isotonic calibration</a:t>
            </a:r>
          </a:p>
        </p:txBody>
      </p:sp>
      <p:sp>
        <p:nvSpPr>
          <p:cNvPr id="23" name="Rounded Rectangle 22"/>
          <p:cNvSpPr/>
          <p:nvPr/>
        </p:nvSpPr>
        <p:spPr>
          <a:xfrm>
            <a:off x="658368" y="3246120"/>
            <a:ext cx="10863072" cy="1371600"/>
          </a:xfrm>
          <a:prstGeom prst="roundRect">
            <a:avLst>
              <a:gd name="adj" fmla="val 4000"/>
            </a:avLst>
          </a:prstGeom>
          <a:solidFill>
            <a:srgbClr val="0C1428"/>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60120" y="3447288"/>
            <a:ext cx="10241280" cy="274320"/>
          </a:xfrm>
          <a:prstGeom prst="rect">
            <a:avLst/>
          </a:prstGeom>
          <a:noFill/>
        </p:spPr>
        <p:txBody>
          <a:bodyPr wrap="square" lIns="0" rIns="0" tIns="0" bIns="0" anchor="t">
            <a:spAutoFit/>
          </a:bodyPr>
          <a:lstStyle/>
          <a:p>
            <a:pPr algn="l">
              <a:lnSpc>
                <a:spcPct val="125000"/>
              </a:lnSpc>
              <a:spcAft>
                <a:spcPts val="600"/>
              </a:spcAft>
            </a:pPr>
            <a:r>
              <a:rPr sz="1400" b="1">
                <a:solidFill>
                  <a:srgbClr val="A78BFA"/>
                </a:solidFill>
                <a:latin typeface="Arial"/>
              </a:rPr>
              <a:t>The return path — what makes red and blue one loop, not a pipeline</a:t>
            </a:r>
          </a:p>
        </p:txBody>
      </p:sp>
      <p:sp>
        <p:nvSpPr>
          <p:cNvPr id="25" name="TextBox 24"/>
          <p:cNvSpPr txBox="1"/>
          <p:nvPr/>
        </p:nvSpPr>
        <p:spPr>
          <a:xfrm>
            <a:off x="960120" y="3813048"/>
            <a:ext cx="10241280" cy="640080"/>
          </a:xfrm>
          <a:prstGeom prst="rect">
            <a:avLst/>
          </a:prstGeom>
          <a:noFill/>
        </p:spPr>
        <p:txBody>
          <a:bodyPr wrap="square" lIns="0" rIns="0" tIns="0" bIns="0" anchor="t">
            <a:spAutoFit/>
          </a:bodyPr>
          <a:lstStyle/>
          <a:p>
            <a:pPr algn="l">
              <a:lnSpc>
                <a:spcPct val="135000"/>
              </a:lnSpc>
              <a:spcAft>
                <a:spcPts val="600"/>
              </a:spcAft>
            </a:pPr>
            <a:r>
              <a:rPr sz="1200" b="0">
                <a:solidFill>
                  <a:srgbClr val="8A99AD"/>
                </a:solidFill>
                <a:latin typeface="Arial"/>
              </a:rPr>
              <a:t>Each attack declares the signals it should trip. Detection is scored against that declaration, so a miss is attributable: 39 of 39 declared signals are implemented, and the 8 that aren't are named with the reason (they need dispute-lifecycle or session telemetry that an authorization message does not carry). Uncaught signals are the backlog for the next generation of attacks.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228600"/>
          </a:xfrm>
          <a:prstGeom prst="rect">
            <a:avLst/>
          </a:prstGeom>
          <a:noFill/>
        </p:spPr>
        <p:txBody>
          <a:bodyPr wrap="square" lIns="0" rIns="0" tIns="0" bIns="0" anchor="t">
            <a:spAutoFit/>
          </a:bodyPr>
          <a:lstStyle/>
          <a:p>
            <a:pPr algn="l">
              <a:lnSpc>
                <a:spcPct val="125000"/>
              </a:lnSpc>
              <a:spcAft>
                <a:spcPts val="600"/>
              </a:spcAft>
            </a:pPr>
            <a:r>
              <a:rPr sz="1050" b="1">
                <a:solidFill>
                  <a:srgbClr val="60A5FA"/>
                </a:solidFill>
                <a:latin typeface="Arial"/>
              </a:rPr>
              <a:t>JUDGED ON: ATTACK DIVERSITY</a:t>
            </a:r>
          </a:p>
        </p:txBody>
      </p:sp>
      <p:sp>
        <p:nvSpPr>
          <p:cNvPr id="3" name="TextBox 2"/>
          <p:cNvSpPr txBox="1"/>
          <p:nvPr/>
        </p:nvSpPr>
        <p:spPr>
          <a:xfrm>
            <a:off x="640080" y="768096"/>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25 vectors across 10 categories</a:t>
            </a:r>
          </a:p>
        </p:txBody>
      </p:sp>
      <p:sp>
        <p:nvSpPr>
          <p:cNvPr id="4" name="TextBox 3"/>
          <p:cNvSpPr txBox="1"/>
          <p:nvPr/>
        </p:nvSpPr>
        <p:spPr>
          <a:xfrm>
            <a:off x="640080" y="1335024"/>
            <a:ext cx="10607040" cy="365760"/>
          </a:xfrm>
          <a:prstGeom prst="rect">
            <a:avLst/>
          </a:prstGeom>
          <a:noFill/>
        </p:spPr>
        <p:txBody>
          <a:bodyPr wrap="square" lIns="0" rIns="0" tIns="0" bIns="0" anchor="t">
            <a:spAutoFit/>
          </a:bodyPr>
          <a:lstStyle/>
          <a:p>
            <a:pPr algn="l">
              <a:lnSpc>
                <a:spcPct val="130000"/>
              </a:lnSpc>
              <a:spcAft>
                <a:spcPts val="600"/>
              </a:spcAft>
            </a:pPr>
            <a:r>
              <a:rPr sz="1350" b="0">
                <a:solidFill>
                  <a:srgbClr val="8A99AD"/>
                </a:solidFill>
                <a:latin typeface="Arial"/>
              </a:rPr>
              <a:t>Breadth chosen to span the GenAI-era threat surface, not to inflate a count. Twelve vectors are deliberately built to overlap legitimate behaviour.</a:t>
            </a:r>
          </a:p>
        </p:txBody>
      </p:sp>
      <p:sp>
        <p:nvSpPr>
          <p:cNvPr id="5" name="TextBox 4"/>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sp>
        <p:nvSpPr>
          <p:cNvPr id="6" name="Rounded Rectangle 5"/>
          <p:cNvSpPr/>
          <p:nvPr/>
        </p:nvSpPr>
        <p:spPr>
          <a:xfrm>
            <a:off x="640080" y="1901952"/>
            <a:ext cx="5257800" cy="47548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59536" y="2011680"/>
            <a:ext cx="2103120" cy="274320"/>
          </a:xfrm>
          <a:prstGeom prst="rect">
            <a:avLst/>
          </a:prstGeom>
          <a:noFill/>
        </p:spPr>
        <p:txBody>
          <a:bodyPr wrap="square" lIns="0" rIns="0" tIns="0" bIns="0" anchor="t">
            <a:spAutoFit/>
          </a:bodyPr>
          <a:lstStyle/>
          <a:p>
            <a:pPr algn="l">
              <a:lnSpc>
                <a:spcPct val="125000"/>
              </a:lnSpc>
              <a:spcAft>
                <a:spcPts val="600"/>
              </a:spcAft>
            </a:pPr>
            <a:r>
              <a:rPr sz="1200" b="1">
                <a:solidFill>
                  <a:srgbClr val="E6EDF7"/>
                </a:solidFill>
                <a:latin typeface="Arial"/>
              </a:rPr>
              <a:t>Synthetic identity</a:t>
            </a:r>
          </a:p>
        </p:txBody>
      </p:sp>
      <p:sp>
        <p:nvSpPr>
          <p:cNvPr id="8" name="TextBox 7"/>
          <p:cNvSpPr txBox="1"/>
          <p:nvPr/>
        </p:nvSpPr>
        <p:spPr>
          <a:xfrm>
            <a:off x="3035808" y="2029968"/>
            <a:ext cx="2743200" cy="2743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Generated documents, history building, bust-out</a:t>
            </a:r>
          </a:p>
        </p:txBody>
      </p:sp>
      <p:sp>
        <p:nvSpPr>
          <p:cNvPr id="9" name="Rounded Rectangle 8"/>
          <p:cNvSpPr/>
          <p:nvPr/>
        </p:nvSpPr>
        <p:spPr>
          <a:xfrm>
            <a:off x="6217920" y="1901952"/>
            <a:ext cx="5257800" cy="47548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37376" y="2011680"/>
            <a:ext cx="2103120" cy="274320"/>
          </a:xfrm>
          <a:prstGeom prst="rect">
            <a:avLst/>
          </a:prstGeom>
          <a:noFill/>
        </p:spPr>
        <p:txBody>
          <a:bodyPr wrap="square" lIns="0" rIns="0" tIns="0" bIns="0" anchor="t">
            <a:spAutoFit/>
          </a:bodyPr>
          <a:lstStyle/>
          <a:p>
            <a:pPr algn="l">
              <a:lnSpc>
                <a:spcPct val="125000"/>
              </a:lnSpc>
              <a:spcAft>
                <a:spcPts val="600"/>
              </a:spcAft>
            </a:pPr>
            <a:r>
              <a:rPr sz="1200" b="1">
                <a:solidFill>
                  <a:srgbClr val="E6EDF7"/>
                </a:solidFill>
                <a:latin typeface="Arial"/>
              </a:rPr>
              <a:t>Deepfake onboarding</a:t>
            </a:r>
          </a:p>
        </p:txBody>
      </p:sp>
      <p:sp>
        <p:nvSpPr>
          <p:cNvPr id="11" name="TextBox 10"/>
          <p:cNvSpPr txBox="1"/>
          <p:nvPr/>
        </p:nvSpPr>
        <p:spPr>
          <a:xfrm>
            <a:off x="8613648" y="2029968"/>
            <a:ext cx="2743200" cy="2743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Liveness and KYC defeat at account opening</a:t>
            </a:r>
          </a:p>
        </p:txBody>
      </p:sp>
      <p:sp>
        <p:nvSpPr>
          <p:cNvPr id="12" name="Rounded Rectangle 11"/>
          <p:cNvSpPr/>
          <p:nvPr/>
        </p:nvSpPr>
        <p:spPr>
          <a:xfrm>
            <a:off x="640080" y="2468880"/>
            <a:ext cx="5257800" cy="47548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59536" y="2578608"/>
            <a:ext cx="2103120" cy="274320"/>
          </a:xfrm>
          <a:prstGeom prst="rect">
            <a:avLst/>
          </a:prstGeom>
          <a:noFill/>
        </p:spPr>
        <p:txBody>
          <a:bodyPr wrap="square" lIns="0" rIns="0" tIns="0" bIns="0" anchor="t">
            <a:spAutoFit/>
          </a:bodyPr>
          <a:lstStyle/>
          <a:p>
            <a:pPr algn="l">
              <a:lnSpc>
                <a:spcPct val="125000"/>
              </a:lnSpc>
              <a:spcAft>
                <a:spcPts val="600"/>
              </a:spcAft>
            </a:pPr>
            <a:r>
              <a:rPr sz="1200" b="1">
                <a:solidFill>
                  <a:srgbClr val="E6EDF7"/>
                </a:solidFill>
                <a:latin typeface="Arial"/>
              </a:rPr>
              <a:t>Account takeover</a:t>
            </a:r>
          </a:p>
        </p:txBody>
      </p:sp>
      <p:sp>
        <p:nvSpPr>
          <p:cNvPr id="14" name="TextBox 13"/>
          <p:cNvSpPr txBox="1"/>
          <p:nvPr/>
        </p:nvSpPr>
        <p:spPr>
          <a:xfrm>
            <a:off x="3035808" y="2596896"/>
            <a:ext cx="2743200" cy="2743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Credential stuffing, SIM-swap OTP interception</a:t>
            </a:r>
          </a:p>
        </p:txBody>
      </p:sp>
      <p:sp>
        <p:nvSpPr>
          <p:cNvPr id="15" name="Rounded Rectangle 14"/>
          <p:cNvSpPr/>
          <p:nvPr/>
        </p:nvSpPr>
        <p:spPr>
          <a:xfrm>
            <a:off x="6217920" y="2468880"/>
            <a:ext cx="5257800" cy="47548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37376" y="2578608"/>
            <a:ext cx="2103120" cy="274320"/>
          </a:xfrm>
          <a:prstGeom prst="rect">
            <a:avLst/>
          </a:prstGeom>
          <a:noFill/>
        </p:spPr>
        <p:txBody>
          <a:bodyPr wrap="square" lIns="0" rIns="0" tIns="0" bIns="0" anchor="t">
            <a:spAutoFit/>
          </a:bodyPr>
          <a:lstStyle/>
          <a:p>
            <a:pPr algn="l">
              <a:lnSpc>
                <a:spcPct val="125000"/>
              </a:lnSpc>
              <a:spcAft>
                <a:spcPts val="600"/>
              </a:spcAft>
            </a:pPr>
            <a:r>
              <a:rPr sz="1200" b="1">
                <a:solidFill>
                  <a:srgbClr val="E6EDF7"/>
                </a:solidFill>
                <a:latin typeface="Arial"/>
              </a:rPr>
              <a:t>AI-driven scams</a:t>
            </a:r>
          </a:p>
        </p:txBody>
      </p:sp>
      <p:sp>
        <p:nvSpPr>
          <p:cNvPr id="17" name="TextBox 16"/>
          <p:cNvSpPr txBox="1"/>
          <p:nvPr/>
        </p:nvSpPr>
        <p:spPr>
          <a:xfrm>
            <a:off x="8613648" y="2596896"/>
            <a:ext cx="2743200" cy="2743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APP fraud, romance / pig-butchering</a:t>
            </a:r>
          </a:p>
        </p:txBody>
      </p:sp>
      <p:sp>
        <p:nvSpPr>
          <p:cNvPr id="18" name="Rounded Rectangle 17"/>
          <p:cNvSpPr/>
          <p:nvPr/>
        </p:nvSpPr>
        <p:spPr>
          <a:xfrm>
            <a:off x="640080" y="3035808"/>
            <a:ext cx="5257800" cy="47548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59536" y="3145536"/>
            <a:ext cx="2103120" cy="274320"/>
          </a:xfrm>
          <a:prstGeom prst="rect">
            <a:avLst/>
          </a:prstGeom>
          <a:noFill/>
        </p:spPr>
        <p:txBody>
          <a:bodyPr wrap="square" lIns="0" rIns="0" tIns="0" bIns="0" anchor="t">
            <a:spAutoFit/>
          </a:bodyPr>
          <a:lstStyle/>
          <a:p>
            <a:pPr algn="l">
              <a:lnSpc>
                <a:spcPct val="125000"/>
              </a:lnSpc>
              <a:spcAft>
                <a:spcPts val="600"/>
              </a:spcAft>
            </a:pPr>
            <a:r>
              <a:rPr sz="1200" b="1">
                <a:solidFill>
                  <a:srgbClr val="E6EDF7"/>
                </a:solidFill>
                <a:latin typeface="Arial"/>
              </a:rPr>
              <a:t>Agentic commerce</a:t>
            </a:r>
          </a:p>
        </p:txBody>
      </p:sp>
      <p:sp>
        <p:nvSpPr>
          <p:cNvPr id="20" name="TextBox 19"/>
          <p:cNvSpPr txBox="1"/>
          <p:nvPr/>
        </p:nvSpPr>
        <p:spPr>
          <a:xfrm>
            <a:off x="3035808" y="3163824"/>
            <a:ext cx="2743200" cy="2743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Agent impersonation, prompt injection</a:t>
            </a:r>
          </a:p>
        </p:txBody>
      </p:sp>
      <p:sp>
        <p:nvSpPr>
          <p:cNvPr id="21" name="Rounded Rectangle 20"/>
          <p:cNvSpPr/>
          <p:nvPr/>
        </p:nvSpPr>
        <p:spPr>
          <a:xfrm>
            <a:off x="6217920" y="3035808"/>
            <a:ext cx="5257800" cy="47548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7376" y="3145536"/>
            <a:ext cx="2103120" cy="274320"/>
          </a:xfrm>
          <a:prstGeom prst="rect">
            <a:avLst/>
          </a:prstGeom>
          <a:noFill/>
        </p:spPr>
        <p:txBody>
          <a:bodyPr wrap="square" lIns="0" rIns="0" tIns="0" bIns="0" anchor="t">
            <a:spAutoFit/>
          </a:bodyPr>
          <a:lstStyle/>
          <a:p>
            <a:pPr algn="l">
              <a:lnSpc>
                <a:spcPct val="125000"/>
              </a:lnSpc>
              <a:spcAft>
                <a:spcPts val="600"/>
              </a:spcAft>
            </a:pPr>
            <a:r>
              <a:rPr sz="1200" b="1">
                <a:solidFill>
                  <a:srgbClr val="E6EDF7"/>
                </a:solidFill>
                <a:latin typeface="Arial"/>
              </a:rPr>
              <a:t>Fraud rings</a:t>
            </a:r>
          </a:p>
        </p:txBody>
      </p:sp>
      <p:sp>
        <p:nvSpPr>
          <p:cNvPr id="23" name="TextBox 22"/>
          <p:cNvSpPr txBox="1"/>
          <p:nvPr/>
        </p:nvSpPr>
        <p:spPr>
          <a:xfrm>
            <a:off x="8613648" y="3163824"/>
            <a:ext cx="2743200" cy="2743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Coordinated multi-card, mule fan-out</a:t>
            </a:r>
          </a:p>
        </p:txBody>
      </p:sp>
      <p:sp>
        <p:nvSpPr>
          <p:cNvPr id="24" name="Rounded Rectangle 23"/>
          <p:cNvSpPr/>
          <p:nvPr/>
        </p:nvSpPr>
        <p:spPr>
          <a:xfrm>
            <a:off x="640080" y="3602736"/>
            <a:ext cx="5257800" cy="47548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59536" y="3712464"/>
            <a:ext cx="2103120" cy="274320"/>
          </a:xfrm>
          <a:prstGeom prst="rect">
            <a:avLst/>
          </a:prstGeom>
          <a:noFill/>
        </p:spPr>
        <p:txBody>
          <a:bodyPr wrap="square" lIns="0" rIns="0" tIns="0" bIns="0" anchor="t">
            <a:spAutoFit/>
          </a:bodyPr>
          <a:lstStyle/>
          <a:p>
            <a:pPr algn="l">
              <a:lnSpc>
                <a:spcPct val="125000"/>
              </a:lnSpc>
              <a:spcAft>
                <a:spcPts val="600"/>
              </a:spcAft>
            </a:pPr>
            <a:r>
              <a:rPr sz="1200" b="1">
                <a:solidFill>
                  <a:srgbClr val="E6EDF7"/>
                </a:solidFill>
                <a:latin typeface="Arial"/>
              </a:rPr>
              <a:t>Merchant abuse</a:t>
            </a:r>
          </a:p>
        </p:txBody>
      </p:sp>
      <p:sp>
        <p:nvSpPr>
          <p:cNvPr id="26" name="TextBox 25"/>
          <p:cNvSpPr txBox="1"/>
          <p:nvPr/>
        </p:nvSpPr>
        <p:spPr>
          <a:xfrm>
            <a:off x="3035808" y="3730752"/>
            <a:ext cx="2743200" cy="2743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Fake storefronts, refund collusion</a:t>
            </a:r>
          </a:p>
        </p:txBody>
      </p:sp>
      <p:sp>
        <p:nvSpPr>
          <p:cNvPr id="27" name="Rounded Rectangle 26"/>
          <p:cNvSpPr/>
          <p:nvPr/>
        </p:nvSpPr>
        <p:spPr>
          <a:xfrm>
            <a:off x="6217920" y="3602736"/>
            <a:ext cx="5257800" cy="47548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37376" y="3712464"/>
            <a:ext cx="2103120" cy="274320"/>
          </a:xfrm>
          <a:prstGeom prst="rect">
            <a:avLst/>
          </a:prstGeom>
          <a:noFill/>
        </p:spPr>
        <p:txBody>
          <a:bodyPr wrap="square" lIns="0" rIns="0" tIns="0" bIns="0" anchor="t">
            <a:spAutoFit/>
          </a:bodyPr>
          <a:lstStyle/>
          <a:p>
            <a:pPr algn="l">
              <a:lnSpc>
                <a:spcPct val="125000"/>
              </a:lnSpc>
              <a:spcAft>
                <a:spcPts val="600"/>
              </a:spcAft>
            </a:pPr>
            <a:r>
              <a:rPr sz="1200" b="1">
                <a:solidFill>
                  <a:srgbClr val="E6EDF7"/>
                </a:solidFill>
                <a:latin typeface="Arial"/>
              </a:rPr>
              <a:t>Adaptive evasion</a:t>
            </a:r>
          </a:p>
        </p:txBody>
      </p:sp>
      <p:sp>
        <p:nvSpPr>
          <p:cNvPr id="29" name="TextBox 28"/>
          <p:cNvSpPr txBox="1"/>
          <p:nvPr/>
        </p:nvSpPr>
        <p:spPr>
          <a:xfrm>
            <a:off x="8613648" y="3730752"/>
            <a:ext cx="2743200" cy="2743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Velocity evasion, mimicry of learned baselines</a:t>
            </a:r>
          </a:p>
        </p:txBody>
      </p:sp>
      <p:sp>
        <p:nvSpPr>
          <p:cNvPr id="30" name="Rounded Rectangle 29"/>
          <p:cNvSpPr/>
          <p:nvPr/>
        </p:nvSpPr>
        <p:spPr>
          <a:xfrm>
            <a:off x="640080" y="4169664"/>
            <a:ext cx="5257800" cy="47548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59536" y="4279392"/>
            <a:ext cx="2103120" cy="274320"/>
          </a:xfrm>
          <a:prstGeom prst="rect">
            <a:avLst/>
          </a:prstGeom>
          <a:noFill/>
        </p:spPr>
        <p:txBody>
          <a:bodyPr wrap="square" lIns="0" rIns="0" tIns="0" bIns="0" anchor="t">
            <a:spAutoFit/>
          </a:bodyPr>
          <a:lstStyle/>
          <a:p>
            <a:pPr algn="l">
              <a:lnSpc>
                <a:spcPct val="125000"/>
              </a:lnSpc>
              <a:spcAft>
                <a:spcPts val="600"/>
              </a:spcAft>
            </a:pPr>
            <a:r>
              <a:rPr sz="1200" b="1">
                <a:solidFill>
                  <a:srgbClr val="E6EDF7"/>
                </a:solidFill>
                <a:latin typeface="Arial"/>
              </a:rPr>
              <a:t>Card testing</a:t>
            </a:r>
          </a:p>
        </p:txBody>
      </p:sp>
      <p:sp>
        <p:nvSpPr>
          <p:cNvPr id="32" name="TextBox 31"/>
          <p:cNvSpPr txBox="1"/>
          <p:nvPr/>
        </p:nvSpPr>
        <p:spPr>
          <a:xfrm>
            <a:off x="3035808" y="4297680"/>
            <a:ext cx="2743200" cy="2743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BIN enumeration bursts</a:t>
            </a:r>
          </a:p>
        </p:txBody>
      </p:sp>
      <p:sp>
        <p:nvSpPr>
          <p:cNvPr id="33" name="Rounded Rectangle 32"/>
          <p:cNvSpPr/>
          <p:nvPr/>
        </p:nvSpPr>
        <p:spPr>
          <a:xfrm>
            <a:off x="6217920" y="4169664"/>
            <a:ext cx="5257800" cy="47548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37376" y="4279392"/>
            <a:ext cx="2103120" cy="274320"/>
          </a:xfrm>
          <a:prstGeom prst="rect">
            <a:avLst/>
          </a:prstGeom>
          <a:noFill/>
        </p:spPr>
        <p:txBody>
          <a:bodyPr wrap="square" lIns="0" rIns="0" tIns="0" bIns="0" anchor="t">
            <a:spAutoFit/>
          </a:bodyPr>
          <a:lstStyle/>
          <a:p>
            <a:pPr algn="l">
              <a:lnSpc>
                <a:spcPct val="125000"/>
              </a:lnSpc>
              <a:spcAft>
                <a:spcPts val="600"/>
              </a:spcAft>
            </a:pPr>
            <a:r>
              <a:rPr sz="1200" b="1">
                <a:solidFill>
                  <a:srgbClr val="E6EDF7"/>
                </a:solidFill>
                <a:latin typeface="Arial"/>
              </a:rPr>
              <a:t>Cross-border</a:t>
            </a:r>
          </a:p>
        </p:txBody>
      </p:sp>
      <p:sp>
        <p:nvSpPr>
          <p:cNvPr id="35" name="TextBox 34"/>
          <p:cNvSpPr txBox="1"/>
          <p:nvPr/>
        </p:nvSpPr>
        <p:spPr>
          <a:xfrm>
            <a:off x="8613648" y="4297680"/>
            <a:ext cx="2743200" cy="2743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Corridor and exemption abuse</a:t>
            </a:r>
          </a:p>
        </p:txBody>
      </p:sp>
      <p:sp>
        <p:nvSpPr>
          <p:cNvPr id="36" name="TextBox 35"/>
          <p:cNvSpPr txBox="1"/>
          <p:nvPr/>
        </p:nvSpPr>
        <p:spPr>
          <a:xfrm>
            <a:off x="640080" y="5943600"/>
            <a:ext cx="10881360" cy="320040"/>
          </a:xfrm>
          <a:prstGeom prst="rect">
            <a:avLst/>
          </a:prstGeom>
          <a:noFill/>
        </p:spPr>
        <p:txBody>
          <a:bodyPr wrap="square" lIns="0" rIns="0" tIns="0" bIns="0" anchor="t">
            <a:spAutoFit/>
          </a:bodyPr>
          <a:lstStyle/>
          <a:p>
            <a:pPr algn="l">
              <a:lnSpc>
                <a:spcPct val="130000"/>
              </a:lnSpc>
              <a:spcAft>
                <a:spcPts val="600"/>
              </a:spcAft>
            </a:pPr>
            <a:r>
              <a:rPr sz="1100" b="0">
                <a:solidFill>
                  <a:srgbClr val="5A687A"/>
                </a:solidFill>
                <a:latin typeface="Arial"/>
              </a:rPr>
              <a:t>Every vector carries ground-truth metadata: attack_type, scenario_id, strength, expected_signals, severity, and a hard_to_detect flag — 75 campaigns generated 90,258 transactions at 3.83% fraud.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228600"/>
          </a:xfrm>
          <a:prstGeom prst="rect">
            <a:avLst/>
          </a:prstGeom>
          <a:noFill/>
        </p:spPr>
        <p:txBody>
          <a:bodyPr wrap="square" lIns="0" rIns="0" tIns="0" bIns="0" anchor="t">
            <a:spAutoFit/>
          </a:bodyPr>
          <a:lstStyle/>
          <a:p>
            <a:pPr algn="l">
              <a:lnSpc>
                <a:spcPct val="125000"/>
              </a:lnSpc>
              <a:spcAft>
                <a:spcPts val="600"/>
              </a:spcAft>
            </a:pPr>
            <a:r>
              <a:rPr sz="1050" b="1">
                <a:solidFill>
                  <a:srgbClr val="60A5FA"/>
                </a:solidFill>
                <a:latin typeface="Arial"/>
              </a:rPr>
              <a:t>JUDGED ON: SIMULATION FIDELITY</a:t>
            </a:r>
          </a:p>
        </p:txBody>
      </p:sp>
      <p:sp>
        <p:nvSpPr>
          <p:cNvPr id="3" name="TextBox 2"/>
          <p:cNvSpPr txBox="1"/>
          <p:nvPr/>
        </p:nvSpPr>
        <p:spPr>
          <a:xfrm>
            <a:off x="640080" y="768096"/>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Attacks constrained to what an attacker actually controls</a:t>
            </a:r>
          </a:p>
        </p:txBody>
      </p:sp>
      <p:sp>
        <p:nvSpPr>
          <p:cNvPr id="4" name="TextBox 3"/>
          <p:cNvSpPr txBox="1"/>
          <p:nvPr/>
        </p:nvSpPr>
        <p:spPr>
          <a:xfrm>
            <a:off x="640080" y="1335024"/>
            <a:ext cx="10607040" cy="365760"/>
          </a:xfrm>
          <a:prstGeom prst="rect">
            <a:avLst/>
          </a:prstGeom>
          <a:noFill/>
        </p:spPr>
        <p:txBody>
          <a:bodyPr wrap="square" lIns="0" rIns="0" tIns="0" bIns="0" anchor="t">
            <a:spAutoFit/>
          </a:bodyPr>
          <a:lstStyle/>
          <a:p>
            <a:pPr algn="l">
              <a:lnSpc>
                <a:spcPct val="130000"/>
              </a:lnSpc>
              <a:spcAft>
                <a:spcPts val="600"/>
              </a:spcAft>
            </a:pPr>
            <a:r>
              <a:rPr sz="1350" b="0">
                <a:solidFill>
                  <a:srgbClr val="8A99AD"/>
                </a:solidFill>
                <a:latin typeface="Arial"/>
              </a:rPr>
              <a:t>The standing criticism of adversarial ML on tabular data is that papers perturb features the attacker cannot touch. That produces impressive numbers and unusable systems.</a:t>
            </a:r>
          </a:p>
        </p:txBody>
      </p:sp>
      <p:sp>
        <p:nvSpPr>
          <p:cNvPr id="5" name="TextBox 4"/>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sp>
        <p:nvSpPr>
          <p:cNvPr id="6" name="Rounded Rectangle 5"/>
          <p:cNvSpPr/>
          <p:nvPr/>
        </p:nvSpPr>
        <p:spPr>
          <a:xfrm>
            <a:off x="640080" y="1901952"/>
            <a:ext cx="5257800" cy="265176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2121408"/>
            <a:ext cx="4754880" cy="274320"/>
          </a:xfrm>
          <a:prstGeom prst="rect">
            <a:avLst/>
          </a:prstGeom>
          <a:noFill/>
        </p:spPr>
        <p:txBody>
          <a:bodyPr wrap="square" lIns="0" rIns="0" tIns="0" bIns="0" anchor="t">
            <a:spAutoFit/>
          </a:bodyPr>
          <a:lstStyle/>
          <a:p>
            <a:pPr algn="l">
              <a:lnSpc>
                <a:spcPct val="125000"/>
              </a:lnSpc>
              <a:spcAft>
                <a:spcPts val="600"/>
              </a:spcAft>
            </a:pPr>
            <a:r>
              <a:rPr sz="1400" b="1">
                <a:solidFill>
                  <a:srgbClr val="34D399"/>
                </a:solidFill>
                <a:latin typeface="Arial"/>
              </a:rPr>
              <a:t>Levers the simulator may move</a:t>
            </a:r>
          </a:p>
        </p:txBody>
      </p:sp>
      <p:sp>
        <p:nvSpPr>
          <p:cNvPr id="8" name="TextBox 7"/>
          <p:cNvSpPr txBox="1"/>
          <p:nvPr/>
        </p:nvSpPr>
        <p:spPr>
          <a:xfrm>
            <a:off x="914400" y="2542032"/>
            <a:ext cx="4754880" cy="2194560"/>
          </a:xfrm>
          <a:prstGeom prst="rect">
            <a:avLst/>
          </a:prstGeom>
          <a:noFill/>
        </p:spPr>
        <p:txBody>
          <a:bodyPr wrap="square" lIns="0" rIns="0" tIns="0" bIns="0" anchor="t">
            <a:spAutoFit/>
          </a:bodyPr>
          <a:lstStyle/>
          <a:p>
            <a:pPr algn="l">
              <a:lnSpc>
                <a:spcPct val="130000"/>
              </a:lnSpc>
              <a:spcAft>
                <a:spcPts val="900"/>
              </a:spcAft>
            </a:pPr>
            <a:r>
              <a:rPr sz="1200" b="0">
                <a:solidFill>
                  <a:srgbClr val="8A99AD"/>
                </a:solidFill>
                <a:latin typeface="Arial"/>
              </a:rPr>
              <a:t>•   Amount, and how it is split across attempts</a:t>
            </a:r>
          </a:p>
          <a:p>
            <a:pPr algn="l">
              <a:lnSpc>
                <a:spcPct val="130000"/>
              </a:lnSpc>
              <a:spcAft>
                <a:spcPts val="900"/>
              </a:spcAft>
            </a:pPr>
            <a:r>
              <a:rPr sz="1200" b="0">
                <a:solidFill>
                  <a:srgbClr val="8A99AD"/>
                </a:solidFill>
                <a:latin typeface="Arial"/>
              </a:rPr>
              <a:t>•   Timing, inter-arrival cadence, burst shape</a:t>
            </a:r>
          </a:p>
          <a:p>
            <a:pPr algn="l">
              <a:lnSpc>
                <a:spcPct val="130000"/>
              </a:lnSpc>
              <a:spcAft>
                <a:spcPts val="900"/>
              </a:spcAft>
            </a:pPr>
            <a:r>
              <a:rPr sz="1200" b="0">
                <a:solidFill>
                  <a:srgbClr val="8A99AD"/>
                </a:solidFill>
                <a:latin typeface="Arial"/>
              </a:rPr>
              <a:t>•   Merchant and MCC selection</a:t>
            </a:r>
          </a:p>
          <a:p>
            <a:pPr algn="l">
              <a:lnSpc>
                <a:spcPct val="130000"/>
              </a:lnSpc>
              <a:spcAft>
                <a:spcPts val="900"/>
              </a:spcAft>
            </a:pPr>
            <a:r>
              <a:rPr sz="1200" b="0">
                <a:solidFill>
                  <a:srgbClr val="8A99AD"/>
                </a:solidFill>
                <a:latin typeface="Arial"/>
              </a:rPr>
              <a:t>•   Device and channel presentation</a:t>
            </a:r>
          </a:p>
          <a:p>
            <a:pPr algn="l">
              <a:lnSpc>
                <a:spcPct val="130000"/>
              </a:lnSpc>
              <a:spcAft>
                <a:spcPts val="900"/>
              </a:spcAft>
            </a:pPr>
            <a:r>
              <a:rPr sz="1200" b="0">
                <a:solidFill>
                  <a:srgbClr val="8A99AD"/>
                </a:solidFill>
                <a:latin typeface="Arial"/>
              </a:rPr>
              <a:t>•   Sequencing — probe, escalate, cash out</a:t>
            </a:r>
          </a:p>
          <a:p>
            <a:pPr algn="l">
              <a:lnSpc>
                <a:spcPct val="130000"/>
              </a:lnSpc>
              <a:spcAft>
                <a:spcPts val="900"/>
              </a:spcAft>
            </a:pPr>
            <a:r>
              <a:rPr sz="1200" b="0">
                <a:solidFill>
                  <a:srgbClr val="8A99AD"/>
                </a:solidFill>
                <a:latin typeface="Arial"/>
              </a:rPr>
              <a:t>•   Text in merchant-controlled fields</a:t>
            </a:r>
          </a:p>
        </p:txBody>
      </p:sp>
      <p:sp>
        <p:nvSpPr>
          <p:cNvPr id="9" name="Rounded Rectangle 8"/>
          <p:cNvSpPr/>
          <p:nvPr/>
        </p:nvSpPr>
        <p:spPr>
          <a:xfrm>
            <a:off x="6217920" y="1901952"/>
            <a:ext cx="5257800" cy="265176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2240" y="2121408"/>
            <a:ext cx="4754880" cy="274320"/>
          </a:xfrm>
          <a:prstGeom prst="rect">
            <a:avLst/>
          </a:prstGeom>
          <a:noFill/>
        </p:spPr>
        <p:txBody>
          <a:bodyPr wrap="square" lIns="0" rIns="0" tIns="0" bIns="0" anchor="t">
            <a:spAutoFit/>
          </a:bodyPr>
          <a:lstStyle/>
          <a:p>
            <a:pPr algn="l">
              <a:lnSpc>
                <a:spcPct val="125000"/>
              </a:lnSpc>
              <a:spcAft>
                <a:spcPts val="600"/>
              </a:spcAft>
            </a:pPr>
            <a:r>
              <a:rPr sz="1400" b="1">
                <a:solidFill>
                  <a:srgbClr val="F1554F"/>
                </a:solidFill>
                <a:latin typeface="Arial"/>
              </a:rPr>
              <a:t>Held invariant — not the attacker's to change</a:t>
            </a:r>
          </a:p>
        </p:txBody>
      </p:sp>
      <p:sp>
        <p:nvSpPr>
          <p:cNvPr id="11" name="TextBox 10"/>
          <p:cNvSpPr txBox="1"/>
          <p:nvPr/>
        </p:nvSpPr>
        <p:spPr>
          <a:xfrm>
            <a:off x="6492240" y="2542032"/>
            <a:ext cx="4754880" cy="2194560"/>
          </a:xfrm>
          <a:prstGeom prst="rect">
            <a:avLst/>
          </a:prstGeom>
          <a:noFill/>
        </p:spPr>
        <p:txBody>
          <a:bodyPr wrap="square" lIns="0" rIns="0" tIns="0" bIns="0" anchor="t">
            <a:spAutoFit/>
          </a:bodyPr>
          <a:lstStyle/>
          <a:p>
            <a:pPr algn="l">
              <a:lnSpc>
                <a:spcPct val="130000"/>
              </a:lnSpc>
              <a:spcAft>
                <a:spcPts val="900"/>
              </a:spcAft>
            </a:pPr>
            <a:r>
              <a:rPr sz="1200" b="0">
                <a:solidFill>
                  <a:srgbClr val="8A99AD"/>
                </a:solidFill>
                <a:latin typeface="Arial"/>
              </a:rPr>
              <a:t>•   The victim's own historical baseline</a:t>
            </a:r>
          </a:p>
          <a:p>
            <a:pPr algn="l">
              <a:lnSpc>
                <a:spcPct val="130000"/>
              </a:lnSpc>
              <a:spcAft>
                <a:spcPts val="900"/>
              </a:spcAft>
            </a:pPr>
            <a:r>
              <a:rPr sz="1200" b="0">
                <a:solidFill>
                  <a:srgbClr val="8A99AD"/>
                </a:solidFill>
                <a:latin typeface="Arial"/>
              </a:rPr>
              <a:t>•   Issuer-side risk state and scoring</a:t>
            </a:r>
          </a:p>
          <a:p>
            <a:pPr algn="l">
              <a:lnSpc>
                <a:spcPct val="130000"/>
              </a:lnSpc>
              <a:spcAft>
                <a:spcPts val="900"/>
              </a:spcAft>
            </a:pPr>
            <a:r>
              <a:rPr sz="1200" b="0">
                <a:solidFill>
                  <a:srgbClr val="8A99AD"/>
                </a:solidFill>
                <a:latin typeface="Arial"/>
              </a:rPr>
              <a:t>•   Network-assigned identifiers and tokens</a:t>
            </a:r>
          </a:p>
          <a:p>
            <a:pPr algn="l">
              <a:lnSpc>
                <a:spcPct val="130000"/>
              </a:lnSpc>
              <a:spcAft>
                <a:spcPts val="900"/>
              </a:spcAft>
            </a:pPr>
            <a:r>
              <a:rPr sz="1200" b="0">
                <a:solidFill>
                  <a:srgbClr val="8A99AD"/>
                </a:solidFill>
                <a:latin typeface="Arial"/>
              </a:rPr>
              <a:t>•   AVS / CVV results returned by the issuer</a:t>
            </a:r>
          </a:p>
          <a:p>
            <a:pPr algn="l">
              <a:lnSpc>
                <a:spcPct val="130000"/>
              </a:lnSpc>
              <a:spcAft>
                <a:spcPts val="900"/>
              </a:spcAft>
            </a:pPr>
            <a:r>
              <a:rPr sz="1200" b="0">
                <a:solidFill>
                  <a:srgbClr val="8A99AD"/>
                </a:solidFill>
                <a:latin typeface="Arial"/>
              </a:rPr>
              <a:t>•   Another cardholder's genuine behaviour</a:t>
            </a:r>
          </a:p>
          <a:p>
            <a:pPr algn="l">
              <a:lnSpc>
                <a:spcPct val="130000"/>
              </a:lnSpc>
              <a:spcAft>
                <a:spcPts val="900"/>
              </a:spcAft>
            </a:pPr>
            <a:r>
              <a:rPr sz="1200" b="0">
                <a:solidFill>
                  <a:srgbClr val="8A99AD"/>
                </a:solidFill>
                <a:latin typeface="Arial"/>
              </a:rPr>
              <a:t>•   Any label the defence later assigns</a:t>
            </a:r>
          </a:p>
        </p:txBody>
      </p:sp>
      <p:sp>
        <p:nvSpPr>
          <p:cNvPr id="12" name="Rounded Rectangle 11"/>
          <p:cNvSpPr/>
          <p:nvPr/>
        </p:nvSpPr>
        <p:spPr>
          <a:xfrm>
            <a:off x="640080" y="5394960"/>
            <a:ext cx="10881360" cy="685800"/>
          </a:xfrm>
          <a:prstGeom prst="roundRect">
            <a:avLst>
              <a:gd name="adj" fmla="val 4000"/>
            </a:avLst>
          </a:prstGeom>
          <a:solidFill>
            <a:srgbClr val="0C1428"/>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5559552"/>
            <a:ext cx="10332720" cy="411480"/>
          </a:xfrm>
          <a:prstGeom prst="rect">
            <a:avLst/>
          </a:prstGeom>
          <a:noFill/>
        </p:spPr>
        <p:txBody>
          <a:bodyPr wrap="square" lIns="0" rIns="0" tIns="0" bIns="0" anchor="t">
            <a:spAutoFit/>
          </a:bodyPr>
          <a:lstStyle/>
          <a:p>
            <a:pPr algn="l">
              <a:lnSpc>
                <a:spcPct val="130000"/>
              </a:lnSpc>
              <a:spcAft>
                <a:spcPts val="600"/>
              </a:spcAft>
            </a:pPr>
            <a:r>
              <a:rPr sz="1250" b="0">
                <a:solidFill>
                  <a:srgbClr val="E6EDF7"/>
                </a:solidFill>
                <a:latin typeface="Arial"/>
              </a:rPr>
              <a:t>Schema is ISO-8583-inspired: 1,650 tokenised cards, 263 merchants, 44 days of authorization traffic. Card identifiers are tokens — a PAN never exists in this system, synthetic or otherwise.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228600"/>
          </a:xfrm>
          <a:prstGeom prst="rect">
            <a:avLst/>
          </a:prstGeom>
          <a:noFill/>
        </p:spPr>
        <p:txBody>
          <a:bodyPr wrap="square" lIns="0" rIns="0" tIns="0" bIns="0" anchor="t">
            <a:spAutoFit/>
          </a:bodyPr>
          <a:lstStyle/>
          <a:p>
            <a:pPr algn="l">
              <a:lnSpc>
                <a:spcPct val="125000"/>
              </a:lnSpc>
              <a:spcAft>
                <a:spcPts val="600"/>
              </a:spcAft>
            </a:pPr>
            <a:r>
              <a:rPr sz="1050" b="1">
                <a:solidFill>
                  <a:srgbClr val="60A5FA"/>
                </a:solidFill>
                <a:latin typeface="Arial"/>
              </a:rPr>
              <a:t>JUDGED ON: SIMULATION FIDELITY — MEASURED</a:t>
            </a:r>
          </a:p>
        </p:txBody>
      </p:sp>
      <p:sp>
        <p:nvSpPr>
          <p:cNvPr id="3" name="TextBox 2"/>
          <p:cNvSpPr txBox="1"/>
          <p:nvPr/>
        </p:nvSpPr>
        <p:spPr>
          <a:xfrm>
            <a:off x="640080" y="768096"/>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Fidelity as evidence, not assertion</a:t>
            </a:r>
          </a:p>
        </p:txBody>
      </p:sp>
      <p:sp>
        <p:nvSpPr>
          <p:cNvPr id="4" name="TextBox 3"/>
          <p:cNvSpPr txBox="1"/>
          <p:nvPr/>
        </p:nvSpPr>
        <p:spPr>
          <a:xfrm>
            <a:off x="640080" y="1335024"/>
            <a:ext cx="10607040" cy="365760"/>
          </a:xfrm>
          <a:prstGeom prst="rect">
            <a:avLst/>
          </a:prstGeom>
          <a:noFill/>
        </p:spPr>
        <p:txBody>
          <a:bodyPr wrap="square" lIns="0" rIns="0" tIns="0" bIns="0" anchor="t">
            <a:spAutoFit/>
          </a:bodyPr>
          <a:lstStyle/>
          <a:p>
            <a:pPr algn="l">
              <a:lnSpc>
                <a:spcPct val="130000"/>
              </a:lnSpc>
              <a:spcAft>
                <a:spcPts val="600"/>
              </a:spcAft>
            </a:pPr>
            <a:r>
              <a:rPr sz="1350" b="0">
                <a:solidFill>
                  <a:srgbClr val="8A99AD"/>
                </a:solidFill>
                <a:latin typeface="Arial"/>
              </a:rPr>
              <a:t>The brief judges fidelity instrumentally, so we measure it: generated marginals against published reference bands, and how separable the attacks actually are from legitimate traffic.</a:t>
            </a:r>
          </a:p>
        </p:txBody>
      </p:sp>
      <p:sp>
        <p:nvSpPr>
          <p:cNvPr id="5" name="TextBox 4"/>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sp>
        <p:nvSpPr>
          <p:cNvPr id="6" name="Rounded Rectangle 5"/>
          <p:cNvSpPr/>
          <p:nvPr/>
        </p:nvSpPr>
        <p:spPr>
          <a:xfrm>
            <a:off x="640080" y="1901952"/>
            <a:ext cx="5532120" cy="306324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2084832"/>
            <a:ext cx="5029200" cy="274320"/>
          </a:xfrm>
          <a:prstGeom prst="rect">
            <a:avLst/>
          </a:prstGeom>
          <a:noFill/>
        </p:spPr>
        <p:txBody>
          <a:bodyPr wrap="square" lIns="0" rIns="0" tIns="0" bIns="0" anchor="t">
            <a:spAutoFit/>
          </a:bodyPr>
          <a:lstStyle/>
          <a:p>
            <a:pPr algn="l">
              <a:lnSpc>
                <a:spcPct val="125000"/>
              </a:lnSpc>
              <a:spcAft>
                <a:spcPts val="600"/>
              </a:spcAft>
            </a:pPr>
            <a:r>
              <a:rPr sz="1300" b="1">
                <a:solidFill>
                  <a:srgbClr val="34D399"/>
                </a:solidFill>
                <a:latin typeface="Arial"/>
              </a:rPr>
              <a:t>Marginals vs published bands — 9/9 in band</a:t>
            </a:r>
          </a:p>
        </p:txBody>
      </p:sp>
      <p:sp>
        <p:nvSpPr>
          <p:cNvPr id="8" name="TextBox 7"/>
          <p:cNvSpPr txBox="1"/>
          <p:nvPr/>
        </p:nvSpPr>
        <p:spPr>
          <a:xfrm>
            <a:off x="914400" y="2468880"/>
            <a:ext cx="274320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Benford MAD (leading digit)</a:t>
            </a:r>
          </a:p>
        </p:txBody>
      </p:sp>
      <p:sp>
        <p:nvSpPr>
          <p:cNvPr id="9" name="TextBox 8"/>
          <p:cNvSpPr txBox="1"/>
          <p:nvPr/>
        </p:nvSpPr>
        <p:spPr>
          <a:xfrm>
            <a:off x="3703320" y="2468880"/>
            <a:ext cx="82296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0.0010</a:t>
            </a:r>
          </a:p>
        </p:txBody>
      </p:sp>
      <p:sp>
        <p:nvSpPr>
          <p:cNvPr id="10" name="TextBox 9"/>
          <p:cNvSpPr txBox="1"/>
          <p:nvPr/>
        </p:nvSpPr>
        <p:spPr>
          <a:xfrm>
            <a:off x="4617720" y="2468880"/>
            <a:ext cx="1371600" cy="274320"/>
          </a:xfrm>
          <a:prstGeom prst="rect">
            <a:avLst/>
          </a:prstGeom>
          <a:noFill/>
        </p:spPr>
        <p:txBody>
          <a:bodyPr wrap="square" lIns="0" rIns="0" tIns="0" bIns="0" anchor="t">
            <a:spAutoFit/>
          </a:bodyPr>
          <a:lstStyle/>
          <a:p>
            <a:pPr algn="l">
              <a:lnSpc>
                <a:spcPct val="125000"/>
              </a:lnSpc>
              <a:spcAft>
                <a:spcPts val="600"/>
              </a:spcAft>
            </a:pPr>
            <a:r>
              <a:rPr sz="1000" b="0">
                <a:solidFill>
                  <a:srgbClr val="8A99AD"/>
                </a:solidFill>
                <a:latin typeface="Arial"/>
              </a:rPr>
              <a:t>0.0–0.015</a:t>
            </a:r>
          </a:p>
        </p:txBody>
      </p:sp>
      <p:sp>
        <p:nvSpPr>
          <p:cNvPr id="11" name="TextBox 10"/>
          <p:cNvSpPr txBox="1"/>
          <p:nvPr/>
        </p:nvSpPr>
        <p:spPr>
          <a:xfrm>
            <a:off x="914400" y="2852928"/>
            <a:ext cx="274320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Card-not-present share</a:t>
            </a:r>
          </a:p>
        </p:txBody>
      </p:sp>
      <p:sp>
        <p:nvSpPr>
          <p:cNvPr id="12" name="TextBox 11"/>
          <p:cNvSpPr txBox="1"/>
          <p:nvPr/>
        </p:nvSpPr>
        <p:spPr>
          <a:xfrm>
            <a:off x="3703320" y="2852928"/>
            <a:ext cx="82296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0.4237</a:t>
            </a:r>
          </a:p>
        </p:txBody>
      </p:sp>
      <p:sp>
        <p:nvSpPr>
          <p:cNvPr id="13" name="TextBox 12"/>
          <p:cNvSpPr txBox="1"/>
          <p:nvPr/>
        </p:nvSpPr>
        <p:spPr>
          <a:xfrm>
            <a:off x="4617720" y="2852928"/>
            <a:ext cx="1371600" cy="274320"/>
          </a:xfrm>
          <a:prstGeom prst="rect">
            <a:avLst/>
          </a:prstGeom>
          <a:noFill/>
        </p:spPr>
        <p:txBody>
          <a:bodyPr wrap="square" lIns="0" rIns="0" tIns="0" bIns="0" anchor="t">
            <a:spAutoFit/>
          </a:bodyPr>
          <a:lstStyle/>
          <a:p>
            <a:pPr algn="l">
              <a:lnSpc>
                <a:spcPct val="125000"/>
              </a:lnSpc>
              <a:spcAft>
                <a:spcPts val="600"/>
              </a:spcAft>
            </a:pPr>
            <a:r>
              <a:rPr sz="1000" b="0">
                <a:solidFill>
                  <a:srgbClr val="8A99AD"/>
                </a:solidFill>
                <a:latin typeface="Arial"/>
              </a:rPr>
              <a:t>0.3–0.6</a:t>
            </a:r>
          </a:p>
        </p:txBody>
      </p:sp>
      <p:sp>
        <p:nvSpPr>
          <p:cNvPr id="14" name="TextBox 13"/>
          <p:cNvSpPr txBox="1"/>
          <p:nvPr/>
        </p:nvSpPr>
        <p:spPr>
          <a:xfrm>
            <a:off x="914400" y="3236976"/>
            <a:ext cx="274320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Cross-border share</a:t>
            </a:r>
          </a:p>
        </p:txBody>
      </p:sp>
      <p:sp>
        <p:nvSpPr>
          <p:cNvPr id="15" name="TextBox 14"/>
          <p:cNvSpPr txBox="1"/>
          <p:nvPr/>
        </p:nvSpPr>
        <p:spPr>
          <a:xfrm>
            <a:off x="3703320" y="3236976"/>
            <a:ext cx="82296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0.1031</a:t>
            </a:r>
          </a:p>
        </p:txBody>
      </p:sp>
      <p:sp>
        <p:nvSpPr>
          <p:cNvPr id="16" name="TextBox 15"/>
          <p:cNvSpPr txBox="1"/>
          <p:nvPr/>
        </p:nvSpPr>
        <p:spPr>
          <a:xfrm>
            <a:off x="4617720" y="3236976"/>
            <a:ext cx="1371600" cy="274320"/>
          </a:xfrm>
          <a:prstGeom prst="rect">
            <a:avLst/>
          </a:prstGeom>
          <a:noFill/>
        </p:spPr>
        <p:txBody>
          <a:bodyPr wrap="square" lIns="0" rIns="0" tIns="0" bIns="0" anchor="t">
            <a:spAutoFit/>
          </a:bodyPr>
          <a:lstStyle/>
          <a:p>
            <a:pPr algn="l">
              <a:lnSpc>
                <a:spcPct val="125000"/>
              </a:lnSpc>
              <a:spcAft>
                <a:spcPts val="600"/>
              </a:spcAft>
            </a:pPr>
            <a:r>
              <a:rPr sz="1000" b="0">
                <a:solidFill>
                  <a:srgbClr val="8A99AD"/>
                </a:solidFill>
                <a:latin typeface="Arial"/>
              </a:rPr>
              <a:t>0.03–0.2</a:t>
            </a:r>
          </a:p>
        </p:txBody>
      </p:sp>
      <p:sp>
        <p:nvSpPr>
          <p:cNvPr id="17" name="TextBox 16"/>
          <p:cNvSpPr txBox="1"/>
          <p:nvPr/>
        </p:nvSpPr>
        <p:spPr>
          <a:xfrm>
            <a:off x="914400" y="3621024"/>
            <a:ext cx="274320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Overnight volume share</a:t>
            </a:r>
          </a:p>
        </p:txBody>
      </p:sp>
      <p:sp>
        <p:nvSpPr>
          <p:cNvPr id="18" name="TextBox 17"/>
          <p:cNvSpPr txBox="1"/>
          <p:nvPr/>
        </p:nvSpPr>
        <p:spPr>
          <a:xfrm>
            <a:off x="3703320" y="3621024"/>
            <a:ext cx="82296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0.0342</a:t>
            </a:r>
          </a:p>
        </p:txBody>
      </p:sp>
      <p:sp>
        <p:nvSpPr>
          <p:cNvPr id="19" name="TextBox 18"/>
          <p:cNvSpPr txBox="1"/>
          <p:nvPr/>
        </p:nvSpPr>
        <p:spPr>
          <a:xfrm>
            <a:off x="4617720" y="3621024"/>
            <a:ext cx="1371600" cy="274320"/>
          </a:xfrm>
          <a:prstGeom prst="rect">
            <a:avLst/>
          </a:prstGeom>
          <a:noFill/>
        </p:spPr>
        <p:txBody>
          <a:bodyPr wrap="square" lIns="0" rIns="0" tIns="0" bIns="0" anchor="t">
            <a:spAutoFit/>
          </a:bodyPr>
          <a:lstStyle/>
          <a:p>
            <a:pPr algn="l">
              <a:lnSpc>
                <a:spcPct val="125000"/>
              </a:lnSpc>
              <a:spcAft>
                <a:spcPts val="600"/>
              </a:spcAft>
            </a:pPr>
            <a:r>
              <a:rPr sz="1000" b="0">
                <a:solidFill>
                  <a:srgbClr val="8A99AD"/>
                </a:solidFill>
                <a:latin typeface="Arial"/>
              </a:rPr>
              <a:t>0.02–0.18</a:t>
            </a:r>
          </a:p>
        </p:txBody>
      </p:sp>
      <p:sp>
        <p:nvSpPr>
          <p:cNvPr id="20" name="TextBox 19"/>
          <p:cNvSpPr txBox="1"/>
          <p:nvPr/>
        </p:nvSpPr>
        <p:spPr>
          <a:xfrm>
            <a:off x="914400" y="4005072"/>
            <a:ext cx="274320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MCC concentration (Gini)</a:t>
            </a:r>
          </a:p>
        </p:txBody>
      </p:sp>
      <p:sp>
        <p:nvSpPr>
          <p:cNvPr id="21" name="TextBox 20"/>
          <p:cNvSpPr txBox="1"/>
          <p:nvPr/>
        </p:nvSpPr>
        <p:spPr>
          <a:xfrm>
            <a:off x="3703320" y="4005072"/>
            <a:ext cx="82296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0.4447</a:t>
            </a:r>
          </a:p>
        </p:txBody>
      </p:sp>
      <p:sp>
        <p:nvSpPr>
          <p:cNvPr id="22" name="TextBox 21"/>
          <p:cNvSpPr txBox="1"/>
          <p:nvPr/>
        </p:nvSpPr>
        <p:spPr>
          <a:xfrm>
            <a:off x="4617720" y="4005072"/>
            <a:ext cx="1371600" cy="274320"/>
          </a:xfrm>
          <a:prstGeom prst="rect">
            <a:avLst/>
          </a:prstGeom>
          <a:noFill/>
        </p:spPr>
        <p:txBody>
          <a:bodyPr wrap="square" lIns="0" rIns="0" tIns="0" bIns="0" anchor="t">
            <a:spAutoFit/>
          </a:bodyPr>
          <a:lstStyle/>
          <a:p>
            <a:pPr algn="l">
              <a:lnSpc>
                <a:spcPct val="125000"/>
              </a:lnSpc>
              <a:spcAft>
                <a:spcPts val="600"/>
              </a:spcAft>
            </a:pPr>
            <a:r>
              <a:rPr sz="1000" b="0">
                <a:solidFill>
                  <a:srgbClr val="8A99AD"/>
                </a:solidFill>
                <a:latin typeface="Arial"/>
              </a:rPr>
              <a:t>0.25–0.85</a:t>
            </a:r>
          </a:p>
        </p:txBody>
      </p:sp>
      <p:sp>
        <p:nvSpPr>
          <p:cNvPr id="23" name="TextBox 22"/>
          <p:cNvSpPr txBox="1"/>
          <p:nvPr/>
        </p:nvSpPr>
        <p:spPr>
          <a:xfrm>
            <a:off x="914400" y="4389120"/>
            <a:ext cx="274320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Primary-device share/card</a:t>
            </a:r>
          </a:p>
        </p:txBody>
      </p:sp>
      <p:sp>
        <p:nvSpPr>
          <p:cNvPr id="24" name="TextBox 23"/>
          <p:cNvSpPr txBox="1"/>
          <p:nvPr/>
        </p:nvSpPr>
        <p:spPr>
          <a:xfrm>
            <a:off x="3703320" y="4389120"/>
            <a:ext cx="82296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0.9702</a:t>
            </a:r>
          </a:p>
        </p:txBody>
      </p:sp>
      <p:sp>
        <p:nvSpPr>
          <p:cNvPr id="25" name="TextBox 24"/>
          <p:cNvSpPr txBox="1"/>
          <p:nvPr/>
        </p:nvSpPr>
        <p:spPr>
          <a:xfrm>
            <a:off x="4617720" y="4389120"/>
            <a:ext cx="1371600" cy="274320"/>
          </a:xfrm>
          <a:prstGeom prst="rect">
            <a:avLst/>
          </a:prstGeom>
          <a:noFill/>
        </p:spPr>
        <p:txBody>
          <a:bodyPr wrap="square" lIns="0" rIns="0" tIns="0" bIns="0" anchor="t">
            <a:spAutoFit/>
          </a:bodyPr>
          <a:lstStyle/>
          <a:p>
            <a:pPr algn="l">
              <a:lnSpc>
                <a:spcPct val="125000"/>
              </a:lnSpc>
              <a:spcAft>
                <a:spcPts val="600"/>
              </a:spcAft>
            </a:pPr>
            <a:r>
              <a:rPr sz="1000" b="0">
                <a:solidFill>
                  <a:srgbClr val="8A99AD"/>
                </a:solidFill>
                <a:latin typeface="Arial"/>
              </a:rPr>
              <a:t>0.55–1.0</a:t>
            </a:r>
          </a:p>
        </p:txBody>
      </p:sp>
      <p:sp>
        <p:nvSpPr>
          <p:cNvPr id="26" name="TextBox 25"/>
          <p:cNvSpPr txBox="1"/>
          <p:nvPr/>
        </p:nvSpPr>
        <p:spPr>
          <a:xfrm>
            <a:off x="914400" y="4645152"/>
            <a:ext cx="5029200" cy="274320"/>
          </a:xfrm>
          <a:prstGeom prst="rect">
            <a:avLst/>
          </a:prstGeom>
          <a:noFill/>
        </p:spPr>
        <p:txBody>
          <a:bodyPr wrap="square" lIns="0" rIns="0" tIns="0" bIns="0" anchor="t">
            <a:spAutoFit/>
          </a:bodyPr>
          <a:lstStyle/>
          <a:p>
            <a:pPr algn="l">
              <a:lnSpc>
                <a:spcPct val="125000"/>
              </a:lnSpc>
              <a:spcAft>
                <a:spcPts val="600"/>
              </a:spcAft>
            </a:pPr>
            <a:r>
              <a:rPr sz="950" b="0">
                <a:solidFill>
                  <a:srgbClr val="5A687A"/>
                </a:solidFill>
                <a:latin typeface="Arial"/>
              </a:rPr>
              <a:t>Nigrini: MAD &lt; 0.006 is close Benford conformity. Bands are public and wide.</a:t>
            </a:r>
          </a:p>
        </p:txBody>
      </p:sp>
      <p:sp>
        <p:nvSpPr>
          <p:cNvPr id="27" name="Rounded Rectangle 26"/>
          <p:cNvSpPr/>
          <p:nvPr/>
        </p:nvSpPr>
        <p:spPr>
          <a:xfrm>
            <a:off x="6400800" y="1901952"/>
            <a:ext cx="5120640" cy="306324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675120" y="2084832"/>
            <a:ext cx="4572000" cy="274320"/>
          </a:xfrm>
          <a:prstGeom prst="rect">
            <a:avLst/>
          </a:prstGeom>
          <a:noFill/>
        </p:spPr>
        <p:txBody>
          <a:bodyPr wrap="square" lIns="0" rIns="0" tIns="0" bIns="0" anchor="t">
            <a:spAutoFit/>
          </a:bodyPr>
          <a:lstStyle/>
          <a:p>
            <a:pPr algn="l">
              <a:lnSpc>
                <a:spcPct val="125000"/>
              </a:lnSpc>
              <a:spcAft>
                <a:spcPts val="600"/>
              </a:spcAft>
            </a:pPr>
            <a:r>
              <a:rPr sz="1300" b="1">
                <a:solidFill>
                  <a:srgbClr val="F59E0B"/>
                </a:solidFill>
                <a:latin typeface="Arial"/>
              </a:rPr>
              <a:t>Are the attacks trivially separable?</a:t>
            </a:r>
          </a:p>
        </p:txBody>
      </p:sp>
      <p:sp>
        <p:nvSpPr>
          <p:cNvPr id="29" name="TextBox 28"/>
          <p:cNvSpPr txBox="1"/>
          <p:nvPr/>
        </p:nvSpPr>
        <p:spPr>
          <a:xfrm>
            <a:off x="6675120" y="2404872"/>
            <a:ext cx="4572000" cy="36576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Univariate AUC on RAW authorization fields — no engineered features.</a:t>
            </a:r>
          </a:p>
        </p:txBody>
      </p:sp>
      <p:sp>
        <p:nvSpPr>
          <p:cNvPr id="30" name="TextBox 29"/>
          <p:cNvSpPr txBox="1"/>
          <p:nvPr/>
        </p:nvSpPr>
        <p:spPr>
          <a:xfrm>
            <a:off x="6675120" y="2834640"/>
            <a:ext cx="219456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cross_border</a:t>
            </a:r>
          </a:p>
        </p:txBody>
      </p:sp>
      <p:sp>
        <p:nvSpPr>
          <p:cNvPr id="31" name="TextBox 30"/>
          <p:cNvSpPr txBox="1"/>
          <p:nvPr/>
        </p:nvSpPr>
        <p:spPr>
          <a:xfrm>
            <a:off x="9006840" y="2834640"/>
            <a:ext cx="822960" cy="274320"/>
          </a:xfrm>
          <a:prstGeom prst="rect">
            <a:avLst/>
          </a:prstGeom>
          <a:noFill/>
        </p:spPr>
        <p:txBody>
          <a:bodyPr wrap="square" lIns="0" rIns="0" tIns="0" bIns="0" anchor="t">
            <a:spAutoFit/>
          </a:bodyPr>
          <a:lstStyle/>
          <a:p>
            <a:pPr algn="l">
              <a:lnSpc>
                <a:spcPct val="125000"/>
              </a:lnSpc>
              <a:spcAft>
                <a:spcPts val="600"/>
              </a:spcAft>
            </a:pPr>
            <a:r>
              <a:rPr sz="1100" b="1">
                <a:solidFill>
                  <a:srgbClr val="F59E0B"/>
                </a:solidFill>
                <a:latin typeface="Arial"/>
              </a:rPr>
              <a:t>0.896</a:t>
            </a:r>
          </a:p>
        </p:txBody>
      </p:sp>
      <p:sp>
        <p:nvSpPr>
          <p:cNvPr id="32" name="TextBox 31"/>
          <p:cNvSpPr txBox="1"/>
          <p:nvPr/>
        </p:nvSpPr>
        <p:spPr>
          <a:xfrm>
            <a:off x="9966960" y="2834640"/>
            <a:ext cx="1371600" cy="274320"/>
          </a:xfrm>
          <a:prstGeom prst="rect">
            <a:avLst/>
          </a:prstGeom>
          <a:noFill/>
        </p:spPr>
        <p:txBody>
          <a:bodyPr wrap="square" lIns="0" rIns="0" tIns="0" bIns="0" anchor="t">
            <a:spAutoFit/>
          </a:bodyPr>
          <a:lstStyle/>
          <a:p>
            <a:pPr algn="l">
              <a:lnSpc>
                <a:spcPct val="125000"/>
              </a:lnSpc>
              <a:spcAft>
                <a:spcPts val="600"/>
              </a:spcAft>
            </a:pPr>
            <a:r>
              <a:rPr sz="1000" b="0">
                <a:solidFill>
                  <a:srgbClr val="8A99AD"/>
                </a:solidFill>
                <a:latin typeface="Arial"/>
              </a:rPr>
              <a:t>overlap 0.21</a:t>
            </a:r>
          </a:p>
        </p:txBody>
      </p:sp>
      <p:sp>
        <p:nvSpPr>
          <p:cNvPr id="33" name="TextBox 32"/>
          <p:cNvSpPr txBox="1"/>
          <p:nvPr/>
        </p:nvSpPr>
        <p:spPr>
          <a:xfrm>
            <a:off x="6675120" y="3172968"/>
            <a:ext cx="219456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card_present</a:t>
            </a:r>
          </a:p>
        </p:txBody>
      </p:sp>
      <p:sp>
        <p:nvSpPr>
          <p:cNvPr id="34" name="TextBox 33"/>
          <p:cNvSpPr txBox="1"/>
          <p:nvPr/>
        </p:nvSpPr>
        <p:spPr>
          <a:xfrm>
            <a:off x="9006840" y="3172968"/>
            <a:ext cx="82296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0.788</a:t>
            </a:r>
          </a:p>
        </p:txBody>
      </p:sp>
      <p:sp>
        <p:nvSpPr>
          <p:cNvPr id="35" name="TextBox 34"/>
          <p:cNvSpPr txBox="1"/>
          <p:nvPr/>
        </p:nvSpPr>
        <p:spPr>
          <a:xfrm>
            <a:off x="9966960" y="3172968"/>
            <a:ext cx="1371600" cy="274320"/>
          </a:xfrm>
          <a:prstGeom prst="rect">
            <a:avLst/>
          </a:prstGeom>
          <a:noFill/>
        </p:spPr>
        <p:txBody>
          <a:bodyPr wrap="square" lIns="0" rIns="0" tIns="0" bIns="0" anchor="t">
            <a:spAutoFit/>
          </a:bodyPr>
          <a:lstStyle/>
          <a:p>
            <a:pPr algn="l">
              <a:lnSpc>
                <a:spcPct val="125000"/>
              </a:lnSpc>
              <a:spcAft>
                <a:spcPts val="600"/>
              </a:spcAft>
            </a:pPr>
            <a:r>
              <a:rPr sz="1000" b="0">
                <a:solidFill>
                  <a:srgbClr val="8A99AD"/>
                </a:solidFill>
                <a:latin typeface="Arial"/>
              </a:rPr>
              <a:t>overlap 0.42</a:t>
            </a:r>
          </a:p>
        </p:txBody>
      </p:sp>
      <p:sp>
        <p:nvSpPr>
          <p:cNvPr id="36" name="TextBox 35"/>
          <p:cNvSpPr txBox="1"/>
          <p:nvPr/>
        </p:nvSpPr>
        <p:spPr>
          <a:xfrm>
            <a:off x="6675120" y="3511296"/>
            <a:ext cx="219456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merchant_age_days</a:t>
            </a:r>
          </a:p>
        </p:txBody>
      </p:sp>
      <p:sp>
        <p:nvSpPr>
          <p:cNvPr id="37" name="TextBox 36"/>
          <p:cNvSpPr txBox="1"/>
          <p:nvPr/>
        </p:nvSpPr>
        <p:spPr>
          <a:xfrm>
            <a:off x="9006840" y="3511296"/>
            <a:ext cx="82296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0.706</a:t>
            </a:r>
          </a:p>
        </p:txBody>
      </p:sp>
      <p:sp>
        <p:nvSpPr>
          <p:cNvPr id="38" name="TextBox 37"/>
          <p:cNvSpPr txBox="1"/>
          <p:nvPr/>
        </p:nvSpPr>
        <p:spPr>
          <a:xfrm>
            <a:off x="9966960" y="3511296"/>
            <a:ext cx="1371600" cy="274320"/>
          </a:xfrm>
          <a:prstGeom prst="rect">
            <a:avLst/>
          </a:prstGeom>
          <a:noFill/>
        </p:spPr>
        <p:txBody>
          <a:bodyPr wrap="square" lIns="0" rIns="0" tIns="0" bIns="0" anchor="t">
            <a:spAutoFit/>
          </a:bodyPr>
          <a:lstStyle/>
          <a:p>
            <a:pPr algn="l">
              <a:lnSpc>
                <a:spcPct val="125000"/>
              </a:lnSpc>
              <a:spcAft>
                <a:spcPts val="600"/>
              </a:spcAft>
            </a:pPr>
            <a:r>
              <a:rPr sz="1000" b="0">
                <a:solidFill>
                  <a:srgbClr val="8A99AD"/>
                </a:solidFill>
                <a:latin typeface="Arial"/>
              </a:rPr>
              <a:t>overlap 0.55</a:t>
            </a:r>
          </a:p>
        </p:txBody>
      </p:sp>
      <p:sp>
        <p:nvSpPr>
          <p:cNvPr id="39" name="TextBox 38"/>
          <p:cNvSpPr txBox="1"/>
          <p:nvPr/>
        </p:nvSpPr>
        <p:spPr>
          <a:xfrm>
            <a:off x="6675120" y="3849624"/>
            <a:ext cx="219456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hour_of_day</a:t>
            </a:r>
          </a:p>
        </p:txBody>
      </p:sp>
      <p:sp>
        <p:nvSpPr>
          <p:cNvPr id="40" name="TextBox 39"/>
          <p:cNvSpPr txBox="1"/>
          <p:nvPr/>
        </p:nvSpPr>
        <p:spPr>
          <a:xfrm>
            <a:off x="9006840" y="3849624"/>
            <a:ext cx="82296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0.651</a:t>
            </a:r>
          </a:p>
        </p:txBody>
      </p:sp>
      <p:sp>
        <p:nvSpPr>
          <p:cNvPr id="41" name="TextBox 40"/>
          <p:cNvSpPr txBox="1"/>
          <p:nvPr/>
        </p:nvSpPr>
        <p:spPr>
          <a:xfrm>
            <a:off x="9966960" y="3849624"/>
            <a:ext cx="1371600" cy="274320"/>
          </a:xfrm>
          <a:prstGeom prst="rect">
            <a:avLst/>
          </a:prstGeom>
          <a:noFill/>
        </p:spPr>
        <p:txBody>
          <a:bodyPr wrap="square" lIns="0" rIns="0" tIns="0" bIns="0" anchor="t">
            <a:spAutoFit/>
          </a:bodyPr>
          <a:lstStyle/>
          <a:p>
            <a:pPr algn="l">
              <a:lnSpc>
                <a:spcPct val="125000"/>
              </a:lnSpc>
              <a:spcAft>
                <a:spcPts val="600"/>
              </a:spcAft>
            </a:pPr>
            <a:r>
              <a:rPr sz="1000" b="0">
                <a:solidFill>
                  <a:srgbClr val="8A99AD"/>
                </a:solidFill>
                <a:latin typeface="Arial"/>
              </a:rPr>
              <a:t>overlap 0.67</a:t>
            </a:r>
          </a:p>
        </p:txBody>
      </p:sp>
      <p:sp>
        <p:nvSpPr>
          <p:cNvPr id="42" name="TextBox 41"/>
          <p:cNvSpPr txBox="1"/>
          <p:nvPr/>
        </p:nvSpPr>
        <p:spPr>
          <a:xfrm>
            <a:off x="6675120" y="4187952"/>
            <a:ext cx="219456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amount</a:t>
            </a:r>
          </a:p>
        </p:txBody>
      </p:sp>
      <p:sp>
        <p:nvSpPr>
          <p:cNvPr id="43" name="TextBox 42"/>
          <p:cNvSpPr txBox="1"/>
          <p:nvPr/>
        </p:nvSpPr>
        <p:spPr>
          <a:xfrm>
            <a:off x="9006840" y="4187952"/>
            <a:ext cx="82296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0.559</a:t>
            </a:r>
          </a:p>
        </p:txBody>
      </p:sp>
      <p:sp>
        <p:nvSpPr>
          <p:cNvPr id="44" name="TextBox 43"/>
          <p:cNvSpPr txBox="1"/>
          <p:nvPr/>
        </p:nvSpPr>
        <p:spPr>
          <a:xfrm>
            <a:off x="9966960" y="4187952"/>
            <a:ext cx="1371600" cy="274320"/>
          </a:xfrm>
          <a:prstGeom prst="rect">
            <a:avLst/>
          </a:prstGeom>
          <a:noFill/>
        </p:spPr>
        <p:txBody>
          <a:bodyPr wrap="square" lIns="0" rIns="0" tIns="0" bIns="0" anchor="t">
            <a:spAutoFit/>
          </a:bodyPr>
          <a:lstStyle/>
          <a:p>
            <a:pPr algn="l">
              <a:lnSpc>
                <a:spcPct val="125000"/>
              </a:lnSpc>
              <a:spcAft>
                <a:spcPts val="600"/>
              </a:spcAft>
            </a:pPr>
            <a:r>
              <a:rPr sz="1000" b="0">
                <a:solidFill>
                  <a:srgbClr val="8A99AD"/>
                </a:solidFill>
                <a:latin typeface="Arial"/>
              </a:rPr>
              <a:t>overlap 0.86</a:t>
            </a:r>
          </a:p>
        </p:txBody>
      </p:sp>
      <p:sp>
        <p:nvSpPr>
          <p:cNvPr id="45" name="TextBox 44"/>
          <p:cNvSpPr txBox="1"/>
          <p:nvPr/>
        </p:nvSpPr>
        <p:spPr>
          <a:xfrm>
            <a:off x="6675120" y="4599432"/>
            <a:ext cx="4572000" cy="274320"/>
          </a:xfrm>
          <a:prstGeom prst="rect">
            <a:avLst/>
          </a:prstGeom>
          <a:noFill/>
        </p:spPr>
        <p:txBody>
          <a:bodyPr wrap="square" lIns="0" rIns="0" tIns="0" bIns="0" anchor="t">
            <a:spAutoFit/>
          </a:bodyPr>
          <a:lstStyle/>
          <a:p>
            <a:pPr algn="l">
              <a:lnSpc>
                <a:spcPct val="125000"/>
              </a:lnSpc>
              <a:spcAft>
                <a:spcPts val="600"/>
              </a:spcAft>
            </a:pPr>
            <a:r>
              <a:rPr sz="1150" b="1">
                <a:solidFill>
                  <a:srgbClr val="E6EDF7"/>
                </a:solidFill>
                <a:latin typeface="Arial"/>
              </a:rPr>
              <a:t>max 0.896  ·  mean attack/legit overlap 0.656</a:t>
            </a:r>
          </a:p>
        </p:txBody>
      </p:sp>
      <p:sp>
        <p:nvSpPr>
          <p:cNvPr id="46" name="Rounded Rectangle 45"/>
          <p:cNvSpPr/>
          <p:nvPr/>
        </p:nvSpPr>
        <p:spPr>
          <a:xfrm>
            <a:off x="640080" y="5230368"/>
            <a:ext cx="10881360" cy="1005840"/>
          </a:xfrm>
          <a:prstGeom prst="roundRect">
            <a:avLst>
              <a:gd name="adj" fmla="val 4000"/>
            </a:avLst>
          </a:prstGeom>
          <a:solidFill>
            <a:srgbClr val="0C1428"/>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14400" y="5394960"/>
            <a:ext cx="10332720" cy="274320"/>
          </a:xfrm>
          <a:prstGeom prst="rect">
            <a:avLst/>
          </a:prstGeom>
          <a:noFill/>
        </p:spPr>
        <p:txBody>
          <a:bodyPr wrap="square" lIns="0" rIns="0" tIns="0" bIns="0" anchor="t">
            <a:spAutoFit/>
          </a:bodyPr>
          <a:lstStyle/>
          <a:p>
            <a:pPr algn="l">
              <a:lnSpc>
                <a:spcPct val="125000"/>
              </a:lnSpc>
              <a:spcAft>
                <a:spcPts val="600"/>
              </a:spcAft>
            </a:pPr>
            <a:r>
              <a:rPr sz="1300" b="1">
                <a:solidFill>
                  <a:srgbClr val="A78BFA"/>
                </a:solidFill>
                <a:latin typeface="Arial"/>
              </a:rPr>
              <a:t>A LOW number here is the result we want</a:t>
            </a:r>
          </a:p>
        </p:txBody>
      </p:sp>
      <p:sp>
        <p:nvSpPr>
          <p:cNvPr id="48" name="TextBox 47"/>
          <p:cNvSpPr txBox="1"/>
          <p:nvPr/>
        </p:nvSpPr>
        <p:spPr>
          <a:xfrm>
            <a:off x="914400" y="5705856"/>
            <a:ext cx="10332720" cy="457200"/>
          </a:xfrm>
          <a:prstGeom prst="rect">
            <a:avLst/>
          </a:prstGeom>
          <a:noFill/>
        </p:spPr>
        <p:txBody>
          <a:bodyPr wrap="square" lIns="0" rIns="0" tIns="0" bIns="0" anchor="t">
            <a:spAutoFit/>
          </a:bodyPr>
          <a:lstStyle/>
          <a:p>
            <a:pPr algn="l">
              <a:lnSpc>
                <a:spcPct val="130000"/>
              </a:lnSpc>
              <a:spcAft>
                <a:spcPts val="600"/>
              </a:spcAft>
            </a:pPr>
            <a:r>
              <a:rPr sz="1150" b="0">
                <a:solidFill>
                  <a:srgbClr val="8A99AD"/>
                </a:solidFill>
                <a:latin typeface="Arial"/>
              </a:rPr>
              <a:t>`amount` scores just 0.559 with 0.86 overlap — the generator does not take the usual shortcut of making fraud large. No raw field betrays the attacks, so the reported detection performance comes from the feature layer and cascade rather than a generation artefact. The most camouflaged vector is `VELOCITY_EVASION`, and the vectors we detect worst are the same ones that overlap legitimate traffic most — the story is internally consistent.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228600"/>
          </a:xfrm>
          <a:prstGeom prst="rect">
            <a:avLst/>
          </a:prstGeom>
          <a:noFill/>
        </p:spPr>
        <p:txBody>
          <a:bodyPr wrap="square" lIns="0" rIns="0" tIns="0" bIns="0" anchor="t">
            <a:spAutoFit/>
          </a:bodyPr>
          <a:lstStyle/>
          <a:p>
            <a:pPr algn="l">
              <a:lnSpc>
                <a:spcPct val="125000"/>
              </a:lnSpc>
              <a:spcAft>
                <a:spcPts val="600"/>
              </a:spcAft>
            </a:pPr>
            <a:r>
              <a:rPr sz="1050" b="1">
                <a:solidFill>
                  <a:srgbClr val="60A5FA"/>
                </a:solidFill>
                <a:latin typeface="Arial"/>
              </a:rPr>
              <a:t>JUDGED ON: DETECTION EFFICACY</a:t>
            </a:r>
          </a:p>
        </p:txBody>
      </p:sp>
      <p:sp>
        <p:nvSpPr>
          <p:cNvPr id="3" name="TextBox 2"/>
          <p:cNvSpPr txBox="1"/>
          <p:nvPr/>
        </p:nvSpPr>
        <p:spPr>
          <a:xfrm>
            <a:off x="640080" y="768096"/>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Verified results — reproducible from a clean checkout</a:t>
            </a:r>
          </a:p>
        </p:txBody>
      </p:sp>
      <p:sp>
        <p:nvSpPr>
          <p:cNvPr id="4" name="TextBox 3"/>
          <p:cNvSpPr txBox="1"/>
          <p:nvPr/>
        </p:nvSpPr>
        <p:spPr>
          <a:xfrm>
            <a:off x="640080" y="1335024"/>
            <a:ext cx="10607040" cy="365760"/>
          </a:xfrm>
          <a:prstGeom prst="rect">
            <a:avLst/>
          </a:prstGeom>
          <a:noFill/>
        </p:spPr>
        <p:txBody>
          <a:bodyPr wrap="square" lIns="0" rIns="0" tIns="0" bIns="0" anchor="t">
            <a:spAutoFit/>
          </a:bodyPr>
          <a:lstStyle/>
          <a:p>
            <a:pPr algn="l">
              <a:lnSpc>
                <a:spcPct val="130000"/>
              </a:lnSpc>
              <a:spcAft>
                <a:spcPts val="600"/>
              </a:spcAft>
            </a:pPr>
            <a:r>
              <a:rPr sz="1350" b="0">
                <a:solidFill>
                  <a:srgbClr val="8A99AD"/>
                </a:solidFill>
                <a:latin typeface="Arial"/>
              </a:rPr>
              <a:t>Temporal split with a 5% delay block between train and test, because chargeback labels arrive late and a random split leaks the future.</a:t>
            </a:r>
          </a:p>
        </p:txBody>
      </p:sp>
      <p:sp>
        <p:nvSpPr>
          <p:cNvPr id="5" name="TextBox 4"/>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sp>
        <p:nvSpPr>
          <p:cNvPr id="6" name="Rounded Rectangle 5"/>
          <p:cNvSpPr/>
          <p:nvPr/>
        </p:nvSpPr>
        <p:spPr>
          <a:xfrm>
            <a:off x="640080" y="1901952"/>
            <a:ext cx="2624328" cy="123444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1248" y="2048256"/>
            <a:ext cx="2221992" cy="182880"/>
          </a:xfrm>
          <a:prstGeom prst="rect">
            <a:avLst/>
          </a:prstGeom>
          <a:noFill/>
        </p:spPr>
        <p:txBody>
          <a:bodyPr wrap="square" lIns="0" rIns="0" tIns="0" bIns="0" anchor="t">
            <a:spAutoFit/>
          </a:bodyPr>
          <a:lstStyle/>
          <a:p>
            <a:pPr algn="l">
              <a:lnSpc>
                <a:spcPct val="125000"/>
              </a:lnSpc>
              <a:spcAft>
                <a:spcPts val="600"/>
              </a:spcAft>
            </a:pPr>
            <a:r>
              <a:rPr sz="950" b="1">
                <a:solidFill>
                  <a:srgbClr val="8A99AD"/>
                </a:solidFill>
                <a:latin typeface="Arial"/>
              </a:rPr>
              <a:t>PR-AUC</a:t>
            </a:r>
          </a:p>
        </p:txBody>
      </p:sp>
      <p:sp>
        <p:nvSpPr>
          <p:cNvPr id="8" name="TextBox 7"/>
          <p:cNvSpPr txBox="1"/>
          <p:nvPr/>
        </p:nvSpPr>
        <p:spPr>
          <a:xfrm>
            <a:off x="841248" y="2286000"/>
            <a:ext cx="2221992" cy="457200"/>
          </a:xfrm>
          <a:prstGeom prst="rect">
            <a:avLst/>
          </a:prstGeom>
          <a:noFill/>
        </p:spPr>
        <p:txBody>
          <a:bodyPr wrap="square" lIns="0" rIns="0" tIns="0" bIns="0" anchor="t">
            <a:spAutoFit/>
          </a:bodyPr>
          <a:lstStyle/>
          <a:p>
            <a:pPr algn="l">
              <a:lnSpc>
                <a:spcPct val="100000"/>
              </a:lnSpc>
              <a:spcAft>
                <a:spcPts val="600"/>
              </a:spcAft>
            </a:pPr>
            <a:r>
              <a:rPr sz="3000" b="1">
                <a:solidFill>
                  <a:srgbClr val="34D399"/>
                </a:solidFill>
                <a:latin typeface="Arial"/>
              </a:rPr>
              <a:t>0.944</a:t>
            </a:r>
          </a:p>
        </p:txBody>
      </p:sp>
      <p:sp>
        <p:nvSpPr>
          <p:cNvPr id="9" name="TextBox 8"/>
          <p:cNvSpPr txBox="1"/>
          <p:nvPr/>
        </p:nvSpPr>
        <p:spPr>
          <a:xfrm>
            <a:off x="841248" y="2752344"/>
            <a:ext cx="2221992" cy="274320"/>
          </a:xfrm>
          <a:prstGeom prst="rect">
            <a:avLst/>
          </a:prstGeom>
          <a:noFill/>
        </p:spPr>
        <p:txBody>
          <a:bodyPr wrap="square" lIns="0" rIns="0" tIns="0" bIns="0" anchor="t">
            <a:spAutoFit/>
          </a:bodyPr>
          <a:lstStyle/>
          <a:p>
            <a:pPr algn="l">
              <a:lnSpc>
                <a:spcPct val="120000"/>
              </a:lnSpc>
              <a:spcAft>
                <a:spcPts val="600"/>
              </a:spcAft>
            </a:pPr>
            <a:r>
              <a:rPr sz="950" b="0">
                <a:solidFill>
                  <a:srgbClr val="8A99AD"/>
                </a:solidFill>
                <a:latin typeface="Arial"/>
              </a:rPr>
              <a:t>95% CI 0.931–0.957</a:t>
            </a:r>
          </a:p>
        </p:txBody>
      </p:sp>
      <p:sp>
        <p:nvSpPr>
          <p:cNvPr id="10" name="Rounded Rectangle 9"/>
          <p:cNvSpPr/>
          <p:nvPr/>
        </p:nvSpPr>
        <p:spPr>
          <a:xfrm>
            <a:off x="3410712" y="1901952"/>
            <a:ext cx="2624328" cy="123444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11880" y="2048256"/>
            <a:ext cx="2221992" cy="182880"/>
          </a:xfrm>
          <a:prstGeom prst="rect">
            <a:avLst/>
          </a:prstGeom>
          <a:noFill/>
        </p:spPr>
        <p:txBody>
          <a:bodyPr wrap="square" lIns="0" rIns="0" tIns="0" bIns="0" anchor="t">
            <a:spAutoFit/>
          </a:bodyPr>
          <a:lstStyle/>
          <a:p>
            <a:pPr algn="l">
              <a:lnSpc>
                <a:spcPct val="125000"/>
              </a:lnSpc>
              <a:spcAft>
                <a:spcPts val="600"/>
              </a:spcAft>
            </a:pPr>
            <a:r>
              <a:rPr sz="950" b="1">
                <a:solidFill>
                  <a:srgbClr val="8A99AD"/>
                </a:solidFill>
                <a:latin typeface="Arial"/>
              </a:rPr>
              <a:t>BEST-F1 POINT</a:t>
            </a:r>
          </a:p>
        </p:txBody>
      </p:sp>
      <p:sp>
        <p:nvSpPr>
          <p:cNvPr id="12" name="TextBox 11"/>
          <p:cNvSpPr txBox="1"/>
          <p:nvPr/>
        </p:nvSpPr>
        <p:spPr>
          <a:xfrm>
            <a:off x="3611880" y="2286000"/>
            <a:ext cx="2221992" cy="457200"/>
          </a:xfrm>
          <a:prstGeom prst="rect">
            <a:avLst/>
          </a:prstGeom>
          <a:noFill/>
        </p:spPr>
        <p:txBody>
          <a:bodyPr wrap="square" lIns="0" rIns="0" tIns="0" bIns="0" anchor="t">
            <a:spAutoFit/>
          </a:bodyPr>
          <a:lstStyle/>
          <a:p>
            <a:pPr algn="l">
              <a:lnSpc>
                <a:spcPct val="100000"/>
              </a:lnSpc>
              <a:spcAft>
                <a:spcPts val="600"/>
              </a:spcAft>
            </a:pPr>
            <a:r>
              <a:rPr sz="3000" b="1">
                <a:solidFill>
                  <a:srgbClr val="E6EDF7"/>
                </a:solidFill>
                <a:latin typeface="Arial"/>
              </a:rPr>
              <a:t>0.929</a:t>
            </a:r>
          </a:p>
        </p:txBody>
      </p:sp>
      <p:sp>
        <p:nvSpPr>
          <p:cNvPr id="13" name="TextBox 12"/>
          <p:cNvSpPr txBox="1"/>
          <p:nvPr/>
        </p:nvSpPr>
        <p:spPr>
          <a:xfrm>
            <a:off x="3611880" y="2752344"/>
            <a:ext cx="2221992" cy="274320"/>
          </a:xfrm>
          <a:prstGeom prst="rect">
            <a:avLst/>
          </a:prstGeom>
          <a:noFill/>
        </p:spPr>
        <p:txBody>
          <a:bodyPr wrap="square" lIns="0" rIns="0" tIns="0" bIns="0" anchor="t">
            <a:spAutoFit/>
          </a:bodyPr>
          <a:lstStyle/>
          <a:p>
            <a:pPr algn="l">
              <a:lnSpc>
                <a:spcPct val="120000"/>
              </a:lnSpc>
              <a:spcAft>
                <a:spcPts val="600"/>
              </a:spcAft>
            </a:pPr>
            <a:r>
              <a:rPr sz="950" b="0">
                <a:solidFill>
                  <a:srgbClr val="8A99AD"/>
                </a:solidFill>
                <a:latin typeface="Arial"/>
              </a:rPr>
              <a:t>P 0.972 / R 0.891</a:t>
            </a:r>
          </a:p>
        </p:txBody>
      </p:sp>
      <p:sp>
        <p:nvSpPr>
          <p:cNvPr id="14" name="Rounded Rectangle 13"/>
          <p:cNvSpPr/>
          <p:nvPr/>
        </p:nvSpPr>
        <p:spPr>
          <a:xfrm>
            <a:off x="6181344" y="1901952"/>
            <a:ext cx="2624328" cy="123444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82512" y="2048256"/>
            <a:ext cx="2221992" cy="182880"/>
          </a:xfrm>
          <a:prstGeom prst="rect">
            <a:avLst/>
          </a:prstGeom>
          <a:noFill/>
        </p:spPr>
        <p:txBody>
          <a:bodyPr wrap="square" lIns="0" rIns="0" tIns="0" bIns="0" anchor="t">
            <a:spAutoFit/>
          </a:bodyPr>
          <a:lstStyle/>
          <a:p>
            <a:pPr algn="l">
              <a:lnSpc>
                <a:spcPct val="125000"/>
              </a:lnSpc>
              <a:spcAft>
                <a:spcPts val="600"/>
              </a:spcAft>
            </a:pPr>
            <a:r>
              <a:rPr sz="950" b="1">
                <a:solidFill>
                  <a:srgbClr val="8A99AD"/>
                </a:solidFill>
                <a:latin typeface="Arial"/>
              </a:rPr>
              <a:t>FALSE-POSITIVE RATE</a:t>
            </a:r>
          </a:p>
        </p:txBody>
      </p:sp>
      <p:sp>
        <p:nvSpPr>
          <p:cNvPr id="16" name="TextBox 15"/>
          <p:cNvSpPr txBox="1"/>
          <p:nvPr/>
        </p:nvSpPr>
        <p:spPr>
          <a:xfrm>
            <a:off x="6382512" y="2286000"/>
            <a:ext cx="2221992" cy="457200"/>
          </a:xfrm>
          <a:prstGeom prst="rect">
            <a:avLst/>
          </a:prstGeom>
          <a:noFill/>
        </p:spPr>
        <p:txBody>
          <a:bodyPr wrap="square" lIns="0" rIns="0" tIns="0" bIns="0" anchor="t">
            <a:spAutoFit/>
          </a:bodyPr>
          <a:lstStyle/>
          <a:p>
            <a:pPr algn="l">
              <a:lnSpc>
                <a:spcPct val="100000"/>
              </a:lnSpc>
              <a:spcAft>
                <a:spcPts val="600"/>
              </a:spcAft>
            </a:pPr>
            <a:r>
              <a:rPr sz="3000" b="1">
                <a:solidFill>
                  <a:srgbClr val="60A5FA"/>
                </a:solidFill>
                <a:latin typeface="Arial"/>
              </a:rPr>
              <a:t>0.0008</a:t>
            </a:r>
          </a:p>
        </p:txBody>
      </p:sp>
      <p:sp>
        <p:nvSpPr>
          <p:cNvPr id="17" name="TextBox 16"/>
          <p:cNvSpPr txBox="1"/>
          <p:nvPr/>
        </p:nvSpPr>
        <p:spPr>
          <a:xfrm>
            <a:off x="6382512" y="2752344"/>
            <a:ext cx="2221992" cy="274320"/>
          </a:xfrm>
          <a:prstGeom prst="rect">
            <a:avLst/>
          </a:prstGeom>
          <a:noFill/>
        </p:spPr>
        <p:txBody>
          <a:bodyPr wrap="square" lIns="0" rIns="0" tIns="0" bIns="0" anchor="t">
            <a:spAutoFit/>
          </a:bodyPr>
          <a:lstStyle/>
          <a:p>
            <a:pPr algn="l">
              <a:lnSpc>
                <a:spcPct val="120000"/>
              </a:lnSpc>
              <a:spcAft>
                <a:spcPts val="600"/>
              </a:spcAft>
            </a:pPr>
            <a:r>
              <a:rPr sz="950" b="0">
                <a:solidFill>
                  <a:srgbClr val="8A99AD"/>
                </a:solidFill>
                <a:latin typeface="Arial"/>
              </a:rPr>
              <a:t>insult rate at that point</a:t>
            </a:r>
          </a:p>
        </p:txBody>
      </p:sp>
      <p:sp>
        <p:nvSpPr>
          <p:cNvPr id="18" name="Rounded Rectangle 17"/>
          <p:cNvSpPr/>
          <p:nvPr/>
        </p:nvSpPr>
        <p:spPr>
          <a:xfrm>
            <a:off x="8951976" y="1901952"/>
            <a:ext cx="2624328" cy="123444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53144" y="2048256"/>
            <a:ext cx="2221992" cy="182880"/>
          </a:xfrm>
          <a:prstGeom prst="rect">
            <a:avLst/>
          </a:prstGeom>
          <a:noFill/>
        </p:spPr>
        <p:txBody>
          <a:bodyPr wrap="square" lIns="0" rIns="0" tIns="0" bIns="0" anchor="t">
            <a:spAutoFit/>
          </a:bodyPr>
          <a:lstStyle/>
          <a:p>
            <a:pPr algn="l">
              <a:lnSpc>
                <a:spcPct val="125000"/>
              </a:lnSpc>
              <a:spcAft>
                <a:spcPts val="600"/>
              </a:spcAft>
            </a:pPr>
            <a:r>
              <a:rPr sz="950" b="1">
                <a:solidFill>
                  <a:srgbClr val="8A99AD"/>
                </a:solidFill>
                <a:latin typeface="Arial"/>
              </a:rPr>
              <a:t>DECISION LATENCY P99</a:t>
            </a:r>
          </a:p>
        </p:txBody>
      </p:sp>
      <p:sp>
        <p:nvSpPr>
          <p:cNvPr id="20" name="TextBox 19"/>
          <p:cNvSpPr txBox="1"/>
          <p:nvPr/>
        </p:nvSpPr>
        <p:spPr>
          <a:xfrm>
            <a:off x="9153144" y="2286000"/>
            <a:ext cx="2221992" cy="457200"/>
          </a:xfrm>
          <a:prstGeom prst="rect">
            <a:avLst/>
          </a:prstGeom>
          <a:noFill/>
        </p:spPr>
        <p:txBody>
          <a:bodyPr wrap="square" lIns="0" rIns="0" tIns="0" bIns="0" anchor="t">
            <a:spAutoFit/>
          </a:bodyPr>
          <a:lstStyle/>
          <a:p>
            <a:pPr algn="l">
              <a:lnSpc>
                <a:spcPct val="100000"/>
              </a:lnSpc>
              <a:spcAft>
                <a:spcPts val="600"/>
              </a:spcAft>
            </a:pPr>
            <a:r>
              <a:rPr sz="3000" b="1">
                <a:solidFill>
                  <a:srgbClr val="F59E0B"/>
                </a:solidFill>
                <a:latin typeface="Arial"/>
              </a:rPr>
              <a:t>18.8ms</a:t>
            </a:r>
          </a:p>
        </p:txBody>
      </p:sp>
      <p:sp>
        <p:nvSpPr>
          <p:cNvPr id="21" name="TextBox 20"/>
          <p:cNvSpPr txBox="1"/>
          <p:nvPr/>
        </p:nvSpPr>
        <p:spPr>
          <a:xfrm>
            <a:off x="9153144" y="2752344"/>
            <a:ext cx="2221992" cy="274320"/>
          </a:xfrm>
          <a:prstGeom prst="rect">
            <a:avLst/>
          </a:prstGeom>
          <a:noFill/>
        </p:spPr>
        <p:txBody>
          <a:bodyPr wrap="square" lIns="0" rIns="0" tIns="0" bIns="0" anchor="t">
            <a:spAutoFit/>
          </a:bodyPr>
          <a:lstStyle/>
          <a:p>
            <a:pPr algn="l">
              <a:lnSpc>
                <a:spcPct val="120000"/>
              </a:lnSpc>
              <a:spcAft>
                <a:spcPts val="600"/>
              </a:spcAft>
            </a:pPr>
            <a:r>
              <a:rPr sz="950" b="0">
                <a:solidFill>
                  <a:srgbClr val="8A99AD"/>
                </a:solidFill>
                <a:latin typeface="Arial"/>
              </a:rPr>
              <a:t>p50 13.7ms · inline path</a:t>
            </a:r>
          </a:p>
        </p:txBody>
      </p:sp>
      <p:sp>
        <p:nvSpPr>
          <p:cNvPr id="22" name="Rounded Rectangle 21"/>
          <p:cNvSpPr/>
          <p:nvPr/>
        </p:nvSpPr>
        <p:spPr>
          <a:xfrm>
            <a:off x="640080" y="3346704"/>
            <a:ext cx="2624328" cy="123444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8" y="3493008"/>
            <a:ext cx="2221992" cy="182880"/>
          </a:xfrm>
          <a:prstGeom prst="rect">
            <a:avLst/>
          </a:prstGeom>
          <a:noFill/>
        </p:spPr>
        <p:txBody>
          <a:bodyPr wrap="square" lIns="0" rIns="0" tIns="0" bIns="0" anchor="t">
            <a:spAutoFit/>
          </a:bodyPr>
          <a:lstStyle/>
          <a:p>
            <a:pPr algn="l">
              <a:lnSpc>
                <a:spcPct val="125000"/>
              </a:lnSpc>
              <a:spcAft>
                <a:spcPts val="600"/>
              </a:spcAft>
            </a:pPr>
            <a:r>
              <a:rPr sz="950" b="1">
                <a:solidFill>
                  <a:srgbClr val="8A99AD"/>
                </a:solidFill>
                <a:latin typeface="Arial"/>
              </a:rPr>
              <a:t>ZERO-DAY RECALL</a:t>
            </a:r>
          </a:p>
        </p:txBody>
      </p:sp>
      <p:sp>
        <p:nvSpPr>
          <p:cNvPr id="24" name="TextBox 23"/>
          <p:cNvSpPr txBox="1"/>
          <p:nvPr/>
        </p:nvSpPr>
        <p:spPr>
          <a:xfrm>
            <a:off x="841248" y="3730752"/>
            <a:ext cx="2221992" cy="457200"/>
          </a:xfrm>
          <a:prstGeom prst="rect">
            <a:avLst/>
          </a:prstGeom>
          <a:noFill/>
        </p:spPr>
        <p:txBody>
          <a:bodyPr wrap="square" lIns="0" rIns="0" tIns="0" bIns="0" anchor="t">
            <a:spAutoFit/>
          </a:bodyPr>
          <a:lstStyle/>
          <a:p>
            <a:pPr algn="l">
              <a:lnSpc>
                <a:spcPct val="100000"/>
              </a:lnSpc>
              <a:spcAft>
                <a:spcPts val="600"/>
              </a:spcAft>
            </a:pPr>
            <a:r>
              <a:rPr sz="3000" b="1">
                <a:solidFill>
                  <a:srgbClr val="A78BFA"/>
                </a:solidFill>
                <a:latin typeface="Arial"/>
              </a:rPr>
              <a:t>0.718</a:t>
            </a:r>
          </a:p>
        </p:txBody>
      </p:sp>
      <p:sp>
        <p:nvSpPr>
          <p:cNvPr id="25" name="TextBox 24"/>
          <p:cNvSpPr txBox="1"/>
          <p:nvPr/>
        </p:nvSpPr>
        <p:spPr>
          <a:xfrm>
            <a:off x="841248" y="4197096"/>
            <a:ext cx="2221992" cy="274320"/>
          </a:xfrm>
          <a:prstGeom prst="rect">
            <a:avLst/>
          </a:prstGeom>
          <a:noFill/>
        </p:spPr>
        <p:txBody>
          <a:bodyPr wrap="square" lIns="0" rIns="0" tIns="0" bIns="0" anchor="t">
            <a:spAutoFit/>
          </a:bodyPr>
          <a:lstStyle/>
          <a:p>
            <a:pPr algn="l">
              <a:lnSpc>
                <a:spcPct val="120000"/>
              </a:lnSpc>
              <a:spcAft>
                <a:spcPts val="600"/>
              </a:spcAft>
            </a:pPr>
            <a:r>
              <a:rPr sz="950" b="0">
                <a:solidFill>
                  <a:srgbClr val="8A99AD"/>
                </a:solidFill>
                <a:latin typeface="Arial"/>
              </a:rPr>
              <a:t>6 vectors never trained on</a:t>
            </a:r>
          </a:p>
        </p:txBody>
      </p:sp>
      <p:sp>
        <p:nvSpPr>
          <p:cNvPr id="26" name="Rounded Rectangle 25"/>
          <p:cNvSpPr/>
          <p:nvPr/>
        </p:nvSpPr>
        <p:spPr>
          <a:xfrm>
            <a:off x="3410712" y="3346704"/>
            <a:ext cx="2624328" cy="123444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611880" y="3493008"/>
            <a:ext cx="2221992" cy="182880"/>
          </a:xfrm>
          <a:prstGeom prst="rect">
            <a:avLst/>
          </a:prstGeom>
          <a:noFill/>
        </p:spPr>
        <p:txBody>
          <a:bodyPr wrap="square" lIns="0" rIns="0" tIns="0" bIns="0" anchor="t">
            <a:spAutoFit/>
          </a:bodyPr>
          <a:lstStyle/>
          <a:p>
            <a:pPr algn="l">
              <a:lnSpc>
                <a:spcPct val="125000"/>
              </a:lnSpc>
              <a:spcAft>
                <a:spcPts val="600"/>
              </a:spcAft>
            </a:pPr>
            <a:r>
              <a:rPr sz="950" b="1">
                <a:solidFill>
                  <a:srgbClr val="8A99AD"/>
                </a:solidFill>
                <a:latin typeface="Arial"/>
              </a:rPr>
              <a:t>VALUE DETECTION RATE</a:t>
            </a:r>
          </a:p>
        </p:txBody>
      </p:sp>
      <p:sp>
        <p:nvSpPr>
          <p:cNvPr id="28" name="TextBox 27"/>
          <p:cNvSpPr txBox="1"/>
          <p:nvPr/>
        </p:nvSpPr>
        <p:spPr>
          <a:xfrm>
            <a:off x="3611880" y="3730752"/>
            <a:ext cx="2221992" cy="457200"/>
          </a:xfrm>
          <a:prstGeom prst="rect">
            <a:avLst/>
          </a:prstGeom>
          <a:noFill/>
        </p:spPr>
        <p:txBody>
          <a:bodyPr wrap="square" lIns="0" rIns="0" tIns="0" bIns="0" anchor="t">
            <a:spAutoFit/>
          </a:bodyPr>
          <a:lstStyle/>
          <a:p>
            <a:pPr algn="l">
              <a:lnSpc>
                <a:spcPct val="100000"/>
              </a:lnSpc>
              <a:spcAft>
                <a:spcPts val="600"/>
              </a:spcAft>
            </a:pPr>
            <a:r>
              <a:rPr sz="3000" b="1">
                <a:solidFill>
                  <a:srgbClr val="34D399"/>
                </a:solidFill>
                <a:latin typeface="Arial"/>
              </a:rPr>
              <a:t>0.941</a:t>
            </a:r>
          </a:p>
        </p:txBody>
      </p:sp>
      <p:sp>
        <p:nvSpPr>
          <p:cNvPr id="29" name="TextBox 28"/>
          <p:cNvSpPr txBox="1"/>
          <p:nvPr/>
        </p:nvSpPr>
        <p:spPr>
          <a:xfrm>
            <a:off x="3611880" y="4197096"/>
            <a:ext cx="2221992" cy="274320"/>
          </a:xfrm>
          <a:prstGeom prst="rect">
            <a:avLst/>
          </a:prstGeom>
          <a:noFill/>
        </p:spPr>
        <p:txBody>
          <a:bodyPr wrap="square" lIns="0" rIns="0" tIns="0" bIns="0" anchor="t">
            <a:spAutoFit/>
          </a:bodyPr>
          <a:lstStyle/>
          <a:p>
            <a:pPr algn="l">
              <a:lnSpc>
                <a:spcPct val="120000"/>
              </a:lnSpc>
              <a:spcAft>
                <a:spcPts val="600"/>
              </a:spcAft>
            </a:pPr>
            <a:r>
              <a:rPr sz="950" b="0">
                <a:solidFill>
                  <a:srgbClr val="8A99AD"/>
                </a:solidFill>
                <a:latin typeface="Arial"/>
              </a:rPr>
              <a:t>share of fraud value stopped</a:t>
            </a:r>
          </a:p>
        </p:txBody>
      </p:sp>
      <p:sp>
        <p:nvSpPr>
          <p:cNvPr id="30" name="Rounded Rectangle 29"/>
          <p:cNvSpPr/>
          <p:nvPr/>
        </p:nvSpPr>
        <p:spPr>
          <a:xfrm>
            <a:off x="6181344" y="3346704"/>
            <a:ext cx="2624328" cy="123444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82512" y="3493008"/>
            <a:ext cx="2221992" cy="182880"/>
          </a:xfrm>
          <a:prstGeom prst="rect">
            <a:avLst/>
          </a:prstGeom>
          <a:noFill/>
        </p:spPr>
        <p:txBody>
          <a:bodyPr wrap="square" lIns="0" rIns="0" tIns="0" bIns="0" anchor="t">
            <a:spAutoFit/>
          </a:bodyPr>
          <a:lstStyle/>
          <a:p>
            <a:pPr algn="l">
              <a:lnSpc>
                <a:spcPct val="125000"/>
              </a:lnSpc>
              <a:spcAft>
                <a:spcPts val="600"/>
              </a:spcAft>
            </a:pPr>
            <a:r>
              <a:rPr sz="950" b="1">
                <a:solidFill>
                  <a:srgbClr val="8A99AD"/>
                </a:solidFill>
                <a:latin typeface="Arial"/>
              </a:rPr>
              <a:t>CALIBRATION ECE</a:t>
            </a:r>
          </a:p>
        </p:txBody>
      </p:sp>
      <p:sp>
        <p:nvSpPr>
          <p:cNvPr id="32" name="TextBox 31"/>
          <p:cNvSpPr txBox="1"/>
          <p:nvPr/>
        </p:nvSpPr>
        <p:spPr>
          <a:xfrm>
            <a:off x="6382512" y="3730752"/>
            <a:ext cx="2221992" cy="457200"/>
          </a:xfrm>
          <a:prstGeom prst="rect">
            <a:avLst/>
          </a:prstGeom>
          <a:noFill/>
        </p:spPr>
        <p:txBody>
          <a:bodyPr wrap="square" lIns="0" rIns="0" tIns="0" bIns="0" anchor="t">
            <a:spAutoFit/>
          </a:bodyPr>
          <a:lstStyle/>
          <a:p>
            <a:pPr algn="l">
              <a:lnSpc>
                <a:spcPct val="100000"/>
              </a:lnSpc>
              <a:spcAft>
                <a:spcPts val="600"/>
              </a:spcAft>
            </a:pPr>
            <a:r>
              <a:rPr sz="3000" b="1">
                <a:solidFill>
                  <a:srgbClr val="60A5FA"/>
                </a:solidFill>
                <a:latin typeface="Arial"/>
              </a:rPr>
              <a:t>0.0038</a:t>
            </a:r>
          </a:p>
        </p:txBody>
      </p:sp>
      <p:sp>
        <p:nvSpPr>
          <p:cNvPr id="33" name="TextBox 32"/>
          <p:cNvSpPr txBox="1"/>
          <p:nvPr/>
        </p:nvSpPr>
        <p:spPr>
          <a:xfrm>
            <a:off x="6382512" y="4197096"/>
            <a:ext cx="2221992" cy="274320"/>
          </a:xfrm>
          <a:prstGeom prst="rect">
            <a:avLst/>
          </a:prstGeom>
          <a:noFill/>
        </p:spPr>
        <p:txBody>
          <a:bodyPr wrap="square" lIns="0" rIns="0" tIns="0" bIns="0" anchor="t">
            <a:spAutoFit/>
          </a:bodyPr>
          <a:lstStyle/>
          <a:p>
            <a:pPr algn="l">
              <a:lnSpc>
                <a:spcPct val="120000"/>
              </a:lnSpc>
              <a:spcAft>
                <a:spcPts val="600"/>
              </a:spcAft>
            </a:pPr>
            <a:r>
              <a:rPr sz="950" b="0">
                <a:solidFill>
                  <a:srgbClr val="8A99AD"/>
                </a:solidFill>
                <a:latin typeface="Arial"/>
              </a:rPr>
              <a:t>10-bin · Brier 0.00445</a:t>
            </a:r>
          </a:p>
        </p:txBody>
      </p:sp>
      <p:sp>
        <p:nvSpPr>
          <p:cNvPr id="34" name="Rounded Rectangle 33"/>
          <p:cNvSpPr/>
          <p:nvPr/>
        </p:nvSpPr>
        <p:spPr>
          <a:xfrm>
            <a:off x="8951976" y="3346704"/>
            <a:ext cx="2624328" cy="123444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153144" y="3493008"/>
            <a:ext cx="2221992" cy="182880"/>
          </a:xfrm>
          <a:prstGeom prst="rect">
            <a:avLst/>
          </a:prstGeom>
          <a:noFill/>
        </p:spPr>
        <p:txBody>
          <a:bodyPr wrap="square" lIns="0" rIns="0" tIns="0" bIns="0" anchor="t">
            <a:spAutoFit/>
          </a:bodyPr>
          <a:lstStyle/>
          <a:p>
            <a:pPr algn="l">
              <a:lnSpc>
                <a:spcPct val="125000"/>
              </a:lnSpc>
              <a:spcAft>
                <a:spcPts val="600"/>
              </a:spcAft>
            </a:pPr>
            <a:r>
              <a:rPr sz="950" b="1">
                <a:solidFill>
                  <a:srgbClr val="8A99AD"/>
                </a:solidFill>
                <a:latin typeface="Arial"/>
              </a:rPr>
              <a:t>ROC-AUC</a:t>
            </a:r>
          </a:p>
        </p:txBody>
      </p:sp>
      <p:sp>
        <p:nvSpPr>
          <p:cNvPr id="36" name="TextBox 35"/>
          <p:cNvSpPr txBox="1"/>
          <p:nvPr/>
        </p:nvSpPr>
        <p:spPr>
          <a:xfrm>
            <a:off x="9153144" y="3730752"/>
            <a:ext cx="2221992" cy="457200"/>
          </a:xfrm>
          <a:prstGeom prst="rect">
            <a:avLst/>
          </a:prstGeom>
          <a:noFill/>
        </p:spPr>
        <p:txBody>
          <a:bodyPr wrap="square" lIns="0" rIns="0" tIns="0" bIns="0" anchor="t">
            <a:spAutoFit/>
          </a:bodyPr>
          <a:lstStyle/>
          <a:p>
            <a:pPr algn="l">
              <a:lnSpc>
                <a:spcPct val="100000"/>
              </a:lnSpc>
              <a:spcAft>
                <a:spcPts val="600"/>
              </a:spcAft>
            </a:pPr>
            <a:r>
              <a:rPr sz="3000" b="1">
                <a:solidFill>
                  <a:srgbClr val="8A99AD"/>
                </a:solidFill>
                <a:latin typeface="Arial"/>
              </a:rPr>
              <a:t>0.989</a:t>
            </a:r>
          </a:p>
        </p:txBody>
      </p:sp>
      <p:sp>
        <p:nvSpPr>
          <p:cNvPr id="37" name="TextBox 36"/>
          <p:cNvSpPr txBox="1"/>
          <p:nvPr/>
        </p:nvSpPr>
        <p:spPr>
          <a:xfrm>
            <a:off x="9153144" y="4197096"/>
            <a:ext cx="2221992" cy="274320"/>
          </a:xfrm>
          <a:prstGeom prst="rect">
            <a:avLst/>
          </a:prstGeom>
          <a:noFill/>
        </p:spPr>
        <p:txBody>
          <a:bodyPr wrap="square" lIns="0" rIns="0" tIns="0" bIns="0" anchor="t">
            <a:spAutoFit/>
          </a:bodyPr>
          <a:lstStyle/>
          <a:p>
            <a:pPr algn="l">
              <a:lnSpc>
                <a:spcPct val="120000"/>
              </a:lnSpc>
              <a:spcAft>
                <a:spcPts val="600"/>
              </a:spcAft>
            </a:pPr>
            <a:r>
              <a:rPr sz="950" b="0">
                <a:solidFill>
                  <a:srgbClr val="8A99AD"/>
                </a:solidFill>
                <a:latin typeface="Arial"/>
              </a:rPr>
              <a:t>reported for comparability only</a:t>
            </a:r>
          </a:p>
        </p:txBody>
      </p:sp>
      <p:sp>
        <p:nvSpPr>
          <p:cNvPr id="38" name="Rounded Rectangle 37"/>
          <p:cNvSpPr/>
          <p:nvPr/>
        </p:nvSpPr>
        <p:spPr>
          <a:xfrm>
            <a:off x="640080" y="4809744"/>
            <a:ext cx="10881360" cy="1051560"/>
          </a:xfrm>
          <a:prstGeom prst="roundRect">
            <a:avLst>
              <a:gd name="adj" fmla="val 4000"/>
            </a:avLst>
          </a:prstGeom>
          <a:solidFill>
            <a:srgbClr val="0C1428"/>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4400" y="4974336"/>
            <a:ext cx="10332720" cy="274320"/>
          </a:xfrm>
          <a:prstGeom prst="rect">
            <a:avLst/>
          </a:prstGeom>
          <a:noFill/>
        </p:spPr>
        <p:txBody>
          <a:bodyPr wrap="square" lIns="0" rIns="0" tIns="0" bIns="0" anchor="t">
            <a:spAutoFit/>
          </a:bodyPr>
          <a:lstStyle/>
          <a:p>
            <a:pPr algn="l">
              <a:lnSpc>
                <a:spcPct val="125000"/>
              </a:lnSpc>
              <a:spcAft>
                <a:spcPts val="600"/>
              </a:spcAft>
            </a:pPr>
            <a:r>
              <a:rPr sz="1300" b="1">
                <a:solidFill>
                  <a:srgbClr val="F59E0B"/>
                </a:solidFill>
                <a:latin typeface="Arial"/>
              </a:rPr>
              <a:t>Why PR-AUC and not accuracy</a:t>
            </a:r>
          </a:p>
        </p:txBody>
      </p:sp>
      <p:sp>
        <p:nvSpPr>
          <p:cNvPr id="40" name="TextBox 39"/>
          <p:cNvSpPr txBox="1"/>
          <p:nvPr/>
        </p:nvSpPr>
        <p:spPr>
          <a:xfrm>
            <a:off x="914400" y="5285232"/>
            <a:ext cx="10332720" cy="457200"/>
          </a:xfrm>
          <a:prstGeom prst="rect">
            <a:avLst/>
          </a:prstGeom>
          <a:noFill/>
        </p:spPr>
        <p:txBody>
          <a:bodyPr wrap="square" lIns="0" rIns="0" tIns="0" bIns="0" anchor="t">
            <a:spAutoFit/>
          </a:bodyPr>
          <a:lstStyle/>
          <a:p>
            <a:pPr algn="l">
              <a:lnSpc>
                <a:spcPct val="130000"/>
              </a:lnSpc>
              <a:spcAft>
                <a:spcPts val="600"/>
              </a:spcAft>
            </a:pPr>
            <a:r>
              <a:rPr sz="1200" b="0">
                <a:solidFill>
                  <a:srgbClr val="8A99AD"/>
                </a:solidFill>
                <a:latin typeface="Arial"/>
              </a:rPr>
              <a:t>At 2.98% test prevalence, a model that blocks nothing scores 97.0% accuracy. PR-AUC is the honest summary under imbalance; the confidence interval is bootstrapped. Calibration matters because a risk score is only useful to a downstream policy if 0.9 means 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228600"/>
          </a:xfrm>
          <a:prstGeom prst="rect">
            <a:avLst/>
          </a:prstGeom>
          <a:noFill/>
        </p:spPr>
        <p:txBody>
          <a:bodyPr wrap="square" lIns="0" rIns="0" tIns="0" bIns="0" anchor="t">
            <a:spAutoFit/>
          </a:bodyPr>
          <a:lstStyle/>
          <a:p>
            <a:pPr algn="l">
              <a:lnSpc>
                <a:spcPct val="125000"/>
              </a:lnSpc>
              <a:spcAft>
                <a:spcPts val="600"/>
              </a:spcAft>
            </a:pPr>
            <a:r>
              <a:rPr sz="1050" b="1">
                <a:solidFill>
                  <a:srgbClr val="60A5FA"/>
                </a:solidFill>
                <a:latin typeface="Arial"/>
              </a:rPr>
              <a:t>WHERE IT FAILS</a:t>
            </a:r>
          </a:p>
        </p:txBody>
      </p:sp>
      <p:sp>
        <p:nvSpPr>
          <p:cNvPr id="3" name="TextBox 2"/>
          <p:cNvSpPr txBox="1"/>
          <p:nvPr/>
        </p:nvSpPr>
        <p:spPr>
          <a:xfrm>
            <a:off x="640080" y="768096"/>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Worst-first, with the reason — not a cherry-picked table</a:t>
            </a:r>
          </a:p>
        </p:txBody>
      </p:sp>
      <p:sp>
        <p:nvSpPr>
          <p:cNvPr id="4" name="TextBox 3"/>
          <p:cNvSpPr txBox="1"/>
          <p:nvPr/>
        </p:nvSpPr>
        <p:spPr>
          <a:xfrm>
            <a:off x="640080" y="1335024"/>
            <a:ext cx="10607040" cy="365760"/>
          </a:xfrm>
          <a:prstGeom prst="rect">
            <a:avLst/>
          </a:prstGeom>
          <a:noFill/>
        </p:spPr>
        <p:txBody>
          <a:bodyPr wrap="square" lIns="0" rIns="0" tIns="0" bIns="0" anchor="t">
            <a:spAutoFit/>
          </a:bodyPr>
          <a:lstStyle/>
          <a:p>
            <a:pPr algn="l">
              <a:lnSpc>
                <a:spcPct val="130000"/>
              </a:lnSpc>
              <a:spcAft>
                <a:spcPts val="600"/>
              </a:spcAft>
            </a:pPr>
            <a:r>
              <a:rPr sz="1350" b="0">
                <a:solidFill>
                  <a:srgbClr val="8A99AD"/>
                </a:solidFill>
                <a:latin typeface="Arial"/>
              </a:rPr>
              <a:t>Per-attack recall measured at a 1% analyst review budget. Read the ceiling note before reading the rows.</a:t>
            </a:r>
          </a:p>
        </p:txBody>
      </p:sp>
      <p:sp>
        <p:nvSpPr>
          <p:cNvPr id="5" name="TextBox 4"/>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sp>
        <p:nvSpPr>
          <p:cNvPr id="6" name="Rounded Rectangle 5"/>
          <p:cNvSpPr/>
          <p:nvPr/>
        </p:nvSpPr>
        <p:spPr>
          <a:xfrm>
            <a:off x="640080" y="1901952"/>
            <a:ext cx="6766560" cy="288036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2084832"/>
            <a:ext cx="1463040" cy="228600"/>
          </a:xfrm>
          <a:prstGeom prst="rect">
            <a:avLst/>
          </a:prstGeom>
          <a:noFill/>
        </p:spPr>
        <p:txBody>
          <a:bodyPr wrap="square" lIns="0" rIns="0" tIns="0" bIns="0" anchor="t">
            <a:spAutoFit/>
          </a:bodyPr>
          <a:lstStyle/>
          <a:p>
            <a:pPr algn="l">
              <a:lnSpc>
                <a:spcPct val="125000"/>
              </a:lnSpc>
              <a:spcAft>
                <a:spcPts val="600"/>
              </a:spcAft>
            </a:pPr>
            <a:r>
              <a:rPr sz="900" b="1">
                <a:solidFill>
                  <a:srgbClr val="8A99AD"/>
                </a:solidFill>
                <a:latin typeface="Arial"/>
              </a:rPr>
              <a:t>VECTOR</a:t>
            </a:r>
          </a:p>
        </p:txBody>
      </p:sp>
      <p:sp>
        <p:nvSpPr>
          <p:cNvPr id="8" name="TextBox 7"/>
          <p:cNvSpPr txBox="1"/>
          <p:nvPr/>
        </p:nvSpPr>
        <p:spPr>
          <a:xfrm>
            <a:off x="3840480" y="2084832"/>
            <a:ext cx="1463040" cy="228600"/>
          </a:xfrm>
          <a:prstGeom prst="rect">
            <a:avLst/>
          </a:prstGeom>
          <a:noFill/>
        </p:spPr>
        <p:txBody>
          <a:bodyPr wrap="square" lIns="0" rIns="0" tIns="0" bIns="0" anchor="t">
            <a:spAutoFit/>
          </a:bodyPr>
          <a:lstStyle/>
          <a:p>
            <a:pPr algn="l">
              <a:lnSpc>
                <a:spcPct val="125000"/>
              </a:lnSpc>
              <a:spcAft>
                <a:spcPts val="600"/>
              </a:spcAft>
            </a:pPr>
            <a:r>
              <a:rPr sz="900" b="1">
                <a:solidFill>
                  <a:srgbClr val="8A99AD"/>
                </a:solidFill>
                <a:latin typeface="Arial"/>
              </a:rPr>
              <a:t>RECALL @1%</a:t>
            </a:r>
          </a:p>
        </p:txBody>
      </p:sp>
      <p:sp>
        <p:nvSpPr>
          <p:cNvPr id="9" name="TextBox 8"/>
          <p:cNvSpPr txBox="1"/>
          <p:nvPr/>
        </p:nvSpPr>
        <p:spPr>
          <a:xfrm>
            <a:off x="5074920" y="2084832"/>
            <a:ext cx="1463040" cy="228600"/>
          </a:xfrm>
          <a:prstGeom prst="rect">
            <a:avLst/>
          </a:prstGeom>
          <a:noFill/>
        </p:spPr>
        <p:txBody>
          <a:bodyPr wrap="square" lIns="0" rIns="0" tIns="0" bIns="0" anchor="t">
            <a:spAutoFit/>
          </a:bodyPr>
          <a:lstStyle/>
          <a:p>
            <a:pPr algn="l">
              <a:lnSpc>
                <a:spcPct val="125000"/>
              </a:lnSpc>
              <a:spcAft>
                <a:spcPts val="600"/>
              </a:spcAft>
            </a:pPr>
            <a:r>
              <a:rPr sz="900" b="1">
                <a:solidFill>
                  <a:srgbClr val="8A99AD"/>
                </a:solidFill>
                <a:latin typeface="Arial"/>
              </a:rPr>
              <a:t>MEAN RISK</a:t>
            </a:r>
          </a:p>
        </p:txBody>
      </p:sp>
      <p:sp>
        <p:nvSpPr>
          <p:cNvPr id="10" name="TextBox 9"/>
          <p:cNvSpPr txBox="1"/>
          <p:nvPr/>
        </p:nvSpPr>
        <p:spPr>
          <a:xfrm>
            <a:off x="6172200" y="2084832"/>
            <a:ext cx="1463040" cy="228600"/>
          </a:xfrm>
          <a:prstGeom prst="rect">
            <a:avLst/>
          </a:prstGeom>
          <a:noFill/>
        </p:spPr>
        <p:txBody>
          <a:bodyPr wrap="square" lIns="0" rIns="0" tIns="0" bIns="0" anchor="t">
            <a:spAutoFit/>
          </a:bodyPr>
          <a:lstStyle/>
          <a:p>
            <a:pPr algn="l">
              <a:lnSpc>
                <a:spcPct val="125000"/>
              </a:lnSpc>
              <a:spcAft>
                <a:spcPts val="600"/>
              </a:spcAft>
            </a:pPr>
            <a:r>
              <a:rPr sz="900" b="1">
                <a:solidFill>
                  <a:srgbClr val="8A99AD"/>
                </a:solidFill>
                <a:latin typeface="Arial"/>
              </a:rPr>
              <a:t>HARD BY DESIGN</a:t>
            </a:r>
          </a:p>
        </p:txBody>
      </p:sp>
      <p:sp>
        <p:nvSpPr>
          <p:cNvPr id="11" name="TextBox 10"/>
          <p:cNvSpPr txBox="1"/>
          <p:nvPr/>
        </p:nvSpPr>
        <p:spPr>
          <a:xfrm>
            <a:off x="914400" y="2404872"/>
            <a:ext cx="283464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REFUND_ABUSE_COLLUSION</a:t>
            </a:r>
          </a:p>
        </p:txBody>
      </p:sp>
      <p:sp>
        <p:nvSpPr>
          <p:cNvPr id="12" name="TextBox 11"/>
          <p:cNvSpPr txBox="1"/>
          <p:nvPr/>
        </p:nvSpPr>
        <p:spPr>
          <a:xfrm>
            <a:off x="3840480" y="2404872"/>
            <a:ext cx="1097280" cy="274320"/>
          </a:xfrm>
          <a:prstGeom prst="rect">
            <a:avLst/>
          </a:prstGeom>
          <a:noFill/>
        </p:spPr>
        <p:txBody>
          <a:bodyPr wrap="square" lIns="0" rIns="0" tIns="0" bIns="0" anchor="t">
            <a:spAutoFit/>
          </a:bodyPr>
          <a:lstStyle/>
          <a:p>
            <a:pPr algn="l">
              <a:lnSpc>
                <a:spcPct val="125000"/>
              </a:lnSpc>
              <a:spcAft>
                <a:spcPts val="600"/>
              </a:spcAft>
            </a:pPr>
            <a:r>
              <a:rPr sz="1100" b="1">
                <a:solidFill>
                  <a:srgbClr val="F1554F"/>
                </a:solidFill>
                <a:latin typeface="Arial"/>
              </a:rPr>
              <a:t>0.000</a:t>
            </a:r>
          </a:p>
        </p:txBody>
      </p:sp>
      <p:sp>
        <p:nvSpPr>
          <p:cNvPr id="13" name="TextBox 12"/>
          <p:cNvSpPr txBox="1"/>
          <p:nvPr/>
        </p:nvSpPr>
        <p:spPr>
          <a:xfrm>
            <a:off x="5074920" y="2404872"/>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0.846</a:t>
            </a:r>
          </a:p>
        </p:txBody>
      </p:sp>
      <p:sp>
        <p:nvSpPr>
          <p:cNvPr id="14" name="TextBox 13"/>
          <p:cNvSpPr txBox="1"/>
          <p:nvPr/>
        </p:nvSpPr>
        <p:spPr>
          <a:xfrm>
            <a:off x="6172200" y="2404872"/>
            <a:ext cx="1280160" cy="274320"/>
          </a:xfrm>
          <a:prstGeom prst="rect">
            <a:avLst/>
          </a:prstGeom>
          <a:noFill/>
        </p:spPr>
        <p:txBody>
          <a:bodyPr wrap="square" lIns="0" rIns="0" tIns="0" bIns="0" anchor="t">
            <a:spAutoFit/>
          </a:bodyPr>
          <a:lstStyle/>
          <a:p>
            <a:pPr algn="l">
              <a:lnSpc>
                <a:spcPct val="125000"/>
              </a:lnSpc>
              <a:spcAft>
                <a:spcPts val="600"/>
              </a:spcAft>
            </a:pPr>
            <a:r>
              <a:rPr sz="1100" b="0">
                <a:solidFill>
                  <a:srgbClr val="5A687A"/>
                </a:solidFill>
                <a:latin typeface="Arial"/>
              </a:rPr>
              <a:t>no</a:t>
            </a:r>
          </a:p>
        </p:txBody>
      </p:sp>
      <p:sp>
        <p:nvSpPr>
          <p:cNvPr id="15" name="TextBox 14"/>
          <p:cNvSpPr txBox="1"/>
          <p:nvPr/>
        </p:nvSpPr>
        <p:spPr>
          <a:xfrm>
            <a:off x="914400" y="2779776"/>
            <a:ext cx="283464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ADAPTIVE_MIMICRY</a:t>
            </a:r>
          </a:p>
        </p:txBody>
      </p:sp>
      <p:sp>
        <p:nvSpPr>
          <p:cNvPr id="16" name="TextBox 15"/>
          <p:cNvSpPr txBox="1"/>
          <p:nvPr/>
        </p:nvSpPr>
        <p:spPr>
          <a:xfrm>
            <a:off x="3840480" y="2779776"/>
            <a:ext cx="1097280" cy="274320"/>
          </a:xfrm>
          <a:prstGeom prst="rect">
            <a:avLst/>
          </a:prstGeom>
          <a:noFill/>
        </p:spPr>
        <p:txBody>
          <a:bodyPr wrap="square" lIns="0" rIns="0" tIns="0" bIns="0" anchor="t">
            <a:spAutoFit/>
          </a:bodyPr>
          <a:lstStyle/>
          <a:p>
            <a:pPr algn="l">
              <a:lnSpc>
                <a:spcPct val="125000"/>
              </a:lnSpc>
              <a:spcAft>
                <a:spcPts val="600"/>
              </a:spcAft>
            </a:pPr>
            <a:r>
              <a:rPr sz="1100" b="1">
                <a:solidFill>
                  <a:srgbClr val="F1554F"/>
                </a:solidFill>
                <a:latin typeface="Arial"/>
              </a:rPr>
              <a:t>0.015</a:t>
            </a:r>
          </a:p>
        </p:txBody>
      </p:sp>
      <p:sp>
        <p:nvSpPr>
          <p:cNvPr id="17" name="TextBox 16"/>
          <p:cNvSpPr txBox="1"/>
          <p:nvPr/>
        </p:nvSpPr>
        <p:spPr>
          <a:xfrm>
            <a:off x="5074920" y="2779776"/>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0.224</a:t>
            </a:r>
          </a:p>
        </p:txBody>
      </p:sp>
      <p:sp>
        <p:nvSpPr>
          <p:cNvPr id="18" name="TextBox 17"/>
          <p:cNvSpPr txBox="1"/>
          <p:nvPr/>
        </p:nvSpPr>
        <p:spPr>
          <a:xfrm>
            <a:off x="6172200" y="2779776"/>
            <a:ext cx="1280160" cy="274320"/>
          </a:xfrm>
          <a:prstGeom prst="rect">
            <a:avLst/>
          </a:prstGeom>
          <a:noFill/>
        </p:spPr>
        <p:txBody>
          <a:bodyPr wrap="square" lIns="0" rIns="0" tIns="0" bIns="0" anchor="t">
            <a:spAutoFit/>
          </a:bodyPr>
          <a:lstStyle/>
          <a:p>
            <a:pPr algn="l">
              <a:lnSpc>
                <a:spcPct val="125000"/>
              </a:lnSpc>
              <a:spcAft>
                <a:spcPts val="600"/>
              </a:spcAft>
            </a:pPr>
            <a:r>
              <a:rPr sz="1100" b="0">
                <a:solidFill>
                  <a:srgbClr val="A78BFA"/>
                </a:solidFill>
                <a:latin typeface="Arial"/>
              </a:rPr>
              <a:t>yes</a:t>
            </a:r>
          </a:p>
        </p:txBody>
      </p:sp>
      <p:sp>
        <p:nvSpPr>
          <p:cNvPr id="19" name="TextBox 18"/>
          <p:cNvSpPr txBox="1"/>
          <p:nvPr/>
        </p:nvSpPr>
        <p:spPr>
          <a:xfrm>
            <a:off x="914400" y="3154680"/>
            <a:ext cx="283464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SIM_SWAP_OTP</a:t>
            </a:r>
          </a:p>
        </p:txBody>
      </p:sp>
      <p:sp>
        <p:nvSpPr>
          <p:cNvPr id="20" name="TextBox 19"/>
          <p:cNvSpPr txBox="1"/>
          <p:nvPr/>
        </p:nvSpPr>
        <p:spPr>
          <a:xfrm>
            <a:off x="3840480" y="3154680"/>
            <a:ext cx="1097280" cy="274320"/>
          </a:xfrm>
          <a:prstGeom prst="rect">
            <a:avLst/>
          </a:prstGeom>
          <a:noFill/>
        </p:spPr>
        <p:txBody>
          <a:bodyPr wrap="square" lIns="0" rIns="0" tIns="0" bIns="0" anchor="t">
            <a:spAutoFit/>
          </a:bodyPr>
          <a:lstStyle/>
          <a:p>
            <a:pPr algn="l">
              <a:lnSpc>
                <a:spcPct val="125000"/>
              </a:lnSpc>
              <a:spcAft>
                <a:spcPts val="600"/>
              </a:spcAft>
            </a:pPr>
            <a:r>
              <a:rPr sz="1100" b="1">
                <a:solidFill>
                  <a:srgbClr val="F1554F"/>
                </a:solidFill>
                <a:latin typeface="Arial"/>
              </a:rPr>
              <a:t>0.042</a:t>
            </a:r>
          </a:p>
        </p:txBody>
      </p:sp>
      <p:sp>
        <p:nvSpPr>
          <p:cNvPr id="21" name="TextBox 20"/>
          <p:cNvSpPr txBox="1"/>
          <p:nvPr/>
        </p:nvSpPr>
        <p:spPr>
          <a:xfrm>
            <a:off x="5074920" y="3154680"/>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0.272</a:t>
            </a:r>
          </a:p>
        </p:txBody>
      </p:sp>
      <p:sp>
        <p:nvSpPr>
          <p:cNvPr id="22" name="TextBox 21"/>
          <p:cNvSpPr txBox="1"/>
          <p:nvPr/>
        </p:nvSpPr>
        <p:spPr>
          <a:xfrm>
            <a:off x="6172200" y="3154680"/>
            <a:ext cx="1280160" cy="274320"/>
          </a:xfrm>
          <a:prstGeom prst="rect">
            <a:avLst/>
          </a:prstGeom>
          <a:noFill/>
        </p:spPr>
        <p:txBody>
          <a:bodyPr wrap="square" lIns="0" rIns="0" tIns="0" bIns="0" anchor="t">
            <a:spAutoFit/>
          </a:bodyPr>
          <a:lstStyle/>
          <a:p>
            <a:pPr algn="l">
              <a:lnSpc>
                <a:spcPct val="125000"/>
              </a:lnSpc>
              <a:spcAft>
                <a:spcPts val="600"/>
              </a:spcAft>
            </a:pPr>
            <a:r>
              <a:rPr sz="1100" b="0">
                <a:solidFill>
                  <a:srgbClr val="A78BFA"/>
                </a:solidFill>
                <a:latin typeface="Arial"/>
              </a:rPr>
              <a:t>yes</a:t>
            </a:r>
          </a:p>
        </p:txBody>
      </p:sp>
      <p:sp>
        <p:nvSpPr>
          <p:cNvPr id="23" name="TextBox 22"/>
          <p:cNvSpPr txBox="1"/>
          <p:nvPr/>
        </p:nvSpPr>
        <p:spPr>
          <a:xfrm>
            <a:off x="914400" y="3529584"/>
            <a:ext cx="283464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DEEPFAKE_KYC_ONBOARD</a:t>
            </a:r>
          </a:p>
        </p:txBody>
      </p:sp>
      <p:sp>
        <p:nvSpPr>
          <p:cNvPr id="24" name="TextBox 23"/>
          <p:cNvSpPr txBox="1"/>
          <p:nvPr/>
        </p:nvSpPr>
        <p:spPr>
          <a:xfrm>
            <a:off x="3840480" y="3529584"/>
            <a:ext cx="1097280" cy="274320"/>
          </a:xfrm>
          <a:prstGeom prst="rect">
            <a:avLst/>
          </a:prstGeom>
          <a:noFill/>
        </p:spPr>
        <p:txBody>
          <a:bodyPr wrap="square" lIns="0" rIns="0" tIns="0" bIns="0" anchor="t">
            <a:spAutoFit/>
          </a:bodyPr>
          <a:lstStyle/>
          <a:p>
            <a:pPr algn="l">
              <a:lnSpc>
                <a:spcPct val="125000"/>
              </a:lnSpc>
              <a:spcAft>
                <a:spcPts val="600"/>
              </a:spcAft>
            </a:pPr>
            <a:r>
              <a:rPr sz="1100" b="1">
                <a:solidFill>
                  <a:srgbClr val="F59E0B"/>
                </a:solidFill>
                <a:latin typeface="Arial"/>
              </a:rPr>
              <a:t>0.825</a:t>
            </a:r>
          </a:p>
        </p:txBody>
      </p:sp>
      <p:sp>
        <p:nvSpPr>
          <p:cNvPr id="25" name="TextBox 24"/>
          <p:cNvSpPr txBox="1"/>
          <p:nvPr/>
        </p:nvSpPr>
        <p:spPr>
          <a:xfrm>
            <a:off x="5074920" y="3529584"/>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0.984</a:t>
            </a:r>
          </a:p>
        </p:txBody>
      </p:sp>
      <p:sp>
        <p:nvSpPr>
          <p:cNvPr id="26" name="TextBox 25"/>
          <p:cNvSpPr txBox="1"/>
          <p:nvPr/>
        </p:nvSpPr>
        <p:spPr>
          <a:xfrm>
            <a:off x="6172200" y="3529584"/>
            <a:ext cx="1280160" cy="274320"/>
          </a:xfrm>
          <a:prstGeom prst="rect">
            <a:avLst/>
          </a:prstGeom>
          <a:noFill/>
        </p:spPr>
        <p:txBody>
          <a:bodyPr wrap="square" lIns="0" rIns="0" tIns="0" bIns="0" anchor="t">
            <a:spAutoFit/>
          </a:bodyPr>
          <a:lstStyle/>
          <a:p>
            <a:pPr algn="l">
              <a:lnSpc>
                <a:spcPct val="125000"/>
              </a:lnSpc>
              <a:spcAft>
                <a:spcPts val="600"/>
              </a:spcAft>
            </a:pPr>
            <a:r>
              <a:rPr sz="1100" b="0">
                <a:solidFill>
                  <a:srgbClr val="5A687A"/>
                </a:solidFill>
                <a:latin typeface="Arial"/>
              </a:rPr>
              <a:t>no</a:t>
            </a:r>
          </a:p>
        </p:txBody>
      </p:sp>
      <p:sp>
        <p:nvSpPr>
          <p:cNvPr id="27" name="TextBox 26"/>
          <p:cNvSpPr txBox="1"/>
          <p:nvPr/>
        </p:nvSpPr>
        <p:spPr>
          <a:xfrm>
            <a:off x="914400" y="3904488"/>
            <a:ext cx="283464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TRA_THRESHOLD_GAMING</a:t>
            </a:r>
          </a:p>
        </p:txBody>
      </p:sp>
      <p:sp>
        <p:nvSpPr>
          <p:cNvPr id="28" name="TextBox 27"/>
          <p:cNvSpPr txBox="1"/>
          <p:nvPr/>
        </p:nvSpPr>
        <p:spPr>
          <a:xfrm>
            <a:off x="3840480" y="3904488"/>
            <a:ext cx="1097280" cy="274320"/>
          </a:xfrm>
          <a:prstGeom prst="rect">
            <a:avLst/>
          </a:prstGeom>
          <a:noFill/>
        </p:spPr>
        <p:txBody>
          <a:bodyPr wrap="square" lIns="0" rIns="0" tIns="0" bIns="0" anchor="t">
            <a:spAutoFit/>
          </a:bodyPr>
          <a:lstStyle/>
          <a:p>
            <a:pPr algn="l">
              <a:lnSpc>
                <a:spcPct val="125000"/>
              </a:lnSpc>
              <a:spcAft>
                <a:spcPts val="600"/>
              </a:spcAft>
            </a:pPr>
            <a:r>
              <a:rPr sz="1100" b="1">
                <a:solidFill>
                  <a:srgbClr val="F59E0B"/>
                </a:solidFill>
                <a:latin typeface="Arial"/>
              </a:rPr>
              <a:t>0.854</a:t>
            </a:r>
          </a:p>
        </p:txBody>
      </p:sp>
      <p:sp>
        <p:nvSpPr>
          <p:cNvPr id="29" name="TextBox 28"/>
          <p:cNvSpPr txBox="1"/>
          <p:nvPr/>
        </p:nvSpPr>
        <p:spPr>
          <a:xfrm>
            <a:off x="5074920" y="3904488"/>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0.995</a:t>
            </a:r>
          </a:p>
        </p:txBody>
      </p:sp>
      <p:sp>
        <p:nvSpPr>
          <p:cNvPr id="30" name="TextBox 29"/>
          <p:cNvSpPr txBox="1"/>
          <p:nvPr/>
        </p:nvSpPr>
        <p:spPr>
          <a:xfrm>
            <a:off x="6172200" y="3904488"/>
            <a:ext cx="1280160" cy="274320"/>
          </a:xfrm>
          <a:prstGeom prst="rect">
            <a:avLst/>
          </a:prstGeom>
          <a:noFill/>
        </p:spPr>
        <p:txBody>
          <a:bodyPr wrap="square" lIns="0" rIns="0" tIns="0" bIns="0" anchor="t">
            <a:spAutoFit/>
          </a:bodyPr>
          <a:lstStyle/>
          <a:p>
            <a:pPr algn="l">
              <a:lnSpc>
                <a:spcPct val="125000"/>
              </a:lnSpc>
              <a:spcAft>
                <a:spcPts val="600"/>
              </a:spcAft>
            </a:pPr>
            <a:r>
              <a:rPr sz="1100" b="0">
                <a:solidFill>
                  <a:srgbClr val="A78BFA"/>
                </a:solidFill>
                <a:latin typeface="Arial"/>
              </a:rPr>
              <a:t>yes</a:t>
            </a:r>
          </a:p>
        </p:txBody>
      </p:sp>
      <p:sp>
        <p:nvSpPr>
          <p:cNvPr id="31" name="TextBox 30"/>
          <p:cNvSpPr txBox="1"/>
          <p:nvPr/>
        </p:nvSpPr>
        <p:spPr>
          <a:xfrm>
            <a:off x="914400" y="4279392"/>
            <a:ext cx="283464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VOICE_CLONE_ATO</a:t>
            </a:r>
          </a:p>
        </p:txBody>
      </p:sp>
      <p:sp>
        <p:nvSpPr>
          <p:cNvPr id="32" name="TextBox 31"/>
          <p:cNvSpPr txBox="1"/>
          <p:nvPr/>
        </p:nvSpPr>
        <p:spPr>
          <a:xfrm>
            <a:off x="3840480" y="4279392"/>
            <a:ext cx="1097280" cy="274320"/>
          </a:xfrm>
          <a:prstGeom prst="rect">
            <a:avLst/>
          </a:prstGeom>
          <a:noFill/>
        </p:spPr>
        <p:txBody>
          <a:bodyPr wrap="square" lIns="0" rIns="0" tIns="0" bIns="0" anchor="t">
            <a:spAutoFit/>
          </a:bodyPr>
          <a:lstStyle/>
          <a:p>
            <a:pPr algn="l">
              <a:lnSpc>
                <a:spcPct val="125000"/>
              </a:lnSpc>
              <a:spcAft>
                <a:spcPts val="600"/>
              </a:spcAft>
            </a:pPr>
            <a:r>
              <a:rPr sz="1100" b="1">
                <a:solidFill>
                  <a:srgbClr val="F59E0B"/>
                </a:solidFill>
                <a:latin typeface="Arial"/>
              </a:rPr>
              <a:t>0.893</a:t>
            </a:r>
          </a:p>
        </p:txBody>
      </p:sp>
      <p:sp>
        <p:nvSpPr>
          <p:cNvPr id="33" name="TextBox 32"/>
          <p:cNvSpPr txBox="1"/>
          <p:nvPr/>
        </p:nvSpPr>
        <p:spPr>
          <a:xfrm>
            <a:off x="5074920" y="4279392"/>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0.996</a:t>
            </a:r>
          </a:p>
        </p:txBody>
      </p:sp>
      <p:sp>
        <p:nvSpPr>
          <p:cNvPr id="34" name="TextBox 33"/>
          <p:cNvSpPr txBox="1"/>
          <p:nvPr/>
        </p:nvSpPr>
        <p:spPr>
          <a:xfrm>
            <a:off x="6172200" y="4279392"/>
            <a:ext cx="1280160" cy="274320"/>
          </a:xfrm>
          <a:prstGeom prst="rect">
            <a:avLst/>
          </a:prstGeom>
          <a:noFill/>
        </p:spPr>
        <p:txBody>
          <a:bodyPr wrap="square" lIns="0" rIns="0" tIns="0" bIns="0" anchor="t">
            <a:spAutoFit/>
          </a:bodyPr>
          <a:lstStyle/>
          <a:p>
            <a:pPr algn="l">
              <a:lnSpc>
                <a:spcPct val="125000"/>
              </a:lnSpc>
              <a:spcAft>
                <a:spcPts val="600"/>
              </a:spcAft>
            </a:pPr>
            <a:r>
              <a:rPr sz="1100" b="0">
                <a:solidFill>
                  <a:srgbClr val="5A687A"/>
                </a:solidFill>
                <a:latin typeface="Arial"/>
              </a:rPr>
              <a:t>no</a:t>
            </a:r>
          </a:p>
        </p:txBody>
      </p:sp>
      <p:sp>
        <p:nvSpPr>
          <p:cNvPr id="35" name="Rounded Rectangle 34"/>
          <p:cNvSpPr/>
          <p:nvPr/>
        </p:nvSpPr>
        <p:spPr>
          <a:xfrm>
            <a:off x="7680960" y="1901952"/>
            <a:ext cx="3840480" cy="2880360"/>
          </a:xfrm>
          <a:prstGeom prst="roundRect">
            <a:avLst>
              <a:gd name="adj" fmla="val 4000"/>
            </a:avLst>
          </a:prstGeom>
          <a:solidFill>
            <a:srgbClr val="1A0E0E"/>
          </a:solidFill>
          <a:ln w="9525">
            <a:solidFill>
              <a:srgbClr val="F155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955280" y="2103120"/>
            <a:ext cx="3291840" cy="274320"/>
          </a:xfrm>
          <a:prstGeom prst="rect">
            <a:avLst/>
          </a:prstGeom>
          <a:noFill/>
        </p:spPr>
        <p:txBody>
          <a:bodyPr wrap="square" lIns="0" rIns="0" tIns="0" bIns="0" anchor="t">
            <a:spAutoFit/>
          </a:bodyPr>
          <a:lstStyle/>
          <a:p>
            <a:pPr algn="l">
              <a:lnSpc>
                <a:spcPct val="125000"/>
              </a:lnSpc>
              <a:spcAft>
                <a:spcPts val="600"/>
              </a:spcAft>
            </a:pPr>
            <a:r>
              <a:rPr sz="1300" b="1">
                <a:solidFill>
                  <a:srgbClr val="F1554F"/>
                </a:solidFill>
                <a:latin typeface="Arial"/>
              </a:rPr>
              <a:t>Read this first</a:t>
            </a:r>
          </a:p>
        </p:txBody>
      </p:sp>
      <p:sp>
        <p:nvSpPr>
          <p:cNvPr id="37" name="TextBox 36"/>
          <p:cNvSpPr txBox="1"/>
          <p:nvPr/>
        </p:nvSpPr>
        <p:spPr>
          <a:xfrm>
            <a:off x="7955280" y="2468880"/>
            <a:ext cx="3291840" cy="2103120"/>
          </a:xfrm>
          <a:prstGeom prst="rect">
            <a:avLst/>
          </a:prstGeom>
          <a:noFill/>
        </p:spPr>
        <p:txBody>
          <a:bodyPr wrap="square" lIns="0" rIns="0" tIns="0" bIns="0" anchor="t">
            <a:spAutoFit/>
          </a:bodyPr>
          <a:lstStyle/>
          <a:p>
            <a:pPr algn="l">
              <a:lnSpc>
                <a:spcPct val="130000"/>
              </a:lnSpc>
              <a:spcAft>
                <a:spcPts val="600"/>
              </a:spcAft>
            </a:pPr>
            <a:r>
              <a:rPr sz="1150" b="0">
                <a:solidFill>
                  <a:srgbClr val="E6EDF7"/>
                </a:solidFill>
                <a:latin typeface="Arial"/>
              </a:rPr>
              <a:t>At a 1% alert budget and 2.98% prevalence, the maximum recall ANY detector could reach is 0.336. We reach 0.334 — 99.3% of the mathematical ceiling.</a:t>
            </a:r>
          </a:p>
          <a:p>
            <a:pPr algn="l">
              <a:lnSpc>
                <a:spcPct val="130000"/>
              </a:lnSpc>
              <a:spcAft>
                <a:spcPts val="600"/>
              </a:spcAft>
            </a:pPr>
            <a:r>
              <a:rPr sz="1150" b="0">
                <a:solidFill>
                  <a:srgbClr val="8A99AD"/>
                </a:solidFill>
                <a:latin typeface="Arial"/>
              </a:rPr>
              <a:t>So a 0.000 row means 'did not survive the queue', not 'invisible to the model' — note the mean-risk column ranks them well above baseline.</a:t>
            </a:r>
          </a:p>
          <a:p>
            <a:pPr algn="l">
              <a:lnSpc>
                <a:spcPct val="130000"/>
              </a:lnSpc>
              <a:spcAft>
                <a:spcPts val="600"/>
              </a:spcAft>
            </a:pPr>
            <a:r>
              <a:rPr sz="1150" b="1">
                <a:solidFill>
                  <a:srgbClr val="34D399"/>
                </a:solidFill>
                <a:latin typeface="Arial"/>
              </a:rPr>
              <a:t>Budget sized to prevalence instead: recall 0.909 at precision 0.909.</a:t>
            </a:r>
          </a:p>
        </p:txBody>
      </p:sp>
      <p:sp>
        <p:nvSpPr>
          <p:cNvPr id="38" name="Rounded Rectangle 37"/>
          <p:cNvSpPr/>
          <p:nvPr/>
        </p:nvSpPr>
        <p:spPr>
          <a:xfrm>
            <a:off x="640080" y="5486400"/>
            <a:ext cx="10881360" cy="74980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4400" y="5632704"/>
            <a:ext cx="10332720" cy="502920"/>
          </a:xfrm>
          <a:prstGeom prst="rect">
            <a:avLst/>
          </a:prstGeom>
          <a:noFill/>
        </p:spPr>
        <p:txBody>
          <a:bodyPr wrap="square" lIns="0" rIns="0" tIns="0" bIns="0" anchor="t">
            <a:spAutoFit/>
          </a:bodyPr>
          <a:lstStyle/>
          <a:p>
            <a:pPr algn="l">
              <a:lnSpc>
                <a:spcPct val="130000"/>
              </a:lnSpc>
              <a:spcAft>
                <a:spcPts val="600"/>
              </a:spcAft>
            </a:pPr>
            <a:r>
              <a:rPr sz="1150" b="0">
                <a:solidFill>
                  <a:srgbClr val="8A99AD"/>
                </a:solidFill>
                <a:latin typeface="Arial"/>
              </a:rPr>
              <a:t>Also stated plainly: synthetic prevalence is 3.83% versus roughly 0.1–1% in live card portfolios — necessary to train 25 vectors, but it means threshold-dependent figures would shift in production. PR-AUC, calibration and latency are the transferable ones. We do not claim per-row attribution inside the boosted component; model importance is reported globally and labelled as global.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228600"/>
          </a:xfrm>
          <a:prstGeom prst="rect">
            <a:avLst/>
          </a:prstGeom>
          <a:noFill/>
        </p:spPr>
        <p:txBody>
          <a:bodyPr wrap="square" lIns="0" rIns="0" tIns="0" bIns="0" anchor="t">
            <a:spAutoFit/>
          </a:bodyPr>
          <a:lstStyle/>
          <a:p>
            <a:pPr algn="l">
              <a:lnSpc>
                <a:spcPct val="125000"/>
              </a:lnSpc>
              <a:spcAft>
                <a:spcPts val="600"/>
              </a:spcAft>
            </a:pPr>
            <a:r>
              <a:rPr sz="1050" b="1">
                <a:solidFill>
                  <a:srgbClr val="60A5FA"/>
                </a:solidFill>
                <a:latin typeface="Arial"/>
              </a:rPr>
              <a:t>JUDGED ON: NOVELTY</a:t>
            </a:r>
          </a:p>
        </p:txBody>
      </p:sp>
      <p:sp>
        <p:nvSpPr>
          <p:cNvPr id="3" name="TextBox 2"/>
          <p:cNvSpPr txBox="1"/>
          <p:nvPr/>
        </p:nvSpPr>
        <p:spPr>
          <a:xfrm>
            <a:off x="640080" y="768096"/>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Generalisation to typologies never trained on</a:t>
            </a:r>
          </a:p>
        </p:txBody>
      </p:sp>
      <p:sp>
        <p:nvSpPr>
          <p:cNvPr id="4" name="TextBox 3"/>
          <p:cNvSpPr txBox="1"/>
          <p:nvPr/>
        </p:nvSpPr>
        <p:spPr>
          <a:xfrm>
            <a:off x="640080" y="1335024"/>
            <a:ext cx="10607040" cy="365760"/>
          </a:xfrm>
          <a:prstGeom prst="rect">
            <a:avLst/>
          </a:prstGeom>
          <a:noFill/>
        </p:spPr>
        <p:txBody>
          <a:bodyPr wrap="square" lIns="0" rIns="0" tIns="0" bIns="0" anchor="t">
            <a:spAutoFit/>
          </a:bodyPr>
          <a:lstStyle/>
          <a:p>
            <a:pPr algn="l">
              <a:lnSpc>
                <a:spcPct val="130000"/>
              </a:lnSpc>
              <a:spcAft>
                <a:spcPts val="600"/>
              </a:spcAft>
            </a:pPr>
            <a:r>
              <a:rPr sz="1350" b="0">
                <a:solidFill>
                  <a:srgbClr val="8A99AD"/>
                </a:solidFill>
                <a:latin typeface="Arial"/>
              </a:rPr>
              <a:t>6 vectors removed from training entirely, then scored at a threshold calibrated only on seen traffic.</a:t>
            </a:r>
          </a:p>
        </p:txBody>
      </p:sp>
      <p:sp>
        <p:nvSpPr>
          <p:cNvPr id="5" name="TextBox 4"/>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sp>
        <p:nvSpPr>
          <p:cNvPr id="6" name="Rounded Rectangle 5"/>
          <p:cNvSpPr/>
          <p:nvPr/>
        </p:nvSpPr>
        <p:spPr>
          <a:xfrm>
            <a:off x="640080" y="1901952"/>
            <a:ext cx="3108960" cy="137160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1248" y="2048256"/>
            <a:ext cx="2706624" cy="182880"/>
          </a:xfrm>
          <a:prstGeom prst="rect">
            <a:avLst/>
          </a:prstGeom>
          <a:noFill/>
        </p:spPr>
        <p:txBody>
          <a:bodyPr wrap="square" lIns="0" rIns="0" tIns="0" bIns="0" anchor="t">
            <a:spAutoFit/>
          </a:bodyPr>
          <a:lstStyle/>
          <a:p>
            <a:pPr algn="l">
              <a:lnSpc>
                <a:spcPct val="125000"/>
              </a:lnSpc>
              <a:spcAft>
                <a:spcPts val="600"/>
              </a:spcAft>
            </a:pPr>
            <a:r>
              <a:rPr sz="950" b="1">
                <a:solidFill>
                  <a:srgbClr val="8A99AD"/>
                </a:solidFill>
                <a:latin typeface="Arial"/>
              </a:rPr>
              <a:t>UNSEEN RECALL</a:t>
            </a:r>
          </a:p>
        </p:txBody>
      </p:sp>
      <p:sp>
        <p:nvSpPr>
          <p:cNvPr id="8" name="TextBox 7"/>
          <p:cNvSpPr txBox="1"/>
          <p:nvPr/>
        </p:nvSpPr>
        <p:spPr>
          <a:xfrm>
            <a:off x="841248" y="2286000"/>
            <a:ext cx="2706624" cy="457200"/>
          </a:xfrm>
          <a:prstGeom prst="rect">
            <a:avLst/>
          </a:prstGeom>
          <a:noFill/>
        </p:spPr>
        <p:txBody>
          <a:bodyPr wrap="square" lIns="0" rIns="0" tIns="0" bIns="0" anchor="t">
            <a:spAutoFit/>
          </a:bodyPr>
          <a:lstStyle/>
          <a:p>
            <a:pPr algn="l">
              <a:lnSpc>
                <a:spcPct val="100000"/>
              </a:lnSpc>
              <a:spcAft>
                <a:spcPts val="600"/>
              </a:spcAft>
            </a:pPr>
            <a:r>
              <a:rPr sz="3800" b="1">
                <a:solidFill>
                  <a:srgbClr val="A78BFA"/>
                </a:solidFill>
                <a:latin typeface="Arial"/>
              </a:rPr>
              <a:t>0.718</a:t>
            </a:r>
          </a:p>
        </p:txBody>
      </p:sp>
      <p:sp>
        <p:nvSpPr>
          <p:cNvPr id="9" name="TextBox 8"/>
          <p:cNvSpPr txBox="1"/>
          <p:nvPr/>
        </p:nvSpPr>
        <p:spPr>
          <a:xfrm>
            <a:off x="841248" y="2889504"/>
            <a:ext cx="2706624" cy="274320"/>
          </a:xfrm>
          <a:prstGeom prst="rect">
            <a:avLst/>
          </a:prstGeom>
          <a:noFill/>
        </p:spPr>
        <p:txBody>
          <a:bodyPr wrap="square" lIns="0" rIns="0" tIns="0" bIns="0" anchor="t">
            <a:spAutoFit/>
          </a:bodyPr>
          <a:lstStyle/>
          <a:p>
            <a:pPr algn="l">
              <a:lnSpc>
                <a:spcPct val="120000"/>
              </a:lnSpc>
              <a:spcAft>
                <a:spcPts val="600"/>
              </a:spcAft>
            </a:pPr>
            <a:r>
              <a:rPr sz="950" b="0">
                <a:solidFill>
                  <a:srgbClr val="8A99AD"/>
                </a:solidFill>
                <a:latin typeface="Arial"/>
              </a:rPr>
              <a:t>975 held-out transactions</a:t>
            </a:r>
          </a:p>
        </p:txBody>
      </p:sp>
      <p:sp>
        <p:nvSpPr>
          <p:cNvPr id="10" name="Rounded Rectangle 9"/>
          <p:cNvSpPr/>
          <p:nvPr/>
        </p:nvSpPr>
        <p:spPr>
          <a:xfrm>
            <a:off x="3977639" y="1901952"/>
            <a:ext cx="7543800" cy="265176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251959" y="2066544"/>
            <a:ext cx="1371600" cy="228600"/>
          </a:xfrm>
          <a:prstGeom prst="rect">
            <a:avLst/>
          </a:prstGeom>
          <a:noFill/>
        </p:spPr>
        <p:txBody>
          <a:bodyPr wrap="square" lIns="0" rIns="0" tIns="0" bIns="0" anchor="t">
            <a:spAutoFit/>
          </a:bodyPr>
          <a:lstStyle/>
          <a:p>
            <a:pPr algn="l">
              <a:lnSpc>
                <a:spcPct val="125000"/>
              </a:lnSpc>
              <a:spcAft>
                <a:spcPts val="600"/>
              </a:spcAft>
            </a:pPr>
            <a:r>
              <a:rPr sz="900" b="1">
                <a:solidFill>
                  <a:srgbClr val="8A99AD"/>
                </a:solidFill>
                <a:latin typeface="Arial"/>
              </a:rPr>
              <a:t>HELD-OUT VECTOR</a:t>
            </a:r>
          </a:p>
        </p:txBody>
      </p:sp>
      <p:sp>
        <p:nvSpPr>
          <p:cNvPr id="12" name="TextBox 11"/>
          <p:cNvSpPr txBox="1"/>
          <p:nvPr/>
        </p:nvSpPr>
        <p:spPr>
          <a:xfrm>
            <a:off x="6995159" y="2066544"/>
            <a:ext cx="1371600" cy="228600"/>
          </a:xfrm>
          <a:prstGeom prst="rect">
            <a:avLst/>
          </a:prstGeom>
          <a:noFill/>
        </p:spPr>
        <p:txBody>
          <a:bodyPr wrap="square" lIns="0" rIns="0" tIns="0" bIns="0" anchor="t">
            <a:spAutoFit/>
          </a:bodyPr>
          <a:lstStyle/>
          <a:p>
            <a:pPr algn="l">
              <a:lnSpc>
                <a:spcPct val="125000"/>
              </a:lnSpc>
              <a:spcAft>
                <a:spcPts val="600"/>
              </a:spcAft>
            </a:pPr>
            <a:r>
              <a:rPr sz="900" b="1">
                <a:solidFill>
                  <a:srgbClr val="8A99AD"/>
                </a:solidFill>
                <a:latin typeface="Arial"/>
              </a:rPr>
              <a:t>N</a:t>
            </a:r>
          </a:p>
        </p:txBody>
      </p:sp>
      <p:sp>
        <p:nvSpPr>
          <p:cNvPr id="13" name="TextBox 12"/>
          <p:cNvSpPr txBox="1"/>
          <p:nvPr/>
        </p:nvSpPr>
        <p:spPr>
          <a:xfrm>
            <a:off x="7909559" y="2066544"/>
            <a:ext cx="1371600" cy="228600"/>
          </a:xfrm>
          <a:prstGeom prst="rect">
            <a:avLst/>
          </a:prstGeom>
          <a:noFill/>
        </p:spPr>
        <p:txBody>
          <a:bodyPr wrap="square" lIns="0" rIns="0" tIns="0" bIns="0" anchor="t">
            <a:spAutoFit/>
          </a:bodyPr>
          <a:lstStyle/>
          <a:p>
            <a:pPr algn="l">
              <a:lnSpc>
                <a:spcPct val="125000"/>
              </a:lnSpc>
              <a:spcAft>
                <a:spcPts val="600"/>
              </a:spcAft>
            </a:pPr>
            <a:r>
              <a:rPr sz="900" b="1">
                <a:solidFill>
                  <a:srgbClr val="8A99AD"/>
                </a:solidFill>
                <a:latin typeface="Arial"/>
              </a:rPr>
              <a:t>RECALL</a:t>
            </a:r>
          </a:p>
        </p:txBody>
      </p:sp>
      <p:sp>
        <p:nvSpPr>
          <p:cNvPr id="14" name="TextBox 13"/>
          <p:cNvSpPr txBox="1"/>
          <p:nvPr/>
        </p:nvSpPr>
        <p:spPr>
          <a:xfrm>
            <a:off x="9006839" y="2066544"/>
            <a:ext cx="1371600" cy="228600"/>
          </a:xfrm>
          <a:prstGeom prst="rect">
            <a:avLst/>
          </a:prstGeom>
          <a:noFill/>
        </p:spPr>
        <p:txBody>
          <a:bodyPr wrap="square" lIns="0" rIns="0" tIns="0" bIns="0" anchor="t">
            <a:spAutoFit/>
          </a:bodyPr>
          <a:lstStyle/>
          <a:p>
            <a:pPr algn="l">
              <a:lnSpc>
                <a:spcPct val="125000"/>
              </a:lnSpc>
              <a:spcAft>
                <a:spcPts val="600"/>
              </a:spcAft>
            </a:pPr>
            <a:r>
              <a:rPr sz="900" b="1">
                <a:solidFill>
                  <a:srgbClr val="8A99AD"/>
                </a:solidFill>
                <a:latin typeface="Arial"/>
              </a:rPr>
              <a:t>MEAN RISK</a:t>
            </a:r>
          </a:p>
        </p:txBody>
      </p:sp>
      <p:sp>
        <p:nvSpPr>
          <p:cNvPr id="15" name="TextBox 14"/>
          <p:cNvSpPr txBox="1"/>
          <p:nvPr/>
        </p:nvSpPr>
        <p:spPr>
          <a:xfrm>
            <a:off x="10286999" y="2066544"/>
            <a:ext cx="1371600" cy="228600"/>
          </a:xfrm>
          <a:prstGeom prst="rect">
            <a:avLst/>
          </a:prstGeom>
          <a:noFill/>
        </p:spPr>
        <p:txBody>
          <a:bodyPr wrap="square" lIns="0" rIns="0" tIns="0" bIns="0" anchor="t">
            <a:spAutoFit/>
          </a:bodyPr>
          <a:lstStyle/>
          <a:p>
            <a:pPr algn="l">
              <a:lnSpc>
                <a:spcPct val="125000"/>
              </a:lnSpc>
              <a:spcAft>
                <a:spcPts val="600"/>
              </a:spcAft>
            </a:pPr>
            <a:r>
              <a:rPr sz="900" b="1">
                <a:solidFill>
                  <a:srgbClr val="8A99AD"/>
                </a:solidFill>
                <a:latin typeface="Arial"/>
              </a:rPr>
              <a:t>HARD</a:t>
            </a:r>
          </a:p>
        </p:txBody>
      </p:sp>
      <p:sp>
        <p:nvSpPr>
          <p:cNvPr id="16" name="TextBox 15"/>
          <p:cNvSpPr txBox="1"/>
          <p:nvPr/>
        </p:nvSpPr>
        <p:spPr>
          <a:xfrm>
            <a:off x="4251959" y="2377440"/>
            <a:ext cx="265176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BIN_ENUMERATION_BURST</a:t>
            </a:r>
          </a:p>
        </p:txBody>
      </p:sp>
      <p:sp>
        <p:nvSpPr>
          <p:cNvPr id="17" name="TextBox 16"/>
          <p:cNvSpPr txBox="1"/>
          <p:nvPr/>
        </p:nvSpPr>
        <p:spPr>
          <a:xfrm>
            <a:off x="6995159" y="2377440"/>
            <a:ext cx="73152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300</a:t>
            </a:r>
          </a:p>
        </p:txBody>
      </p:sp>
      <p:sp>
        <p:nvSpPr>
          <p:cNvPr id="18" name="TextBox 17"/>
          <p:cNvSpPr txBox="1"/>
          <p:nvPr/>
        </p:nvSpPr>
        <p:spPr>
          <a:xfrm>
            <a:off x="7909559" y="2377440"/>
            <a:ext cx="91440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1.000</a:t>
            </a:r>
          </a:p>
        </p:txBody>
      </p:sp>
      <p:sp>
        <p:nvSpPr>
          <p:cNvPr id="19" name="TextBox 18"/>
          <p:cNvSpPr txBox="1"/>
          <p:nvPr/>
        </p:nvSpPr>
        <p:spPr>
          <a:xfrm>
            <a:off x="9006839" y="2377440"/>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1.000</a:t>
            </a:r>
          </a:p>
        </p:txBody>
      </p:sp>
      <p:sp>
        <p:nvSpPr>
          <p:cNvPr id="20" name="TextBox 19"/>
          <p:cNvSpPr txBox="1"/>
          <p:nvPr/>
        </p:nvSpPr>
        <p:spPr>
          <a:xfrm>
            <a:off x="10286999" y="2377440"/>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5A687A"/>
                </a:solidFill>
                <a:latin typeface="Arial"/>
              </a:rPr>
              <a:t>no</a:t>
            </a:r>
          </a:p>
        </p:txBody>
      </p:sp>
      <p:sp>
        <p:nvSpPr>
          <p:cNvPr id="21" name="TextBox 20"/>
          <p:cNvSpPr txBox="1"/>
          <p:nvPr/>
        </p:nvSpPr>
        <p:spPr>
          <a:xfrm>
            <a:off x="4251959" y="2734056"/>
            <a:ext cx="265176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SYNTH_ID_BUSTOUT</a:t>
            </a:r>
          </a:p>
        </p:txBody>
      </p:sp>
      <p:sp>
        <p:nvSpPr>
          <p:cNvPr id="22" name="TextBox 21"/>
          <p:cNvSpPr txBox="1"/>
          <p:nvPr/>
        </p:nvSpPr>
        <p:spPr>
          <a:xfrm>
            <a:off x="6995159" y="2734056"/>
            <a:ext cx="73152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168</a:t>
            </a:r>
          </a:p>
        </p:txBody>
      </p:sp>
      <p:sp>
        <p:nvSpPr>
          <p:cNvPr id="23" name="TextBox 22"/>
          <p:cNvSpPr txBox="1"/>
          <p:nvPr/>
        </p:nvSpPr>
        <p:spPr>
          <a:xfrm>
            <a:off x="7909559" y="2734056"/>
            <a:ext cx="91440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0.982</a:t>
            </a:r>
          </a:p>
        </p:txBody>
      </p:sp>
      <p:sp>
        <p:nvSpPr>
          <p:cNvPr id="24" name="TextBox 23"/>
          <p:cNvSpPr txBox="1"/>
          <p:nvPr/>
        </p:nvSpPr>
        <p:spPr>
          <a:xfrm>
            <a:off x="9006839" y="2734056"/>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0.999</a:t>
            </a:r>
          </a:p>
        </p:txBody>
      </p:sp>
      <p:sp>
        <p:nvSpPr>
          <p:cNvPr id="25" name="TextBox 24"/>
          <p:cNvSpPr txBox="1"/>
          <p:nvPr/>
        </p:nvSpPr>
        <p:spPr>
          <a:xfrm>
            <a:off x="10286999" y="2734056"/>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5A687A"/>
                </a:solidFill>
                <a:latin typeface="Arial"/>
              </a:rPr>
              <a:t>no</a:t>
            </a:r>
          </a:p>
        </p:txBody>
      </p:sp>
      <p:sp>
        <p:nvSpPr>
          <p:cNvPr id="26" name="TextBox 25"/>
          <p:cNvSpPr txBox="1"/>
          <p:nvPr/>
        </p:nvSpPr>
        <p:spPr>
          <a:xfrm>
            <a:off x="4251959" y="3090672"/>
            <a:ext cx="265176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ATO_CREDENTIAL_STUFF</a:t>
            </a:r>
          </a:p>
        </p:txBody>
      </p:sp>
      <p:sp>
        <p:nvSpPr>
          <p:cNvPr id="27" name="TextBox 26"/>
          <p:cNvSpPr txBox="1"/>
          <p:nvPr/>
        </p:nvSpPr>
        <p:spPr>
          <a:xfrm>
            <a:off x="6995159" y="3090672"/>
            <a:ext cx="73152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117</a:t>
            </a:r>
          </a:p>
        </p:txBody>
      </p:sp>
      <p:sp>
        <p:nvSpPr>
          <p:cNvPr id="28" name="TextBox 27"/>
          <p:cNvSpPr txBox="1"/>
          <p:nvPr/>
        </p:nvSpPr>
        <p:spPr>
          <a:xfrm>
            <a:off x="7909559" y="3090672"/>
            <a:ext cx="91440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0.974</a:t>
            </a:r>
          </a:p>
        </p:txBody>
      </p:sp>
      <p:sp>
        <p:nvSpPr>
          <p:cNvPr id="29" name="TextBox 28"/>
          <p:cNvSpPr txBox="1"/>
          <p:nvPr/>
        </p:nvSpPr>
        <p:spPr>
          <a:xfrm>
            <a:off x="9006839" y="3090672"/>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0.997</a:t>
            </a:r>
          </a:p>
        </p:txBody>
      </p:sp>
      <p:sp>
        <p:nvSpPr>
          <p:cNvPr id="30" name="TextBox 29"/>
          <p:cNvSpPr txBox="1"/>
          <p:nvPr/>
        </p:nvSpPr>
        <p:spPr>
          <a:xfrm>
            <a:off x="10286999" y="3090672"/>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5A687A"/>
                </a:solidFill>
                <a:latin typeface="Arial"/>
              </a:rPr>
              <a:t>no</a:t>
            </a:r>
          </a:p>
        </p:txBody>
      </p:sp>
      <p:sp>
        <p:nvSpPr>
          <p:cNvPr id="31" name="TextBox 30"/>
          <p:cNvSpPr txBox="1"/>
          <p:nvPr/>
        </p:nvSpPr>
        <p:spPr>
          <a:xfrm>
            <a:off x="4251959" y="3447288"/>
            <a:ext cx="265176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APP_SCAM_LLM</a:t>
            </a:r>
          </a:p>
        </p:txBody>
      </p:sp>
      <p:sp>
        <p:nvSpPr>
          <p:cNvPr id="32" name="TextBox 31"/>
          <p:cNvSpPr txBox="1"/>
          <p:nvPr/>
        </p:nvSpPr>
        <p:spPr>
          <a:xfrm>
            <a:off x="6995159" y="3447288"/>
            <a:ext cx="73152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30</a:t>
            </a:r>
          </a:p>
        </p:txBody>
      </p:sp>
      <p:sp>
        <p:nvSpPr>
          <p:cNvPr id="33" name="TextBox 32"/>
          <p:cNvSpPr txBox="1"/>
          <p:nvPr/>
        </p:nvSpPr>
        <p:spPr>
          <a:xfrm>
            <a:off x="7909559" y="3447288"/>
            <a:ext cx="914400" cy="274320"/>
          </a:xfrm>
          <a:prstGeom prst="rect">
            <a:avLst/>
          </a:prstGeom>
          <a:noFill/>
        </p:spPr>
        <p:txBody>
          <a:bodyPr wrap="square" lIns="0" rIns="0" tIns="0" bIns="0" anchor="t">
            <a:spAutoFit/>
          </a:bodyPr>
          <a:lstStyle/>
          <a:p>
            <a:pPr algn="l">
              <a:lnSpc>
                <a:spcPct val="125000"/>
              </a:lnSpc>
              <a:spcAft>
                <a:spcPts val="600"/>
              </a:spcAft>
            </a:pPr>
            <a:r>
              <a:rPr sz="1100" b="1">
                <a:solidFill>
                  <a:srgbClr val="34D399"/>
                </a:solidFill>
                <a:latin typeface="Arial"/>
              </a:rPr>
              <a:t>0.800</a:t>
            </a:r>
          </a:p>
        </p:txBody>
      </p:sp>
      <p:sp>
        <p:nvSpPr>
          <p:cNvPr id="34" name="TextBox 33"/>
          <p:cNvSpPr txBox="1"/>
          <p:nvPr/>
        </p:nvSpPr>
        <p:spPr>
          <a:xfrm>
            <a:off x="9006839" y="3447288"/>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0.988</a:t>
            </a:r>
          </a:p>
        </p:txBody>
      </p:sp>
      <p:sp>
        <p:nvSpPr>
          <p:cNvPr id="35" name="TextBox 34"/>
          <p:cNvSpPr txBox="1"/>
          <p:nvPr/>
        </p:nvSpPr>
        <p:spPr>
          <a:xfrm>
            <a:off x="10286999" y="3447288"/>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A78BFA"/>
                </a:solidFill>
                <a:latin typeface="Arial"/>
              </a:rPr>
              <a:t>yes</a:t>
            </a:r>
          </a:p>
        </p:txBody>
      </p:sp>
      <p:sp>
        <p:nvSpPr>
          <p:cNvPr id="36" name="TextBox 35"/>
          <p:cNvSpPr txBox="1"/>
          <p:nvPr/>
        </p:nvSpPr>
        <p:spPr>
          <a:xfrm>
            <a:off x="4251959" y="3803904"/>
            <a:ext cx="265176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ROMANCE_PIG_BUTCHERING</a:t>
            </a:r>
          </a:p>
        </p:txBody>
      </p:sp>
      <p:sp>
        <p:nvSpPr>
          <p:cNvPr id="37" name="TextBox 36"/>
          <p:cNvSpPr txBox="1"/>
          <p:nvPr/>
        </p:nvSpPr>
        <p:spPr>
          <a:xfrm>
            <a:off x="6995159" y="3803904"/>
            <a:ext cx="73152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144</a:t>
            </a:r>
          </a:p>
        </p:txBody>
      </p:sp>
      <p:sp>
        <p:nvSpPr>
          <p:cNvPr id="38" name="TextBox 37"/>
          <p:cNvSpPr txBox="1"/>
          <p:nvPr/>
        </p:nvSpPr>
        <p:spPr>
          <a:xfrm>
            <a:off x="7909559" y="3803904"/>
            <a:ext cx="914400" cy="274320"/>
          </a:xfrm>
          <a:prstGeom prst="rect">
            <a:avLst/>
          </a:prstGeom>
          <a:noFill/>
        </p:spPr>
        <p:txBody>
          <a:bodyPr wrap="square" lIns="0" rIns="0" tIns="0" bIns="0" anchor="t">
            <a:spAutoFit/>
          </a:bodyPr>
          <a:lstStyle/>
          <a:p>
            <a:pPr algn="l">
              <a:lnSpc>
                <a:spcPct val="125000"/>
              </a:lnSpc>
              <a:spcAft>
                <a:spcPts val="600"/>
              </a:spcAft>
            </a:pPr>
            <a:r>
              <a:rPr sz="1100" b="1">
                <a:solidFill>
                  <a:srgbClr val="F59E0B"/>
                </a:solidFill>
                <a:latin typeface="Arial"/>
              </a:rPr>
              <a:t>0.500</a:t>
            </a:r>
          </a:p>
        </p:txBody>
      </p:sp>
      <p:sp>
        <p:nvSpPr>
          <p:cNvPr id="39" name="TextBox 38"/>
          <p:cNvSpPr txBox="1"/>
          <p:nvPr/>
        </p:nvSpPr>
        <p:spPr>
          <a:xfrm>
            <a:off x="9006839" y="3803904"/>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0.931</a:t>
            </a:r>
          </a:p>
        </p:txBody>
      </p:sp>
      <p:sp>
        <p:nvSpPr>
          <p:cNvPr id="40" name="TextBox 39"/>
          <p:cNvSpPr txBox="1"/>
          <p:nvPr/>
        </p:nvSpPr>
        <p:spPr>
          <a:xfrm>
            <a:off x="10286999" y="3803904"/>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A78BFA"/>
                </a:solidFill>
                <a:latin typeface="Arial"/>
              </a:rPr>
              <a:t>yes</a:t>
            </a:r>
          </a:p>
        </p:txBody>
      </p:sp>
      <p:sp>
        <p:nvSpPr>
          <p:cNvPr id="41" name="TextBox 40"/>
          <p:cNvSpPr txBox="1"/>
          <p:nvPr/>
        </p:nvSpPr>
        <p:spPr>
          <a:xfrm>
            <a:off x="4251959" y="4160520"/>
            <a:ext cx="2651760" cy="274320"/>
          </a:xfrm>
          <a:prstGeom prst="rect">
            <a:avLst/>
          </a:prstGeom>
          <a:noFill/>
        </p:spPr>
        <p:txBody>
          <a:bodyPr wrap="square" lIns="0" rIns="0" tIns="0" bIns="0" anchor="t">
            <a:spAutoFit/>
          </a:bodyPr>
          <a:lstStyle/>
          <a:p>
            <a:pPr algn="l">
              <a:lnSpc>
                <a:spcPct val="125000"/>
              </a:lnSpc>
              <a:spcAft>
                <a:spcPts val="600"/>
              </a:spcAft>
            </a:pPr>
            <a:r>
              <a:rPr sz="1100" b="0">
                <a:solidFill>
                  <a:srgbClr val="E6EDF7"/>
                </a:solidFill>
                <a:latin typeface="Arial"/>
              </a:rPr>
              <a:t>AGENT_IMPERSONATION</a:t>
            </a:r>
          </a:p>
        </p:txBody>
      </p:sp>
      <p:sp>
        <p:nvSpPr>
          <p:cNvPr id="42" name="TextBox 41"/>
          <p:cNvSpPr txBox="1"/>
          <p:nvPr/>
        </p:nvSpPr>
        <p:spPr>
          <a:xfrm>
            <a:off x="6995159" y="4160520"/>
            <a:ext cx="73152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216</a:t>
            </a:r>
          </a:p>
        </p:txBody>
      </p:sp>
      <p:sp>
        <p:nvSpPr>
          <p:cNvPr id="43" name="TextBox 42"/>
          <p:cNvSpPr txBox="1"/>
          <p:nvPr/>
        </p:nvSpPr>
        <p:spPr>
          <a:xfrm>
            <a:off x="7909559" y="4160520"/>
            <a:ext cx="914400" cy="274320"/>
          </a:xfrm>
          <a:prstGeom prst="rect">
            <a:avLst/>
          </a:prstGeom>
          <a:noFill/>
        </p:spPr>
        <p:txBody>
          <a:bodyPr wrap="square" lIns="0" rIns="0" tIns="0" bIns="0" anchor="t">
            <a:spAutoFit/>
          </a:bodyPr>
          <a:lstStyle/>
          <a:p>
            <a:pPr algn="l">
              <a:lnSpc>
                <a:spcPct val="125000"/>
              </a:lnSpc>
              <a:spcAft>
                <a:spcPts val="600"/>
              </a:spcAft>
            </a:pPr>
            <a:r>
              <a:rPr sz="1100" b="1">
                <a:solidFill>
                  <a:srgbClr val="F1554F"/>
                </a:solidFill>
                <a:latin typeface="Arial"/>
              </a:rPr>
              <a:t>0.116</a:t>
            </a:r>
          </a:p>
        </p:txBody>
      </p:sp>
      <p:sp>
        <p:nvSpPr>
          <p:cNvPr id="44" name="TextBox 43"/>
          <p:cNvSpPr txBox="1"/>
          <p:nvPr/>
        </p:nvSpPr>
        <p:spPr>
          <a:xfrm>
            <a:off x="9006839" y="4160520"/>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8A99AD"/>
                </a:solidFill>
                <a:latin typeface="Arial"/>
              </a:rPr>
              <a:t>0.866</a:t>
            </a:r>
          </a:p>
        </p:txBody>
      </p:sp>
      <p:sp>
        <p:nvSpPr>
          <p:cNvPr id="45" name="TextBox 44"/>
          <p:cNvSpPr txBox="1"/>
          <p:nvPr/>
        </p:nvSpPr>
        <p:spPr>
          <a:xfrm>
            <a:off x="10286999" y="4160520"/>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5A687A"/>
                </a:solidFill>
                <a:latin typeface="Arial"/>
              </a:rPr>
              <a:t>no</a:t>
            </a:r>
          </a:p>
        </p:txBody>
      </p:sp>
      <p:sp>
        <p:nvSpPr>
          <p:cNvPr id="46" name="Rounded Rectangle 45"/>
          <p:cNvSpPr/>
          <p:nvPr/>
        </p:nvSpPr>
        <p:spPr>
          <a:xfrm>
            <a:off x="640080" y="5029200"/>
            <a:ext cx="10881360" cy="1207008"/>
          </a:xfrm>
          <a:prstGeom prst="roundRect">
            <a:avLst>
              <a:gd name="adj" fmla="val 4000"/>
            </a:avLst>
          </a:prstGeom>
          <a:solidFill>
            <a:srgbClr val="0C1428"/>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14400" y="5193792"/>
            <a:ext cx="10332720" cy="274320"/>
          </a:xfrm>
          <a:prstGeom prst="rect">
            <a:avLst/>
          </a:prstGeom>
          <a:noFill/>
        </p:spPr>
        <p:txBody>
          <a:bodyPr wrap="square" lIns="0" rIns="0" tIns="0" bIns="0" anchor="t">
            <a:spAutoFit/>
          </a:bodyPr>
          <a:lstStyle/>
          <a:p>
            <a:pPr algn="l">
              <a:lnSpc>
                <a:spcPct val="125000"/>
              </a:lnSpc>
              <a:spcAft>
                <a:spcPts val="600"/>
              </a:spcAft>
            </a:pPr>
            <a:r>
              <a:rPr sz="1300" b="1">
                <a:solidFill>
                  <a:srgbClr val="A78BFA"/>
                </a:solidFill>
                <a:latin typeface="Arial"/>
              </a:rPr>
              <a:t>Why this is the number that matters for a novel-attack claim</a:t>
            </a:r>
          </a:p>
        </p:txBody>
      </p:sp>
      <p:sp>
        <p:nvSpPr>
          <p:cNvPr id="48" name="TextBox 47"/>
          <p:cNvSpPr txBox="1"/>
          <p:nvPr/>
        </p:nvSpPr>
        <p:spPr>
          <a:xfrm>
            <a:off x="914400" y="5504688"/>
            <a:ext cx="10332720" cy="640080"/>
          </a:xfrm>
          <a:prstGeom prst="rect">
            <a:avLst/>
          </a:prstGeom>
          <a:noFill/>
        </p:spPr>
        <p:txBody>
          <a:bodyPr wrap="square" lIns="0" rIns="0" tIns="0" bIns="0" anchor="t">
            <a:spAutoFit/>
          </a:bodyPr>
          <a:lstStyle/>
          <a:p>
            <a:pPr algn="l">
              <a:lnSpc>
                <a:spcPct val="130000"/>
              </a:lnSpc>
              <a:spcAft>
                <a:spcPts val="600"/>
              </a:spcAft>
            </a:pPr>
            <a:r>
              <a:rPr sz="1200" b="0">
                <a:solidFill>
                  <a:srgbClr val="8A99AD"/>
                </a:solidFill>
                <a:latin typeface="Arial"/>
              </a:rPr>
              <a:t>Reporting recall on attack types the model trained on measures memorisation. Holding six typologies out entirely — and refusing to retune the threshold on them — measures whether the causal feature layer generalises to fraud that did not exist when the model was fit. AGENT_IMPERSONATION at 0.190 is the honest weak point: an agent transacting legitimately and an agent impersonating a cardholder look nearly identical in an authorization message.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228600"/>
          </a:xfrm>
          <a:prstGeom prst="rect">
            <a:avLst/>
          </a:prstGeom>
          <a:noFill/>
        </p:spPr>
        <p:txBody>
          <a:bodyPr wrap="square" lIns="0" rIns="0" tIns="0" bIns="0" anchor="t">
            <a:spAutoFit/>
          </a:bodyPr>
          <a:lstStyle/>
          <a:p>
            <a:pPr algn="l">
              <a:lnSpc>
                <a:spcPct val="125000"/>
              </a:lnSpc>
              <a:spcAft>
                <a:spcPts val="600"/>
              </a:spcAft>
            </a:pPr>
            <a:r>
              <a:rPr sz="1050" b="1">
                <a:solidFill>
                  <a:srgbClr val="60A5FA"/>
                </a:solidFill>
                <a:latin typeface="Arial"/>
              </a:rPr>
              <a:t>ANALYST-FACING OUTPUT</a:t>
            </a:r>
          </a:p>
        </p:txBody>
      </p:sp>
      <p:sp>
        <p:nvSpPr>
          <p:cNvPr id="3" name="TextBox 2"/>
          <p:cNvSpPr txBox="1"/>
          <p:nvPr/>
        </p:nvSpPr>
        <p:spPr>
          <a:xfrm>
            <a:off x="640080" y="768096"/>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Exact reason codes, by construction</a:t>
            </a:r>
          </a:p>
        </p:txBody>
      </p:sp>
      <p:sp>
        <p:nvSpPr>
          <p:cNvPr id="4" name="TextBox 3"/>
          <p:cNvSpPr txBox="1"/>
          <p:nvPr/>
        </p:nvSpPr>
        <p:spPr>
          <a:xfrm>
            <a:off x="640080" y="1335024"/>
            <a:ext cx="10607040" cy="365760"/>
          </a:xfrm>
          <a:prstGeom prst="rect">
            <a:avLst/>
          </a:prstGeom>
          <a:noFill/>
        </p:spPr>
        <p:txBody>
          <a:bodyPr wrap="square" lIns="0" rIns="0" tIns="0" bIns="0" anchor="t">
            <a:spAutoFit/>
          </a:bodyPr>
          <a:lstStyle/>
          <a:p>
            <a:pPr algn="l">
              <a:lnSpc>
                <a:spcPct val="130000"/>
              </a:lnSpc>
              <a:spcAft>
                <a:spcPts val="600"/>
              </a:spcAft>
            </a:pPr>
            <a:r>
              <a:rPr sz="1350" b="0">
                <a:solidFill>
                  <a:srgbClr val="8A99AD"/>
                </a:solidFill>
                <a:latin typeface="Arial"/>
              </a:rPr>
              <a:t>A fraud analyst needs three things: the decision, why it was made, and what would change it.</a:t>
            </a:r>
          </a:p>
        </p:txBody>
      </p:sp>
      <p:sp>
        <p:nvSpPr>
          <p:cNvPr id="5" name="TextBox 4"/>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sp>
        <p:nvSpPr>
          <p:cNvPr id="6" name="Rounded Rectangle 5"/>
          <p:cNvSpPr/>
          <p:nvPr/>
        </p:nvSpPr>
        <p:spPr>
          <a:xfrm>
            <a:off x="640080" y="1901952"/>
            <a:ext cx="6858000" cy="84124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40080" y="1901952"/>
            <a:ext cx="54864" cy="841248"/>
          </a:xfrm>
          <a:prstGeom prst="roundRect">
            <a:avLst>
              <a:gd name="adj" fmla="val 4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2020824"/>
            <a:ext cx="6400800" cy="228600"/>
          </a:xfrm>
          <a:prstGeom prst="rect">
            <a:avLst/>
          </a:prstGeom>
          <a:noFill/>
        </p:spPr>
        <p:txBody>
          <a:bodyPr wrap="square" lIns="0" rIns="0" tIns="0" bIns="0" anchor="t">
            <a:spAutoFit/>
          </a:bodyPr>
          <a:lstStyle/>
          <a:p>
            <a:pPr algn="l">
              <a:lnSpc>
                <a:spcPct val="125000"/>
              </a:lnSpc>
              <a:spcAft>
                <a:spcPts val="600"/>
              </a:spcAft>
            </a:pPr>
            <a:r>
              <a:rPr sz="1300" b="1">
                <a:solidFill>
                  <a:srgbClr val="60A5FA"/>
                </a:solidFill>
                <a:latin typeface="Arial"/>
              </a:rPr>
              <a:t>Decision</a:t>
            </a:r>
          </a:p>
        </p:txBody>
      </p:sp>
      <p:sp>
        <p:nvSpPr>
          <p:cNvPr id="9" name="TextBox 8"/>
          <p:cNvSpPr txBox="1"/>
          <p:nvPr/>
        </p:nvSpPr>
        <p:spPr>
          <a:xfrm>
            <a:off x="914400" y="2286000"/>
            <a:ext cx="6400800" cy="41148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Calibrated risk, band, recommended action — allow, review, step up, block — alongside the payment's 3-D Secure status, AVS result and any SCA exemption claimed.</a:t>
            </a:r>
          </a:p>
        </p:txBody>
      </p:sp>
      <p:sp>
        <p:nvSpPr>
          <p:cNvPr id="10" name="Rounded Rectangle 9"/>
          <p:cNvSpPr/>
          <p:nvPr/>
        </p:nvSpPr>
        <p:spPr>
          <a:xfrm>
            <a:off x="640080" y="2834640"/>
            <a:ext cx="6858000" cy="84124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40080" y="2834640"/>
            <a:ext cx="54864" cy="841248"/>
          </a:xfrm>
          <a:prstGeom prst="roundRect">
            <a:avLst>
              <a:gd name="adj" fmla="val 4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953512"/>
            <a:ext cx="6400800" cy="228600"/>
          </a:xfrm>
          <a:prstGeom prst="rect">
            <a:avLst/>
          </a:prstGeom>
          <a:noFill/>
        </p:spPr>
        <p:txBody>
          <a:bodyPr wrap="square" lIns="0" rIns="0" tIns="0" bIns="0" anchor="t">
            <a:spAutoFit/>
          </a:bodyPr>
          <a:lstStyle/>
          <a:p>
            <a:pPr algn="l">
              <a:lnSpc>
                <a:spcPct val="125000"/>
              </a:lnSpc>
              <a:spcAft>
                <a:spcPts val="600"/>
              </a:spcAft>
            </a:pPr>
            <a:r>
              <a:rPr sz="1300" b="1">
                <a:solidFill>
                  <a:srgbClr val="34D399"/>
                </a:solidFill>
                <a:latin typeface="Arial"/>
              </a:rPr>
              <a:t>Exact score decomposition</a:t>
            </a:r>
          </a:p>
        </p:txBody>
      </p:sp>
      <p:sp>
        <p:nvSpPr>
          <p:cNvPr id="13" name="TextBox 12"/>
          <p:cNvSpPr txBox="1"/>
          <p:nvPr/>
        </p:nvSpPr>
        <p:spPr>
          <a:xfrm>
            <a:off x="914400" y="3218688"/>
            <a:ext cx="6400800" cy="41148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Additive contributions to the arbiter's log-odds — the arithmetic that produced the score, not an approximation. Verified against the model's decision function in the test suite.</a:t>
            </a:r>
          </a:p>
        </p:txBody>
      </p:sp>
      <p:sp>
        <p:nvSpPr>
          <p:cNvPr id="14" name="Rounded Rectangle 13"/>
          <p:cNvSpPr/>
          <p:nvPr/>
        </p:nvSpPr>
        <p:spPr>
          <a:xfrm>
            <a:off x="640080" y="3767328"/>
            <a:ext cx="6858000" cy="84124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40080" y="3767328"/>
            <a:ext cx="54864" cy="841248"/>
          </a:xfrm>
          <a:prstGeom prst="roundRect">
            <a:avLst>
              <a:gd name="adj" fmla="val 4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886200"/>
            <a:ext cx="6400800" cy="228600"/>
          </a:xfrm>
          <a:prstGeom prst="rect">
            <a:avLst/>
          </a:prstGeom>
          <a:noFill/>
        </p:spPr>
        <p:txBody>
          <a:bodyPr wrap="square" lIns="0" rIns="0" tIns="0" bIns="0" anchor="t">
            <a:spAutoFit/>
          </a:bodyPr>
          <a:lstStyle/>
          <a:p>
            <a:pPr algn="l">
              <a:lnSpc>
                <a:spcPct val="125000"/>
              </a:lnSpc>
              <a:spcAft>
                <a:spcPts val="600"/>
              </a:spcAft>
            </a:pPr>
            <a:r>
              <a:rPr sz="1300" b="1">
                <a:solidFill>
                  <a:srgbClr val="F59E0B"/>
                </a:solidFill>
                <a:latin typeface="Arial"/>
              </a:rPr>
              <a:t>Reason codes</a:t>
            </a:r>
          </a:p>
        </p:txBody>
      </p:sp>
      <p:sp>
        <p:nvSpPr>
          <p:cNvPr id="17" name="TextBox 16"/>
          <p:cNvSpPr txBox="1"/>
          <p:nvPr/>
        </p:nvSpPr>
        <p:spPr>
          <a:xfrm>
            <a:off x="914400" y="4151376"/>
            <a:ext cx="6400800" cy="41148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Ranked in analyst language, not feature names.</a:t>
            </a:r>
          </a:p>
        </p:txBody>
      </p:sp>
      <p:sp>
        <p:nvSpPr>
          <p:cNvPr id="18" name="Rounded Rectangle 17"/>
          <p:cNvSpPr/>
          <p:nvPr/>
        </p:nvSpPr>
        <p:spPr>
          <a:xfrm>
            <a:off x="640080" y="4700016"/>
            <a:ext cx="6858000" cy="841248"/>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40080" y="4700016"/>
            <a:ext cx="54864" cy="841248"/>
          </a:xfrm>
          <a:prstGeom prst="roundRect">
            <a:avLst>
              <a:gd name="adj" fmla="val 4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4400" y="4818888"/>
            <a:ext cx="6400800" cy="228600"/>
          </a:xfrm>
          <a:prstGeom prst="rect">
            <a:avLst/>
          </a:prstGeom>
          <a:noFill/>
        </p:spPr>
        <p:txBody>
          <a:bodyPr wrap="square" lIns="0" rIns="0" tIns="0" bIns="0" anchor="t">
            <a:spAutoFit/>
          </a:bodyPr>
          <a:lstStyle/>
          <a:p>
            <a:pPr algn="l">
              <a:lnSpc>
                <a:spcPct val="125000"/>
              </a:lnSpc>
              <a:spcAft>
                <a:spcPts val="600"/>
              </a:spcAft>
            </a:pPr>
            <a:r>
              <a:rPr sz="1300" b="1">
                <a:solidFill>
                  <a:srgbClr val="A78BFA"/>
                </a:solidFill>
                <a:latin typeface="Arial"/>
              </a:rPr>
              <a:t>Counterfactual</a:t>
            </a:r>
          </a:p>
        </p:txBody>
      </p:sp>
      <p:sp>
        <p:nvSpPr>
          <p:cNvPr id="21" name="TextBox 20"/>
          <p:cNvSpPr txBox="1"/>
          <p:nvPr/>
        </p:nvSpPr>
        <p:spPr>
          <a:xfrm>
            <a:off x="914400" y="5084064"/>
            <a:ext cx="6400800" cy="41148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What would have to change for this payment to score benign.</a:t>
            </a:r>
          </a:p>
        </p:txBody>
      </p:sp>
      <p:sp>
        <p:nvSpPr>
          <p:cNvPr id="22" name="Rounded Rectangle 21"/>
          <p:cNvSpPr/>
          <p:nvPr/>
        </p:nvSpPr>
        <p:spPr>
          <a:xfrm>
            <a:off x="7726679" y="1901952"/>
            <a:ext cx="3794760" cy="3108960"/>
          </a:xfrm>
          <a:prstGeom prst="roundRect">
            <a:avLst>
              <a:gd name="adj" fmla="val 4000"/>
            </a:avLst>
          </a:prstGeom>
          <a:solidFill>
            <a:srgbClr val="1A1408"/>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000999" y="2121408"/>
            <a:ext cx="3246120" cy="274320"/>
          </a:xfrm>
          <a:prstGeom prst="rect">
            <a:avLst/>
          </a:prstGeom>
          <a:noFill/>
        </p:spPr>
        <p:txBody>
          <a:bodyPr wrap="square" lIns="0" rIns="0" tIns="0" bIns="0" anchor="t">
            <a:spAutoFit/>
          </a:bodyPr>
          <a:lstStyle/>
          <a:p>
            <a:pPr algn="l">
              <a:lnSpc>
                <a:spcPct val="125000"/>
              </a:lnSpc>
              <a:spcAft>
                <a:spcPts val="600"/>
              </a:spcAft>
            </a:pPr>
            <a:r>
              <a:rPr sz="1300" b="1">
                <a:solidFill>
                  <a:srgbClr val="F59E0B"/>
                </a:solidFill>
                <a:latin typeface="Arial"/>
              </a:rPr>
              <a:t>The deliberate trade-off</a:t>
            </a:r>
          </a:p>
        </p:txBody>
      </p:sp>
      <p:sp>
        <p:nvSpPr>
          <p:cNvPr id="24" name="TextBox 23"/>
          <p:cNvSpPr txBox="1"/>
          <p:nvPr/>
        </p:nvSpPr>
        <p:spPr>
          <a:xfrm>
            <a:off x="8000999" y="2487168"/>
            <a:ext cx="3246120" cy="2286000"/>
          </a:xfrm>
          <a:prstGeom prst="rect">
            <a:avLst/>
          </a:prstGeom>
          <a:noFill/>
        </p:spPr>
        <p:txBody>
          <a:bodyPr wrap="square" lIns="0" rIns="0" tIns="0" bIns="0" anchor="t">
            <a:spAutoFit/>
          </a:bodyPr>
          <a:lstStyle/>
          <a:p>
            <a:pPr algn="l">
              <a:lnSpc>
                <a:spcPct val="130000"/>
              </a:lnSpc>
              <a:spcAft>
                <a:spcPts val="600"/>
              </a:spcAft>
            </a:pPr>
            <a:r>
              <a:rPr sz="1150" b="0">
                <a:solidFill>
                  <a:srgbClr val="8A99AD"/>
                </a:solidFill>
                <a:latin typeface="Arial"/>
              </a:rPr>
              <a:t>SHAP could not be installed in this environment (libomp and numba are unavailable on Python 3.14).</a:t>
            </a:r>
          </a:p>
          <a:p>
            <a:pPr algn="l">
              <a:lnSpc>
                <a:spcPct val="130000"/>
              </a:lnSpc>
              <a:spcAft>
                <a:spcPts val="600"/>
              </a:spcAft>
            </a:pPr>
            <a:r>
              <a:rPr sz="1150" b="0">
                <a:solidFill>
                  <a:srgbClr val="E6EDF7"/>
                </a:solidFill>
                <a:latin typeface="Arial"/>
              </a:rPr>
              <a:t>Rather than ship an approximate explainer and call it attribution, we architected the system so its explanation is exact: the arbiter is additive, so its decomposition is arithmetic rather than estimation.</a:t>
            </a:r>
          </a:p>
          <a:p>
            <a:pPr algn="l">
              <a:lnSpc>
                <a:spcPct val="130000"/>
              </a:lnSpc>
              <a:spcAft>
                <a:spcPts val="600"/>
              </a:spcAft>
            </a:pPr>
            <a:r>
              <a:rPr sz="1150" b="0">
                <a:solidFill>
                  <a:srgbClr val="8A99AD"/>
                </a:solidFill>
                <a:latin typeface="Arial"/>
              </a:rPr>
              <a:t>The boosted component's importance is reported globally and labelled as global. We do not claim per-row attribution we cannot compute.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228600"/>
          </a:xfrm>
          <a:prstGeom prst="rect">
            <a:avLst/>
          </a:prstGeom>
          <a:noFill/>
        </p:spPr>
        <p:txBody>
          <a:bodyPr wrap="square" lIns="0" rIns="0" tIns="0" bIns="0" anchor="t">
            <a:spAutoFit/>
          </a:bodyPr>
          <a:lstStyle/>
          <a:p>
            <a:pPr algn="l">
              <a:lnSpc>
                <a:spcPct val="125000"/>
              </a:lnSpc>
              <a:spcAft>
                <a:spcPts val="600"/>
              </a:spcAft>
            </a:pPr>
            <a:r>
              <a:rPr sz="1050" b="1">
                <a:solidFill>
                  <a:srgbClr val="60A5FA"/>
                </a:solidFill>
                <a:latin typeface="Arial"/>
              </a:rPr>
              <a:t>JUDGED ON: REAL-WORLD FEASIBILITY</a:t>
            </a:r>
          </a:p>
        </p:txBody>
      </p:sp>
      <p:sp>
        <p:nvSpPr>
          <p:cNvPr id="3" name="TextBox 2"/>
          <p:cNvSpPr txBox="1"/>
          <p:nvPr/>
        </p:nvSpPr>
        <p:spPr>
          <a:xfrm>
            <a:off x="640080" y="768096"/>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Built against the constraints of a live authorization path</a:t>
            </a:r>
          </a:p>
        </p:txBody>
      </p:sp>
      <p:sp>
        <p:nvSpPr>
          <p:cNvPr id="4" name="TextBox 3"/>
          <p:cNvSpPr txBox="1"/>
          <p:nvPr/>
        </p:nvSpPr>
        <p:spPr>
          <a:xfrm>
            <a:off x="640080" y="1335024"/>
            <a:ext cx="10607040" cy="365760"/>
          </a:xfrm>
          <a:prstGeom prst="rect">
            <a:avLst/>
          </a:prstGeom>
          <a:noFill/>
        </p:spPr>
        <p:txBody>
          <a:bodyPr wrap="square" lIns="0" rIns="0" tIns="0" bIns="0" anchor="t">
            <a:spAutoFit/>
          </a:bodyPr>
          <a:lstStyle/>
          <a:p>
            <a:pPr algn="l">
              <a:lnSpc>
                <a:spcPct val="130000"/>
              </a:lnSpc>
              <a:spcAft>
                <a:spcPts val="600"/>
              </a:spcAft>
            </a:pPr>
            <a:r>
              <a:rPr sz="1350" b="0">
                <a:solidFill>
                  <a:srgbClr val="8A99AD"/>
                </a:solidFill>
                <a:latin typeface="Arial"/>
              </a:rPr>
              <a:t>An inline fraud control has a latency budget, a review-capacity budget, an audit obligation and a governance process. Each shaped a design decision here.</a:t>
            </a:r>
          </a:p>
        </p:txBody>
      </p:sp>
      <p:sp>
        <p:nvSpPr>
          <p:cNvPr id="5" name="TextBox 4"/>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sp>
        <p:nvSpPr>
          <p:cNvPr id="6" name="Rounded Rectangle 5"/>
          <p:cNvSpPr/>
          <p:nvPr/>
        </p:nvSpPr>
        <p:spPr>
          <a:xfrm>
            <a:off x="640080" y="1901952"/>
            <a:ext cx="5257800" cy="132588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2066544"/>
            <a:ext cx="4709160" cy="228600"/>
          </a:xfrm>
          <a:prstGeom prst="rect">
            <a:avLst/>
          </a:prstGeom>
          <a:noFill/>
        </p:spPr>
        <p:txBody>
          <a:bodyPr wrap="square" lIns="0" rIns="0" tIns="0" bIns="0" anchor="t">
            <a:spAutoFit/>
          </a:bodyPr>
          <a:lstStyle/>
          <a:p>
            <a:pPr algn="l">
              <a:lnSpc>
                <a:spcPct val="125000"/>
              </a:lnSpc>
              <a:spcAft>
                <a:spcPts val="600"/>
              </a:spcAft>
            </a:pPr>
            <a:r>
              <a:rPr sz="1000" b="1">
                <a:solidFill>
                  <a:srgbClr val="8A99AD"/>
                </a:solidFill>
                <a:latin typeface="Arial"/>
              </a:rPr>
              <a:t>LATENCY BUDGET</a:t>
            </a:r>
          </a:p>
        </p:txBody>
      </p:sp>
      <p:sp>
        <p:nvSpPr>
          <p:cNvPr id="8" name="TextBox 7"/>
          <p:cNvSpPr txBox="1"/>
          <p:nvPr/>
        </p:nvSpPr>
        <p:spPr>
          <a:xfrm>
            <a:off x="914400" y="2304288"/>
            <a:ext cx="4709160" cy="274320"/>
          </a:xfrm>
          <a:prstGeom prst="rect">
            <a:avLst/>
          </a:prstGeom>
          <a:noFill/>
        </p:spPr>
        <p:txBody>
          <a:bodyPr wrap="square" lIns="0" rIns="0" tIns="0" bIns="0" anchor="t">
            <a:spAutoFit/>
          </a:bodyPr>
          <a:lstStyle/>
          <a:p>
            <a:pPr algn="l">
              <a:lnSpc>
                <a:spcPct val="125000"/>
              </a:lnSpc>
              <a:spcAft>
                <a:spcPts val="600"/>
              </a:spcAft>
            </a:pPr>
            <a:r>
              <a:rPr sz="1600" b="1">
                <a:solidFill>
                  <a:srgbClr val="F59E0B"/>
                </a:solidFill>
                <a:latin typeface="Arial"/>
              </a:rPr>
              <a:t>p50 13.7ms · p99 18.8ms</a:t>
            </a:r>
          </a:p>
        </p:txBody>
      </p:sp>
      <p:sp>
        <p:nvSpPr>
          <p:cNvPr id="9" name="TextBox 8"/>
          <p:cNvSpPr txBox="1"/>
          <p:nvPr/>
        </p:nvSpPr>
        <p:spPr>
          <a:xfrm>
            <a:off x="914400" y="2633472"/>
            <a:ext cx="4709160" cy="5029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The expensive graph stage runs on the riskiest 20% of traffic — an explicit compute budget, not a score threshold. That is how production cascades hold p99 inside an authorization window.</a:t>
            </a:r>
          </a:p>
        </p:txBody>
      </p:sp>
      <p:sp>
        <p:nvSpPr>
          <p:cNvPr id="10" name="Rounded Rectangle 9"/>
          <p:cNvSpPr/>
          <p:nvPr/>
        </p:nvSpPr>
        <p:spPr>
          <a:xfrm>
            <a:off x="6217920" y="1901952"/>
            <a:ext cx="5257800" cy="132588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2240" y="2066544"/>
            <a:ext cx="4709160" cy="228600"/>
          </a:xfrm>
          <a:prstGeom prst="rect">
            <a:avLst/>
          </a:prstGeom>
          <a:noFill/>
        </p:spPr>
        <p:txBody>
          <a:bodyPr wrap="square" lIns="0" rIns="0" tIns="0" bIns="0" anchor="t">
            <a:spAutoFit/>
          </a:bodyPr>
          <a:lstStyle/>
          <a:p>
            <a:pPr algn="l">
              <a:lnSpc>
                <a:spcPct val="125000"/>
              </a:lnSpc>
              <a:spcAft>
                <a:spcPts val="600"/>
              </a:spcAft>
            </a:pPr>
            <a:r>
              <a:rPr sz="1000" b="1">
                <a:solidFill>
                  <a:srgbClr val="8A99AD"/>
                </a:solidFill>
                <a:latin typeface="Arial"/>
              </a:rPr>
              <a:t>REVIEW CAPACITY</a:t>
            </a:r>
          </a:p>
        </p:txBody>
      </p:sp>
      <p:sp>
        <p:nvSpPr>
          <p:cNvPr id="12" name="TextBox 11"/>
          <p:cNvSpPr txBox="1"/>
          <p:nvPr/>
        </p:nvSpPr>
        <p:spPr>
          <a:xfrm>
            <a:off x="6492240" y="2304288"/>
            <a:ext cx="4709160" cy="274320"/>
          </a:xfrm>
          <a:prstGeom prst="rect">
            <a:avLst/>
          </a:prstGeom>
          <a:noFill/>
        </p:spPr>
        <p:txBody>
          <a:bodyPr wrap="square" lIns="0" rIns="0" tIns="0" bIns="0" anchor="t">
            <a:spAutoFit/>
          </a:bodyPr>
          <a:lstStyle/>
          <a:p>
            <a:pPr algn="l">
              <a:lnSpc>
                <a:spcPct val="125000"/>
              </a:lnSpc>
              <a:spcAft>
                <a:spcPts val="600"/>
              </a:spcAft>
            </a:pPr>
            <a:r>
              <a:rPr sz="1600" b="1">
                <a:solidFill>
                  <a:srgbClr val="60A5FA"/>
                </a:solidFill>
                <a:latin typeface="Arial"/>
              </a:rPr>
              <a:t>271 alerts at a 1% budget</a:t>
            </a:r>
          </a:p>
        </p:txBody>
      </p:sp>
      <p:sp>
        <p:nvSpPr>
          <p:cNvPr id="13" name="TextBox 12"/>
          <p:cNvSpPr txBox="1"/>
          <p:nvPr/>
        </p:nvSpPr>
        <p:spPr>
          <a:xfrm>
            <a:off x="6492240" y="2633472"/>
            <a:ext cx="4709160" cy="5029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Operating points are reported against analyst capacity, not just at best-F1, because a queue nobody can work is not a control.</a:t>
            </a:r>
          </a:p>
        </p:txBody>
      </p:sp>
      <p:sp>
        <p:nvSpPr>
          <p:cNvPr id="14" name="Rounded Rectangle 13"/>
          <p:cNvSpPr/>
          <p:nvPr/>
        </p:nvSpPr>
        <p:spPr>
          <a:xfrm>
            <a:off x="640080" y="3383280"/>
            <a:ext cx="5257800" cy="132588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3547872"/>
            <a:ext cx="4709160" cy="228600"/>
          </a:xfrm>
          <a:prstGeom prst="rect">
            <a:avLst/>
          </a:prstGeom>
          <a:noFill/>
        </p:spPr>
        <p:txBody>
          <a:bodyPr wrap="square" lIns="0" rIns="0" tIns="0" bIns="0" anchor="t">
            <a:spAutoFit/>
          </a:bodyPr>
          <a:lstStyle/>
          <a:p>
            <a:pPr algn="l">
              <a:lnSpc>
                <a:spcPct val="125000"/>
              </a:lnSpc>
              <a:spcAft>
                <a:spcPts val="600"/>
              </a:spcAft>
            </a:pPr>
            <a:r>
              <a:rPr sz="1000" b="1">
                <a:solidFill>
                  <a:srgbClr val="8A99AD"/>
                </a:solidFill>
                <a:latin typeface="Arial"/>
              </a:rPr>
              <a:t>AUDITABILITY</a:t>
            </a:r>
          </a:p>
        </p:txBody>
      </p:sp>
      <p:sp>
        <p:nvSpPr>
          <p:cNvPr id="16" name="TextBox 15"/>
          <p:cNvSpPr txBox="1"/>
          <p:nvPr/>
        </p:nvSpPr>
        <p:spPr>
          <a:xfrm>
            <a:off x="914400" y="3785616"/>
            <a:ext cx="4709160" cy="274320"/>
          </a:xfrm>
          <a:prstGeom prst="rect">
            <a:avLst/>
          </a:prstGeom>
          <a:noFill/>
        </p:spPr>
        <p:txBody>
          <a:bodyPr wrap="square" lIns="0" rIns="0" tIns="0" bIns="0" anchor="t">
            <a:spAutoFit/>
          </a:bodyPr>
          <a:lstStyle/>
          <a:p>
            <a:pPr algn="l">
              <a:lnSpc>
                <a:spcPct val="125000"/>
              </a:lnSpc>
              <a:spcAft>
                <a:spcPts val="600"/>
              </a:spcAft>
            </a:pPr>
            <a:r>
              <a:rPr sz="1600" b="1">
                <a:solidFill>
                  <a:srgbClr val="34D399"/>
                </a:solidFill>
                <a:latin typeface="Arial"/>
              </a:rPr>
              <a:t>Append-only trail</a:t>
            </a:r>
          </a:p>
        </p:txBody>
      </p:sp>
      <p:sp>
        <p:nvSpPr>
          <p:cNvPr id="17" name="TextBox 16"/>
          <p:cNvSpPr txBox="1"/>
          <p:nvPr/>
        </p:nvSpPr>
        <p:spPr>
          <a:xfrm>
            <a:off x="914400" y="4114800"/>
            <a:ext cx="4709160" cy="5029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Every environment change, campaign and analyst action is recorded in SQLite. Model governance expects decisions to be reconstructable after the fact.</a:t>
            </a:r>
          </a:p>
        </p:txBody>
      </p:sp>
      <p:sp>
        <p:nvSpPr>
          <p:cNvPr id="18" name="Rounded Rectangle 17"/>
          <p:cNvSpPr/>
          <p:nvPr/>
        </p:nvSpPr>
        <p:spPr>
          <a:xfrm>
            <a:off x="6217920" y="3383280"/>
            <a:ext cx="5257800" cy="132588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92240" y="3547872"/>
            <a:ext cx="4709160" cy="228600"/>
          </a:xfrm>
          <a:prstGeom prst="rect">
            <a:avLst/>
          </a:prstGeom>
          <a:noFill/>
        </p:spPr>
        <p:txBody>
          <a:bodyPr wrap="square" lIns="0" rIns="0" tIns="0" bIns="0" anchor="t">
            <a:spAutoFit/>
          </a:bodyPr>
          <a:lstStyle/>
          <a:p>
            <a:pPr algn="l">
              <a:lnSpc>
                <a:spcPct val="125000"/>
              </a:lnSpc>
              <a:spcAft>
                <a:spcPts val="600"/>
              </a:spcAft>
            </a:pPr>
            <a:r>
              <a:rPr sz="1000" b="1">
                <a:solidFill>
                  <a:srgbClr val="8A99AD"/>
                </a:solidFill>
                <a:latin typeface="Arial"/>
              </a:rPr>
              <a:t>DEPLOYABILITY</a:t>
            </a:r>
          </a:p>
        </p:txBody>
      </p:sp>
      <p:sp>
        <p:nvSpPr>
          <p:cNvPr id="20" name="TextBox 19"/>
          <p:cNvSpPr txBox="1"/>
          <p:nvPr/>
        </p:nvSpPr>
        <p:spPr>
          <a:xfrm>
            <a:off x="6492240" y="3785616"/>
            <a:ext cx="4709160" cy="274320"/>
          </a:xfrm>
          <a:prstGeom prst="rect">
            <a:avLst/>
          </a:prstGeom>
          <a:noFill/>
        </p:spPr>
        <p:txBody>
          <a:bodyPr wrap="square" lIns="0" rIns="0" tIns="0" bIns="0" anchor="t">
            <a:spAutoFit/>
          </a:bodyPr>
          <a:lstStyle/>
          <a:p>
            <a:pPr algn="l">
              <a:lnSpc>
                <a:spcPct val="125000"/>
              </a:lnSpc>
              <a:spcAft>
                <a:spcPts val="600"/>
              </a:spcAft>
            </a:pPr>
            <a:r>
              <a:rPr sz="1600" b="1">
                <a:solidFill>
                  <a:srgbClr val="A78BFA"/>
                </a:solidFill>
                <a:latin typeface="Arial"/>
              </a:rPr>
              <a:t>Stdlib-first, permissive-only</a:t>
            </a:r>
          </a:p>
        </p:txBody>
      </p:sp>
      <p:sp>
        <p:nvSpPr>
          <p:cNvPr id="21" name="TextBox 20"/>
          <p:cNvSpPr txBox="1"/>
          <p:nvPr/>
        </p:nvSpPr>
        <p:spPr>
          <a:xfrm>
            <a:off x="6492240" y="4114800"/>
            <a:ext cx="4709160" cy="502920"/>
          </a:xfrm>
          <a:prstGeom prst="rect">
            <a:avLst/>
          </a:prstGeom>
          <a:noFill/>
        </p:spPr>
        <p:txBody>
          <a:bodyPr wrap="square" lIns="0" rIns="0" tIns="0" bIns="0" anchor="t">
            <a:spAutoFit/>
          </a:bodyPr>
          <a:lstStyle/>
          <a:p>
            <a:pPr algn="l">
              <a:lnSpc>
                <a:spcPct val="125000"/>
              </a:lnSpc>
              <a:spcAft>
                <a:spcPts val="600"/>
              </a:spcAft>
            </a:pPr>
            <a:r>
              <a:rPr sz="1050" b="0">
                <a:solidFill>
                  <a:srgbClr val="8A99AD"/>
                </a:solidFill>
                <a:latin typeface="Arial"/>
              </a:rPr>
              <a:t>No AGPL dependencies, no GPU requirement, no external service on the decision path. The LLM narrates; it never makes the block decision.</a:t>
            </a:r>
          </a:p>
        </p:txBody>
      </p:sp>
      <p:sp>
        <p:nvSpPr>
          <p:cNvPr id="22" name="Rounded Rectangle 21"/>
          <p:cNvSpPr/>
          <p:nvPr/>
        </p:nvSpPr>
        <p:spPr>
          <a:xfrm>
            <a:off x="640080" y="5577840"/>
            <a:ext cx="10881360" cy="658368"/>
          </a:xfrm>
          <a:prstGeom prst="roundRect">
            <a:avLst>
              <a:gd name="adj" fmla="val 4000"/>
            </a:avLst>
          </a:prstGeom>
          <a:solidFill>
            <a:srgbClr val="0C1428"/>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400" y="5724144"/>
            <a:ext cx="10332720" cy="411480"/>
          </a:xfrm>
          <a:prstGeom prst="rect">
            <a:avLst/>
          </a:prstGeom>
          <a:noFill/>
        </p:spPr>
        <p:txBody>
          <a:bodyPr wrap="square" lIns="0" rIns="0" tIns="0" bIns="0" anchor="t">
            <a:spAutoFit/>
          </a:bodyPr>
          <a:lstStyle/>
          <a:p>
            <a:pPr algn="l">
              <a:lnSpc>
                <a:spcPct val="130000"/>
              </a:lnSpc>
              <a:spcAft>
                <a:spcPts val="600"/>
              </a:spcAft>
            </a:pPr>
            <a:r>
              <a:rPr sz="1200" b="0">
                <a:solidFill>
                  <a:srgbClr val="E6EDF7"/>
                </a:solidFill>
                <a:latin typeface="Arial"/>
              </a:rPr>
              <a:t>Positioning: this extends Mastercard's own published direction. Threat Scan simulates known attacks against issuers; AI Garage has published on adversarial fraud generation. Aegis generates novel attacks instead of replaying known ones, constrains them to be feasible, and wires them into a continuous, per-signal-graded loop.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228600"/>
          </a:xfrm>
          <a:prstGeom prst="rect">
            <a:avLst/>
          </a:prstGeom>
          <a:noFill/>
        </p:spPr>
        <p:txBody>
          <a:bodyPr wrap="square" lIns="0" rIns="0" tIns="0" bIns="0" anchor="t">
            <a:spAutoFit/>
          </a:bodyPr>
          <a:lstStyle/>
          <a:p>
            <a:pPr algn="l">
              <a:lnSpc>
                <a:spcPct val="125000"/>
              </a:lnSpc>
              <a:spcAft>
                <a:spcPts val="600"/>
              </a:spcAft>
            </a:pPr>
            <a:r>
              <a:rPr sz="1050" b="1">
                <a:solidFill>
                  <a:srgbClr val="60A5FA"/>
                </a:solidFill>
                <a:latin typeface="Arial"/>
              </a:rPr>
              <a:t>WORKING PROTOTYPE  ·  THE RED TEAM</a:t>
            </a:r>
          </a:p>
        </p:txBody>
      </p:sp>
      <p:sp>
        <p:nvSpPr>
          <p:cNvPr id="3" name="TextBox 2"/>
          <p:cNvSpPr txBox="1"/>
          <p:nvPr/>
        </p:nvSpPr>
        <p:spPr>
          <a:xfrm>
            <a:off x="640080" y="768096"/>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Attack library with declared ground truth</a:t>
            </a:r>
          </a:p>
        </p:txBody>
      </p:sp>
      <p:sp>
        <p:nvSpPr>
          <p:cNvPr id="4" name="TextBox 3"/>
          <p:cNvSpPr txBox="1"/>
          <p:nvPr/>
        </p:nvSpPr>
        <p:spPr>
          <a:xfrm>
            <a:off x="640080" y="1335024"/>
            <a:ext cx="10607040" cy="365760"/>
          </a:xfrm>
          <a:prstGeom prst="rect">
            <a:avLst/>
          </a:prstGeom>
          <a:noFill/>
        </p:spPr>
        <p:txBody>
          <a:bodyPr wrap="square" lIns="0" rIns="0" tIns="0" bIns="0" anchor="t">
            <a:spAutoFit/>
          </a:bodyPr>
          <a:lstStyle/>
          <a:p>
            <a:pPr algn="l">
              <a:lnSpc>
                <a:spcPct val="130000"/>
              </a:lnSpc>
              <a:spcAft>
                <a:spcPts val="600"/>
              </a:spcAft>
            </a:pPr>
            <a:r>
              <a:rPr sz="1350" b="0">
                <a:solidFill>
                  <a:srgbClr val="8A99AD"/>
                </a:solidFill>
                <a:latin typeface="Arial"/>
              </a:rPr>
              <a:t>Each vector names what GenAI changed, its MITRE ATLAS mapping, and the detection signals it should trip — declared before the campaign runs.</a:t>
            </a:r>
          </a:p>
        </p:txBody>
      </p:sp>
      <p:sp>
        <p:nvSpPr>
          <p:cNvPr id="5" name="TextBox 4"/>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pic>
        <p:nvPicPr>
          <p:cNvPr id="6" name="Picture 5" descr="02-red-team.png"/>
          <p:cNvPicPr>
            <a:picLocks noChangeAspect="1"/>
          </p:cNvPicPr>
          <p:nvPr/>
        </p:nvPicPr>
        <p:blipFill>
          <a:blip r:embed="rId2"/>
          <a:srcRect/>
          <a:stretch>
            <a:fillRect/>
          </a:stretch>
        </p:blipFill>
        <p:spPr>
          <a:xfrm>
            <a:off x="2533345" y="1901952"/>
            <a:ext cx="7125004" cy="445312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228600"/>
          </a:xfrm>
          <a:prstGeom prst="rect">
            <a:avLst/>
          </a:prstGeom>
          <a:noFill/>
        </p:spPr>
        <p:txBody>
          <a:bodyPr wrap="square" lIns="0" rIns="0" tIns="0" bIns="0" anchor="t">
            <a:spAutoFit/>
          </a:bodyPr>
          <a:lstStyle/>
          <a:p>
            <a:pPr algn="l">
              <a:lnSpc>
                <a:spcPct val="125000"/>
              </a:lnSpc>
              <a:spcAft>
                <a:spcPts val="600"/>
              </a:spcAft>
            </a:pPr>
            <a:r>
              <a:rPr sz="1050" b="1">
                <a:solidFill>
                  <a:srgbClr val="60A5FA"/>
                </a:solidFill>
                <a:latin typeface="Arial"/>
              </a:rPr>
              <a:t>WORKING PROTOTYPE  ·  INVESTIGATION VIEW</a:t>
            </a:r>
          </a:p>
        </p:txBody>
      </p:sp>
      <p:sp>
        <p:nvSpPr>
          <p:cNvPr id="3" name="TextBox 2"/>
          <p:cNvSpPr txBox="1"/>
          <p:nvPr/>
        </p:nvSpPr>
        <p:spPr>
          <a:xfrm>
            <a:off x="640080" y="768096"/>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Exact decomposition and counterfactual</a:t>
            </a:r>
          </a:p>
        </p:txBody>
      </p:sp>
      <p:sp>
        <p:nvSpPr>
          <p:cNvPr id="4" name="TextBox 3"/>
          <p:cNvSpPr txBox="1"/>
          <p:nvPr/>
        </p:nvSpPr>
        <p:spPr>
          <a:xfrm>
            <a:off x="640080" y="1335024"/>
            <a:ext cx="10607040" cy="365760"/>
          </a:xfrm>
          <a:prstGeom prst="rect">
            <a:avLst/>
          </a:prstGeom>
          <a:noFill/>
        </p:spPr>
        <p:txBody>
          <a:bodyPr wrap="square" lIns="0" rIns="0" tIns="0" bIns="0" anchor="t">
            <a:spAutoFit/>
          </a:bodyPr>
          <a:lstStyle/>
          <a:p>
            <a:pPr algn="l">
              <a:lnSpc>
                <a:spcPct val="130000"/>
              </a:lnSpc>
              <a:spcAft>
                <a:spcPts val="600"/>
              </a:spcAft>
            </a:pPr>
            <a:r>
              <a:rPr sz="1350" b="0">
                <a:solidFill>
                  <a:srgbClr val="8A99AD"/>
                </a:solidFill>
                <a:latin typeface="Arial"/>
              </a:rPr>
              <a:t>The analyst path: calibrated decision, additive contributions that reconcile with the model's decision function, ranked reason codes, and what would change the outcome.</a:t>
            </a:r>
          </a:p>
        </p:txBody>
      </p:sp>
      <p:sp>
        <p:nvSpPr>
          <p:cNvPr id="5" name="TextBox 4"/>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pic>
        <p:nvPicPr>
          <p:cNvPr id="6" name="Picture 5" descr="05-investigate.png"/>
          <p:cNvPicPr>
            <a:picLocks noChangeAspect="1"/>
          </p:cNvPicPr>
          <p:nvPr/>
        </p:nvPicPr>
        <p:blipFill>
          <a:blip r:embed="rId2"/>
          <a:srcRect/>
          <a:stretch>
            <a:fillRect/>
          </a:stretch>
        </p:blipFill>
        <p:spPr>
          <a:xfrm>
            <a:off x="3693621" y="1901952"/>
            <a:ext cx="4804453" cy="445312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228600"/>
          </a:xfrm>
          <a:prstGeom prst="rect">
            <a:avLst/>
          </a:prstGeom>
          <a:noFill/>
        </p:spPr>
        <p:txBody>
          <a:bodyPr wrap="square" lIns="0" rIns="0" tIns="0" bIns="0" anchor="t">
            <a:spAutoFit/>
          </a:bodyPr>
          <a:lstStyle/>
          <a:p>
            <a:pPr algn="l">
              <a:lnSpc>
                <a:spcPct val="125000"/>
              </a:lnSpc>
              <a:spcAft>
                <a:spcPts val="600"/>
              </a:spcAft>
            </a:pPr>
            <a:r>
              <a:rPr sz="1050" b="1">
                <a:solidFill>
                  <a:srgbClr val="60A5FA"/>
                </a:solidFill>
                <a:latin typeface="Arial"/>
              </a:rPr>
              <a:t>WORKING PROTOTYPE  ·  FRAUD NETWORK</a:t>
            </a:r>
          </a:p>
        </p:txBody>
      </p:sp>
      <p:sp>
        <p:nvSpPr>
          <p:cNvPr id="3" name="TextBox 2"/>
          <p:cNvSpPr txBox="1"/>
          <p:nvPr/>
        </p:nvSpPr>
        <p:spPr>
          <a:xfrm>
            <a:off x="640080" y="768096"/>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Structure that is invisible per transaction</a:t>
            </a:r>
          </a:p>
        </p:txBody>
      </p:sp>
      <p:sp>
        <p:nvSpPr>
          <p:cNvPr id="4" name="TextBox 3"/>
          <p:cNvSpPr txBox="1"/>
          <p:nvPr/>
        </p:nvSpPr>
        <p:spPr>
          <a:xfrm>
            <a:off x="640080" y="1335024"/>
            <a:ext cx="10607040" cy="365760"/>
          </a:xfrm>
          <a:prstGeom prst="rect">
            <a:avLst/>
          </a:prstGeom>
          <a:noFill/>
        </p:spPr>
        <p:txBody>
          <a:bodyPr wrap="square" lIns="0" rIns="0" tIns="0" bIns="0" anchor="t">
            <a:spAutoFit/>
          </a:bodyPr>
          <a:lstStyle/>
          <a:p>
            <a:pPr algn="l">
              <a:lnSpc>
                <a:spcPct val="130000"/>
              </a:lnSpc>
              <a:spcAft>
                <a:spcPts val="600"/>
              </a:spcAft>
            </a:pPr>
            <a:r>
              <a:rPr sz="1350" b="0">
                <a:solidFill>
                  <a:srgbClr val="8A99AD"/>
                </a:solidFill>
                <a:latin typeface="Arial"/>
              </a:rPr>
              <a:t>The subgraph induced by shared infrastructure only — entities touching two or more distinct cards. One device linked to 31 cards: no single payment looks wrong, the graph does.</a:t>
            </a:r>
          </a:p>
        </p:txBody>
      </p:sp>
      <p:sp>
        <p:nvSpPr>
          <p:cNvPr id="5" name="TextBox 4"/>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pic>
        <p:nvPicPr>
          <p:cNvPr id="6" name="Picture 5" descr="06-fraud-network.png"/>
          <p:cNvPicPr>
            <a:picLocks noChangeAspect="1"/>
          </p:cNvPicPr>
          <p:nvPr/>
        </p:nvPicPr>
        <p:blipFill>
          <a:blip r:embed="rId2"/>
          <a:srcRect/>
          <a:stretch>
            <a:fillRect/>
          </a:stretch>
        </p:blipFill>
        <p:spPr>
          <a:xfrm>
            <a:off x="2533345" y="1901952"/>
            <a:ext cx="7125004" cy="445312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640080" y="457200"/>
            <a:ext cx="10881360" cy="548640"/>
          </a:xfrm>
          <a:prstGeom prst="rect">
            <a:avLst/>
          </a:prstGeom>
          <a:noFill/>
        </p:spPr>
        <p:txBody>
          <a:bodyPr wrap="square" lIns="0" rIns="0" tIns="0" bIns="0" anchor="t">
            <a:spAutoFit/>
          </a:bodyPr>
          <a:lstStyle/>
          <a:p>
            <a:pPr algn="l">
              <a:lnSpc>
                <a:spcPct val="105000"/>
              </a:lnSpc>
              <a:spcAft>
                <a:spcPts val="600"/>
              </a:spcAft>
            </a:pPr>
            <a:r>
              <a:rPr sz="3000" b="1">
                <a:solidFill>
                  <a:srgbClr val="E6EDF7"/>
                </a:solidFill>
                <a:latin typeface="Arial"/>
              </a:rPr>
              <a:t>Three things to take away</a:t>
            </a:r>
          </a:p>
        </p:txBody>
      </p:sp>
      <p:sp>
        <p:nvSpPr>
          <p:cNvPr id="3" name="TextBox 2"/>
          <p:cNvSpPr txBox="1"/>
          <p:nvPr/>
        </p:nvSpPr>
        <p:spPr>
          <a:xfrm>
            <a:off x="640080" y="6428232"/>
            <a:ext cx="10881360" cy="228600"/>
          </a:xfrm>
          <a:prstGeom prst="rect">
            <a:avLst/>
          </a:prstGeom>
          <a:noFill/>
        </p:spPr>
        <p:txBody>
          <a:bodyPr wrap="square" lIns="0" rIns="0" tIns="0" bIns="0" anchor="t">
            <a:spAutoFit/>
          </a:bodyPr>
          <a:lstStyle/>
          <a:p>
            <a:pPr algn="l">
              <a:lnSpc>
                <a:spcPct val="125000"/>
              </a:lnSpc>
              <a:spcAft>
                <a:spcPts val="600"/>
              </a:spcAft>
            </a:pPr>
            <a:r>
              <a:rPr sz="850" b="0">
                <a:solidFill>
                  <a:srgbClr val="5A687A"/>
                </a:solidFill>
                <a:latin typeface="Arial"/>
              </a:rPr>
              <a:t>Mastercard Innovation Challenge 2026  ·  Aegis: AI Defence Lab for Payment Security  ·  100% synthetic data — no real cardholder data, PII or production payment data</a:t>
            </a:r>
          </a:p>
        </p:txBody>
      </p:sp>
      <p:sp>
        <p:nvSpPr>
          <p:cNvPr id="4" name="Rounded Rectangle 3"/>
          <p:cNvSpPr/>
          <p:nvPr/>
        </p:nvSpPr>
        <p:spPr>
          <a:xfrm>
            <a:off x="640080" y="1188720"/>
            <a:ext cx="10881360" cy="114300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1188720"/>
            <a:ext cx="64008" cy="1143000"/>
          </a:xfrm>
          <a:prstGeom prst="roundRect">
            <a:avLst>
              <a:gd name="adj" fmla="val 4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1371600"/>
            <a:ext cx="10058400" cy="274320"/>
          </a:xfrm>
          <a:prstGeom prst="rect">
            <a:avLst/>
          </a:prstGeom>
          <a:noFill/>
        </p:spPr>
        <p:txBody>
          <a:bodyPr wrap="square" lIns="0" rIns="0" tIns="0" bIns="0" anchor="t">
            <a:spAutoFit/>
          </a:bodyPr>
          <a:lstStyle/>
          <a:p>
            <a:pPr algn="l">
              <a:lnSpc>
                <a:spcPct val="125000"/>
              </a:lnSpc>
              <a:spcAft>
                <a:spcPts val="600"/>
              </a:spcAft>
            </a:pPr>
            <a:r>
              <a:rPr sz="1700" b="1">
                <a:solidFill>
                  <a:srgbClr val="34D399"/>
                </a:solidFill>
                <a:latin typeface="Arial"/>
              </a:rPr>
              <a:t>1.  It is a loop, not a pipeline</a:t>
            </a:r>
          </a:p>
        </p:txBody>
      </p:sp>
      <p:sp>
        <p:nvSpPr>
          <p:cNvPr id="7" name="TextBox 6"/>
          <p:cNvSpPr txBox="1"/>
          <p:nvPr/>
        </p:nvSpPr>
        <p:spPr>
          <a:xfrm>
            <a:off x="1051560" y="1755648"/>
            <a:ext cx="9966960" cy="457200"/>
          </a:xfrm>
          <a:prstGeom prst="rect">
            <a:avLst/>
          </a:prstGeom>
          <a:noFill/>
        </p:spPr>
        <p:txBody>
          <a:bodyPr wrap="square" lIns="0" rIns="0" tIns="0" bIns="0" anchor="t">
            <a:spAutoFit/>
          </a:bodyPr>
          <a:lstStyle/>
          <a:p>
            <a:pPr algn="l">
              <a:lnSpc>
                <a:spcPct val="130000"/>
              </a:lnSpc>
              <a:spcAft>
                <a:spcPts val="600"/>
              </a:spcAft>
            </a:pPr>
            <a:r>
              <a:rPr sz="1200" b="0">
                <a:solidFill>
                  <a:srgbClr val="8A99AD"/>
                </a:solidFill>
                <a:latin typeface="Arial"/>
              </a:rPr>
              <a:t>The attacks train the defence, and per-signal recall says exactly where the defence is blind — which becomes the specification for the next attack. That feedback path is the contribution; the detector alone is not.</a:t>
            </a:r>
          </a:p>
        </p:txBody>
      </p:sp>
      <p:sp>
        <p:nvSpPr>
          <p:cNvPr id="8" name="Rounded Rectangle 7"/>
          <p:cNvSpPr/>
          <p:nvPr/>
        </p:nvSpPr>
        <p:spPr>
          <a:xfrm>
            <a:off x="640080" y="2487168"/>
            <a:ext cx="10881360" cy="114300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640080" y="2487168"/>
            <a:ext cx="64008" cy="1143000"/>
          </a:xfrm>
          <a:prstGeom prst="roundRect">
            <a:avLst>
              <a:gd name="adj" fmla="val 4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51560" y="2670048"/>
            <a:ext cx="10058400" cy="274320"/>
          </a:xfrm>
          <a:prstGeom prst="rect">
            <a:avLst/>
          </a:prstGeom>
          <a:noFill/>
        </p:spPr>
        <p:txBody>
          <a:bodyPr wrap="square" lIns="0" rIns="0" tIns="0" bIns="0" anchor="t">
            <a:spAutoFit/>
          </a:bodyPr>
          <a:lstStyle/>
          <a:p>
            <a:pPr algn="l">
              <a:lnSpc>
                <a:spcPct val="125000"/>
              </a:lnSpc>
              <a:spcAft>
                <a:spcPts val="600"/>
              </a:spcAft>
            </a:pPr>
            <a:r>
              <a:rPr sz="1700" b="1">
                <a:solidFill>
                  <a:srgbClr val="F59E0B"/>
                </a:solidFill>
                <a:latin typeface="Arial"/>
              </a:rPr>
              <a:t>2.  The attacks are feasible</a:t>
            </a:r>
          </a:p>
        </p:txBody>
      </p:sp>
      <p:sp>
        <p:nvSpPr>
          <p:cNvPr id="11" name="TextBox 10"/>
          <p:cNvSpPr txBox="1"/>
          <p:nvPr/>
        </p:nvSpPr>
        <p:spPr>
          <a:xfrm>
            <a:off x="1051560" y="3054096"/>
            <a:ext cx="9966960" cy="457200"/>
          </a:xfrm>
          <a:prstGeom prst="rect">
            <a:avLst/>
          </a:prstGeom>
          <a:noFill/>
        </p:spPr>
        <p:txBody>
          <a:bodyPr wrap="square" lIns="0" rIns="0" tIns="0" bIns="0" anchor="t">
            <a:spAutoFit/>
          </a:bodyPr>
          <a:lstStyle/>
          <a:p>
            <a:pPr algn="l">
              <a:lnSpc>
                <a:spcPct val="130000"/>
              </a:lnSpc>
              <a:spcAft>
                <a:spcPts val="600"/>
              </a:spcAft>
            </a:pPr>
            <a:r>
              <a:rPr sz="1200" b="0">
                <a:solidFill>
                  <a:srgbClr val="8A99AD"/>
                </a:solidFill>
                <a:latin typeface="Arial"/>
              </a:rPr>
              <a:t>Generators only manipulate what an attacker really controls — amount, timing, cadence, merchant, device, sequencing. Never the victim's own history or issuer-side state. That constraint is what makes the detection numbers operationally meaningful.</a:t>
            </a:r>
          </a:p>
        </p:txBody>
      </p:sp>
      <p:sp>
        <p:nvSpPr>
          <p:cNvPr id="12" name="Rounded Rectangle 11"/>
          <p:cNvSpPr/>
          <p:nvPr/>
        </p:nvSpPr>
        <p:spPr>
          <a:xfrm>
            <a:off x="640080" y="3785616"/>
            <a:ext cx="10881360" cy="1143000"/>
          </a:xfrm>
          <a:prstGeom prst="roundRect">
            <a:avLst>
              <a:gd name="adj" fmla="val 4000"/>
            </a:avLst>
          </a:prstGeom>
          <a:solidFill>
            <a:srgbClr val="101726"/>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0080" y="3785616"/>
            <a:ext cx="64008" cy="1143000"/>
          </a:xfrm>
          <a:prstGeom prst="roundRect">
            <a:avLst>
              <a:gd name="adj" fmla="val 4000"/>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968496"/>
            <a:ext cx="10058400" cy="274320"/>
          </a:xfrm>
          <a:prstGeom prst="rect">
            <a:avLst/>
          </a:prstGeom>
          <a:noFill/>
        </p:spPr>
        <p:txBody>
          <a:bodyPr wrap="square" lIns="0" rIns="0" tIns="0" bIns="0" anchor="t">
            <a:spAutoFit/>
          </a:bodyPr>
          <a:lstStyle/>
          <a:p>
            <a:pPr algn="l">
              <a:lnSpc>
                <a:spcPct val="125000"/>
              </a:lnSpc>
              <a:spcAft>
                <a:spcPts val="600"/>
              </a:spcAft>
            </a:pPr>
            <a:r>
              <a:rPr sz="1700" b="1">
                <a:solidFill>
                  <a:srgbClr val="60A5FA"/>
                </a:solidFill>
                <a:latin typeface="Arial"/>
              </a:rPr>
              <a:t>3.  The numbers are honest and reproducible</a:t>
            </a:r>
          </a:p>
        </p:txBody>
      </p:sp>
      <p:sp>
        <p:nvSpPr>
          <p:cNvPr id="15" name="TextBox 14"/>
          <p:cNvSpPr txBox="1"/>
          <p:nvPr/>
        </p:nvSpPr>
        <p:spPr>
          <a:xfrm>
            <a:off x="1051560" y="4352544"/>
            <a:ext cx="9966960" cy="457200"/>
          </a:xfrm>
          <a:prstGeom prst="rect">
            <a:avLst/>
          </a:prstGeom>
          <a:noFill/>
        </p:spPr>
        <p:txBody>
          <a:bodyPr wrap="square" lIns="0" rIns="0" tIns="0" bIns="0" anchor="t">
            <a:spAutoFit/>
          </a:bodyPr>
          <a:lstStyle/>
          <a:p>
            <a:pPr algn="l">
              <a:lnSpc>
                <a:spcPct val="130000"/>
              </a:lnSpc>
              <a:spcAft>
                <a:spcPts val="600"/>
              </a:spcAft>
            </a:pPr>
            <a:r>
              <a:rPr sz="1200" b="0">
                <a:solidFill>
                  <a:srgbClr val="8A99AD"/>
                </a:solidFill>
                <a:latin typeface="Arial"/>
              </a:rPr>
              <a:t>PR-AUC 0.944 with a bootstrapped interval, temporal split with a delay block, zero-day recall 0.718 on 6 held-out typologies, and the failures shown worst-first. Every figure regenerates from evaluate.py on a clean checkout — including this deck.</a:t>
            </a:r>
          </a:p>
        </p:txBody>
      </p:sp>
      <p:sp>
        <p:nvSpPr>
          <p:cNvPr id="16" name="TextBox 15"/>
          <p:cNvSpPr txBox="1"/>
          <p:nvPr/>
        </p:nvSpPr>
        <p:spPr>
          <a:xfrm>
            <a:off x="640080" y="5806440"/>
            <a:ext cx="10881360" cy="365760"/>
          </a:xfrm>
          <a:prstGeom prst="rect">
            <a:avLst/>
          </a:prstGeom>
          <a:noFill/>
        </p:spPr>
        <p:txBody>
          <a:bodyPr wrap="square" lIns="0" rIns="0" tIns="0" bIns="0" anchor="t">
            <a:spAutoFit/>
          </a:bodyPr>
          <a:lstStyle/>
          <a:p>
            <a:pPr algn="l">
              <a:lnSpc>
                <a:spcPct val="125000"/>
              </a:lnSpc>
              <a:spcAft>
                <a:spcPts val="600"/>
              </a:spcAft>
            </a:pPr>
            <a:r>
              <a:rPr sz="1050" b="0">
                <a:solidFill>
                  <a:srgbClr val="5A687A"/>
                </a:solidFill>
                <a:latin typeface="Arial"/>
              </a:rPr>
              <a:t>Reproduce: pip install -r requirements.txt  ·  python -m backend.app.evaluate  ·  ./scripts/verify.sh --full      (90,258 transactions · 25 vectors · 75 campaigns · generated 2026-08-17)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